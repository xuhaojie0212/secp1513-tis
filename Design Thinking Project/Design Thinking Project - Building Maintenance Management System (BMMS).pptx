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12192000" cy="6858000"/>
  <p:notesSz cx="6858000" cy="12192000"/>
  <p:embeddedFontLst>
    <p:embeddedFont>
      <p:font typeface="Hedvig Letters Sans" panose="02010600030101010101" charset="0"/>
      <p:regular r:id="rId19"/>
    </p:embeddedFont>
    <p:embeddedFont>
      <p:font typeface="Liter" panose="02010600030101010101" charset="0"/>
      <p:regular r:id="rId20"/>
    </p:embeddedFont>
    <p:embeddedFont>
      <p:font typeface="Quattrocento Sans" panose="020B0502050000020003" pitchFamily="34" charset="0"/>
      <p:regular r:id="rId21"/>
    </p:embeddedFont>
    <p:embeddedFont>
      <p:font typeface="微软雅黑" panose="020B0503020204020204" pitchFamily="34" charset="-122"/>
      <p:regular r:id="rId22"/>
      <p:bold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1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image" Target="../media/image1.jpeg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image" Target="../media/image1.jpeg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5" Type="http://schemas.openxmlformats.org/officeDocument/2006/relationships/tags" Target="../tags/tag33.xml"/><Relationship Id="rId10" Type="http://schemas.openxmlformats.org/officeDocument/2006/relationships/tags" Target="../tags/tag38.xml"/><Relationship Id="rId4" Type="http://schemas.openxmlformats.org/officeDocument/2006/relationships/tags" Target="../tags/tag32.xml"/><Relationship Id="rId9" Type="http://schemas.openxmlformats.org/officeDocument/2006/relationships/tags" Target="../tags/tag3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18" Type="http://schemas.openxmlformats.org/officeDocument/2006/relationships/image" Target="../media/image1.jpeg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41.xml"/><Relationship Id="rId16" Type="http://schemas.openxmlformats.org/officeDocument/2006/relationships/tags" Target="../tags/tag55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tags" Target="../tags/tag5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tags" Target="../tags/tag5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9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4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8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image" Target="../media/image1.jpeg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4" descr="D:\工作\商务风毕业答辩\VCG211342754825.jpgVCG2113427548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5"/>
          <a:srcRect r="38939"/>
          <a:stretch>
            <a:fillRect/>
          </a:stretch>
        </p:blipFill>
        <p:spPr>
          <a:xfrm>
            <a:off x="1745615" y="7620"/>
            <a:ext cx="10446385" cy="6842760"/>
          </a:xfrm>
          <a:prstGeom prst="rect">
            <a:avLst/>
          </a:prstGeom>
        </p:spPr>
      </p:pic>
      <p:sp>
        <p:nvSpPr>
          <p:cNvPr id="8" name="矩形 5"/>
          <p:cNvSpPr/>
          <p:nvPr userDrawn="1">
            <p:custDataLst>
              <p:tags r:id="rId2"/>
            </p:custDataLst>
          </p:nvPr>
        </p:nvSpPr>
        <p:spPr>
          <a:xfrm>
            <a:off x="1200" y="0"/>
            <a:ext cx="121896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34000">
                <a:srgbClr val="000000">
                  <a:alpha val="50000"/>
                </a:srgbClr>
              </a:gs>
              <a:gs pos="58000">
                <a:srgbClr val="000000"/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椭圆 28"/>
          <p:cNvSpPr/>
          <p:nvPr userDrawn="1">
            <p:custDataLst>
              <p:tags r:id="rId3"/>
            </p:custDataLst>
          </p:nvPr>
        </p:nvSpPr>
        <p:spPr>
          <a:xfrm>
            <a:off x="793115" y="452755"/>
            <a:ext cx="93345" cy="933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" name="椭圆 29"/>
          <p:cNvSpPr/>
          <p:nvPr userDrawn="1">
            <p:custDataLst>
              <p:tags r:id="rId4"/>
            </p:custDataLst>
          </p:nvPr>
        </p:nvSpPr>
        <p:spPr>
          <a:xfrm>
            <a:off x="1007110" y="452755"/>
            <a:ext cx="93345" cy="93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椭圆 30"/>
          <p:cNvSpPr/>
          <p:nvPr userDrawn="1">
            <p:custDataLst>
              <p:tags r:id="rId5"/>
            </p:custDataLst>
          </p:nvPr>
        </p:nvSpPr>
        <p:spPr>
          <a:xfrm>
            <a:off x="1221105" y="452755"/>
            <a:ext cx="93345" cy="933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27" name="直接连接符 26"/>
          <p:cNvCxnSpPr/>
          <p:nvPr userDrawn="1">
            <p:custDataLst>
              <p:tags r:id="rId6"/>
            </p:custDataLst>
          </p:nvPr>
        </p:nvCxnSpPr>
        <p:spPr>
          <a:xfrm>
            <a:off x="11072495" y="427355"/>
            <a:ext cx="262255" cy="0"/>
          </a:xfrm>
          <a:prstGeom prst="line">
            <a:avLst/>
          </a:prstGeom>
          <a:ln w="5080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7"/>
            </p:custDataLst>
          </p:nvPr>
        </p:nvCxnSpPr>
        <p:spPr>
          <a:xfrm>
            <a:off x="11072495" y="546100"/>
            <a:ext cx="262255" cy="0"/>
          </a:xfrm>
          <a:prstGeom prst="line">
            <a:avLst/>
          </a:prstGeom>
          <a:ln w="5080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圆角矩形 49"/>
          <p:cNvSpPr/>
          <p:nvPr userDrawn="1">
            <p:custDataLst>
              <p:tags r:id="rId8"/>
            </p:custDataLst>
          </p:nvPr>
        </p:nvSpPr>
        <p:spPr>
          <a:xfrm>
            <a:off x="859790" y="1149350"/>
            <a:ext cx="10474960" cy="4785360"/>
          </a:xfrm>
          <a:prstGeom prst="roundRect">
            <a:avLst/>
          </a:prstGeom>
          <a:gradFill>
            <a:gsLst>
              <a:gs pos="0">
                <a:schemeClr val="accent1">
                  <a:lumMod val="50000"/>
                  <a:alpha val="20000"/>
                </a:schemeClr>
              </a:gs>
              <a:gs pos="34000">
                <a:schemeClr val="accent1">
                  <a:lumMod val="50000"/>
                  <a:alpha val="10000"/>
                </a:schemeClr>
              </a:gs>
              <a:gs pos="58000">
                <a:schemeClr val="accent1">
                  <a:lumMod val="50000"/>
                  <a:alpha val="10000"/>
                </a:schemeClr>
              </a:gs>
              <a:gs pos="100000">
                <a:schemeClr val="accent1">
                  <a:lumMod val="50000"/>
                  <a:alpha val="10000"/>
                </a:schemeClr>
              </a:gs>
            </a:gsLst>
            <a:lin ang="0" scaled="0"/>
          </a:gradFill>
          <a:ln>
            <a:noFill/>
          </a:ln>
          <a:effectLst>
            <a:glow rad="38100">
              <a:schemeClr val="lt1">
                <a:alpha val="10000"/>
              </a:schemeClr>
            </a:glow>
            <a:outerShdw blurRad="850900" dist="38100" dir="2700000" sx="103000" sy="103000" algn="tl" rotWithShape="0">
              <a:schemeClr val="dk2">
                <a:lumMod val="60000"/>
                <a:lumOff val="40000"/>
                <a:alpha val="20000"/>
              </a:schemeClr>
            </a:outerShd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7204075" cy="6858000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225" h="10741">
                <a:moveTo>
                  <a:pt x="5657" y="0"/>
                </a:moveTo>
                <a:lnTo>
                  <a:pt x="11225" y="0"/>
                </a:lnTo>
                <a:lnTo>
                  <a:pt x="11225" y="20"/>
                </a:lnTo>
                <a:cubicBezTo>
                  <a:pt x="11159" y="5242"/>
                  <a:pt x="7499" y="9597"/>
                  <a:pt x="2605" y="10727"/>
                </a:cubicBezTo>
                <a:lnTo>
                  <a:pt x="2543" y="10741"/>
                </a:lnTo>
                <a:lnTo>
                  <a:pt x="0" y="10741"/>
                </a:lnTo>
                <a:lnTo>
                  <a:pt x="0" y="5443"/>
                </a:lnTo>
                <a:lnTo>
                  <a:pt x="18" y="5444"/>
                </a:lnTo>
                <a:cubicBezTo>
                  <a:pt x="42" y="5444"/>
                  <a:pt x="66" y="5444"/>
                  <a:pt x="90" y="5444"/>
                </a:cubicBezTo>
                <a:cubicBezTo>
                  <a:pt x="3117" y="5444"/>
                  <a:pt x="5580" y="3028"/>
                  <a:pt x="5656" y="20"/>
                </a:cubicBezTo>
                <a:lnTo>
                  <a:pt x="5657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50000"/>
                </a:schemeClr>
              </a:gs>
            </a:gsLst>
            <a:lin ang="102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任意多边形 11"/>
          <p:cNvSpPr/>
          <p:nvPr userDrawn="1">
            <p:custDataLst>
              <p:tags r:id="rId10"/>
            </p:custDataLst>
          </p:nvPr>
        </p:nvSpPr>
        <p:spPr>
          <a:xfrm>
            <a:off x="8408770" y="4578350"/>
            <a:ext cx="3783230" cy="2279650"/>
          </a:xfrm>
          <a:custGeom>
            <a:avLst/>
            <a:gdLst>
              <a:gd name="adj" fmla="val 29466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958" h="3590">
                <a:moveTo>
                  <a:pt x="3615" y="0"/>
                </a:moveTo>
                <a:cubicBezTo>
                  <a:pt x="4504" y="0"/>
                  <a:pt x="5318" y="321"/>
                  <a:pt x="5948" y="853"/>
                </a:cubicBezTo>
                <a:lnTo>
                  <a:pt x="5958" y="862"/>
                </a:lnTo>
                <a:lnTo>
                  <a:pt x="5958" y="3590"/>
                </a:lnTo>
                <a:lnTo>
                  <a:pt x="5099" y="3590"/>
                </a:lnTo>
                <a:lnTo>
                  <a:pt x="5099" y="3577"/>
                </a:lnTo>
                <a:cubicBezTo>
                  <a:pt x="5079" y="2774"/>
                  <a:pt x="4422" y="2130"/>
                  <a:pt x="3615" y="2130"/>
                </a:cubicBezTo>
                <a:cubicBezTo>
                  <a:pt x="2808" y="2130"/>
                  <a:pt x="2151" y="2774"/>
                  <a:pt x="2131" y="3577"/>
                </a:cubicBezTo>
                <a:lnTo>
                  <a:pt x="2131" y="3590"/>
                </a:lnTo>
                <a:lnTo>
                  <a:pt x="0" y="3590"/>
                </a:lnTo>
                <a:lnTo>
                  <a:pt x="0" y="3568"/>
                </a:lnTo>
                <a:cubicBezTo>
                  <a:pt x="25" y="1593"/>
                  <a:pt x="1634" y="0"/>
                  <a:pt x="3615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78000"/>
                </a:schemeClr>
              </a:gs>
              <a:gs pos="0">
                <a:schemeClr val="accent1">
                  <a:alpha val="28000"/>
                </a:schemeClr>
              </a:gs>
            </a:gsLst>
            <a:lin ang="3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1"/>
            </p:custDataLst>
          </p:nvPr>
        </p:nvSpPr>
        <p:spPr>
          <a:xfrm>
            <a:off x="1099820" y="1805305"/>
            <a:ext cx="9988550" cy="1549400"/>
          </a:xfrm>
          <a:noFill/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400" b="1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1099820" y="3479800"/>
            <a:ext cx="9988550" cy="598170"/>
          </a:xfrm>
          <a:noFill/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单击此处编辑副标题样式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1099820" y="4384040"/>
            <a:ext cx="9988550" cy="647065"/>
          </a:xfrm>
          <a:noFill/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署名占位符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D:\工作\商务风毕业答辩\VCG211342754825.jpgVCG2113427548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3"/>
          <a:srcRect r="38939"/>
          <a:stretch>
            <a:fillRect/>
          </a:stretch>
        </p:blipFill>
        <p:spPr>
          <a:xfrm>
            <a:off x="1745615" y="7620"/>
            <a:ext cx="10446385" cy="6842760"/>
          </a:xfrm>
          <a:prstGeom prst="rect">
            <a:avLst/>
          </a:prstGeom>
        </p:spPr>
      </p:pic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1200" y="0"/>
            <a:ext cx="121896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34000">
                <a:srgbClr val="000000">
                  <a:alpha val="50000"/>
                </a:srgbClr>
              </a:gs>
              <a:gs pos="58000">
                <a:srgbClr val="000000"/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29" name="椭圆 28"/>
          <p:cNvSpPr/>
          <p:nvPr userDrawn="1">
            <p:custDataLst>
              <p:tags r:id="rId6"/>
            </p:custDataLst>
          </p:nvPr>
        </p:nvSpPr>
        <p:spPr>
          <a:xfrm>
            <a:off x="793115" y="452755"/>
            <a:ext cx="93345" cy="933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" name="椭圆 29"/>
          <p:cNvSpPr/>
          <p:nvPr userDrawn="1">
            <p:custDataLst>
              <p:tags r:id="rId7"/>
            </p:custDataLst>
          </p:nvPr>
        </p:nvSpPr>
        <p:spPr>
          <a:xfrm>
            <a:off x="1007110" y="452755"/>
            <a:ext cx="93345" cy="93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椭圆 30"/>
          <p:cNvSpPr/>
          <p:nvPr userDrawn="1">
            <p:custDataLst>
              <p:tags r:id="rId8"/>
            </p:custDataLst>
          </p:nvPr>
        </p:nvSpPr>
        <p:spPr>
          <a:xfrm>
            <a:off x="1221105" y="452755"/>
            <a:ext cx="93345" cy="933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9"/>
            </p:custDataLst>
          </p:nvPr>
        </p:nvSpPr>
        <p:spPr>
          <a:xfrm>
            <a:off x="635" y="0"/>
            <a:ext cx="7204075" cy="6858000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225" h="10741">
                <a:moveTo>
                  <a:pt x="5657" y="0"/>
                </a:moveTo>
                <a:lnTo>
                  <a:pt x="11225" y="0"/>
                </a:lnTo>
                <a:lnTo>
                  <a:pt x="11225" y="20"/>
                </a:lnTo>
                <a:cubicBezTo>
                  <a:pt x="11159" y="5242"/>
                  <a:pt x="7499" y="9597"/>
                  <a:pt x="2605" y="10727"/>
                </a:cubicBezTo>
                <a:lnTo>
                  <a:pt x="2543" y="10741"/>
                </a:lnTo>
                <a:lnTo>
                  <a:pt x="0" y="10741"/>
                </a:lnTo>
                <a:lnTo>
                  <a:pt x="0" y="5443"/>
                </a:lnTo>
                <a:lnTo>
                  <a:pt x="18" y="5444"/>
                </a:lnTo>
                <a:cubicBezTo>
                  <a:pt x="42" y="5444"/>
                  <a:pt x="66" y="5444"/>
                  <a:pt x="90" y="5444"/>
                </a:cubicBezTo>
                <a:cubicBezTo>
                  <a:pt x="3117" y="5444"/>
                  <a:pt x="5580" y="3028"/>
                  <a:pt x="5656" y="20"/>
                </a:cubicBezTo>
                <a:lnTo>
                  <a:pt x="5657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50000"/>
                </a:schemeClr>
              </a:gs>
            </a:gsLst>
            <a:lin ang="102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任意多边形 1"/>
          <p:cNvSpPr/>
          <p:nvPr userDrawn="1">
            <p:custDataLst>
              <p:tags r:id="rId10"/>
            </p:custDataLst>
          </p:nvPr>
        </p:nvSpPr>
        <p:spPr>
          <a:xfrm>
            <a:off x="8408770" y="4578350"/>
            <a:ext cx="3783230" cy="2279650"/>
          </a:xfrm>
          <a:custGeom>
            <a:avLst/>
            <a:gdLst>
              <a:gd name="adj" fmla="val 29466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958" h="3590">
                <a:moveTo>
                  <a:pt x="3615" y="0"/>
                </a:moveTo>
                <a:cubicBezTo>
                  <a:pt x="4504" y="0"/>
                  <a:pt x="5318" y="321"/>
                  <a:pt x="5948" y="853"/>
                </a:cubicBezTo>
                <a:lnTo>
                  <a:pt x="5958" y="862"/>
                </a:lnTo>
                <a:lnTo>
                  <a:pt x="5958" y="3590"/>
                </a:lnTo>
                <a:lnTo>
                  <a:pt x="5099" y="3590"/>
                </a:lnTo>
                <a:lnTo>
                  <a:pt x="5099" y="3577"/>
                </a:lnTo>
                <a:cubicBezTo>
                  <a:pt x="5079" y="2774"/>
                  <a:pt x="4422" y="2130"/>
                  <a:pt x="3615" y="2130"/>
                </a:cubicBezTo>
                <a:cubicBezTo>
                  <a:pt x="2808" y="2130"/>
                  <a:pt x="2151" y="2774"/>
                  <a:pt x="2131" y="3577"/>
                </a:cubicBezTo>
                <a:lnTo>
                  <a:pt x="2131" y="3590"/>
                </a:lnTo>
                <a:lnTo>
                  <a:pt x="0" y="3590"/>
                </a:lnTo>
                <a:lnTo>
                  <a:pt x="0" y="3568"/>
                </a:lnTo>
                <a:cubicBezTo>
                  <a:pt x="25" y="1593"/>
                  <a:pt x="1634" y="0"/>
                  <a:pt x="3615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78000"/>
                </a:schemeClr>
              </a:gs>
              <a:gs pos="0">
                <a:schemeClr val="accent1">
                  <a:alpha val="28000"/>
                </a:schemeClr>
              </a:gs>
            </a:gsLst>
            <a:lin ang="3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5132387" y="8112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en-US" altLang="zh-CN" sz="6000" b="1" i="0" u="none" strike="noStrike" kern="1200" cap="none" spc="0" normalizeH="0" baseline="0" noProof="1">
                <a:solidFill>
                  <a:srgbClr val="FFFFFF"/>
                </a:solidFill>
                <a:latin typeface="+mj-lt"/>
                <a:ea typeface="+mj-ea"/>
                <a:cs typeface="+mn-cs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 descr="D:\工作\商务风毕业答辩\VCG211342754825.jpgVCG2113427548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8"/>
          <a:srcRect r="35851"/>
          <a:stretch>
            <a:fillRect/>
          </a:stretch>
        </p:blipFill>
        <p:spPr>
          <a:xfrm flipH="1">
            <a:off x="0" y="7620"/>
            <a:ext cx="10974705" cy="6842760"/>
          </a:xfrm>
          <a:prstGeom prst="rect">
            <a:avLst/>
          </a:prstGeom>
        </p:spPr>
      </p:pic>
      <p:sp>
        <p:nvSpPr>
          <p:cNvPr id="8" name="矩形 5"/>
          <p:cNvSpPr/>
          <p:nvPr userDrawn="1">
            <p:custDataLst>
              <p:tags r:id="rId2"/>
            </p:custDataLst>
          </p:nvPr>
        </p:nvSpPr>
        <p:spPr>
          <a:xfrm rot="10800000">
            <a:off x="1200" y="0"/>
            <a:ext cx="121896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34000">
                <a:srgbClr val="000000">
                  <a:alpha val="50000"/>
                </a:srgbClr>
              </a:gs>
              <a:gs pos="58000">
                <a:srgbClr val="000000"/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7" name="直接连接符 26"/>
          <p:cNvCxnSpPr/>
          <p:nvPr userDrawn="1">
            <p:custDataLst>
              <p:tags r:id="rId3"/>
            </p:custDataLst>
          </p:nvPr>
        </p:nvCxnSpPr>
        <p:spPr>
          <a:xfrm>
            <a:off x="11155045" y="427355"/>
            <a:ext cx="262255" cy="0"/>
          </a:xfrm>
          <a:prstGeom prst="line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4"/>
            </p:custDataLst>
          </p:nvPr>
        </p:nvCxnSpPr>
        <p:spPr>
          <a:xfrm>
            <a:off x="11155045" y="546100"/>
            <a:ext cx="262255" cy="0"/>
          </a:xfrm>
          <a:prstGeom prst="line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/>
          <p:cNvSpPr/>
          <p:nvPr userDrawn="1">
            <p:custDataLst>
              <p:tags r:id="rId5"/>
            </p:custDataLst>
          </p:nvPr>
        </p:nvSpPr>
        <p:spPr>
          <a:xfrm>
            <a:off x="793115" y="5919470"/>
            <a:ext cx="198755" cy="198755"/>
          </a:xfrm>
          <a:prstGeom prst="ellipse">
            <a:avLst/>
          </a:prstGeom>
          <a:noFill/>
          <a:ln w="63500">
            <a:gradFill>
              <a:gsLst>
                <a:gs pos="6000">
                  <a:schemeClr val="accent1"/>
                </a:gs>
                <a:gs pos="57000">
                  <a:schemeClr val="accent6"/>
                </a:gs>
              </a:gsLst>
              <a:lin ang="5400000" scaled="0"/>
            </a:gradFill>
          </a:ln>
          <a:effectLst>
            <a:outerShdw blurRad="63500" dist="38100" dir="2700000" algn="tl" rotWithShape="0">
              <a:schemeClr val="accent1">
                <a:lumMod val="50000"/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29" name="椭圆 28"/>
          <p:cNvSpPr/>
          <p:nvPr userDrawn="1">
            <p:custDataLst>
              <p:tags r:id="rId6"/>
            </p:custDataLst>
          </p:nvPr>
        </p:nvSpPr>
        <p:spPr>
          <a:xfrm>
            <a:off x="793115" y="452755"/>
            <a:ext cx="93345" cy="933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" name="椭圆 29"/>
          <p:cNvSpPr/>
          <p:nvPr userDrawn="1">
            <p:custDataLst>
              <p:tags r:id="rId7"/>
            </p:custDataLst>
          </p:nvPr>
        </p:nvSpPr>
        <p:spPr>
          <a:xfrm>
            <a:off x="1007110" y="452755"/>
            <a:ext cx="93345" cy="93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椭圆 30"/>
          <p:cNvSpPr/>
          <p:nvPr userDrawn="1">
            <p:custDataLst>
              <p:tags r:id="rId8"/>
            </p:custDataLst>
          </p:nvPr>
        </p:nvSpPr>
        <p:spPr>
          <a:xfrm>
            <a:off x="1221105" y="452755"/>
            <a:ext cx="93345" cy="933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3585210" y="3093720"/>
            <a:ext cx="7768590" cy="1016000"/>
          </a:xfrm>
        </p:spPr>
        <p:txBody>
          <a:bodyPr lIns="0" tIns="0" rIns="0" bIns="0" anchor="ctr" anchorCtr="0">
            <a:normAutofit/>
          </a:bodyPr>
          <a:lstStyle>
            <a:lvl1pPr algn="r">
              <a:defRPr sz="5400" b="1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3592195" y="1657350"/>
            <a:ext cx="7761605" cy="1341120"/>
          </a:xfrm>
        </p:spPr>
        <p:txBody>
          <a:bodyPr wrap="none" lIns="0" tIns="0" rIns="0" bIns="0" anchor="b" anchorCtr="0"/>
          <a:lstStyle>
            <a:lvl1pPr marL="0" indent="0" algn="r">
              <a:buNone/>
              <a:defRPr sz="6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节编号</a:t>
            </a:r>
          </a:p>
        </p:txBody>
      </p:sp>
      <p:sp>
        <p:nvSpPr>
          <p:cNvPr id="13" name="副标题 12"/>
          <p:cNvSpPr>
            <a:spLocks noGrp="1"/>
          </p:cNvSpPr>
          <p:nvPr>
            <p:ph type="subTitle" idx="1" hasCustomPrompt="1"/>
            <p:custDataLst>
              <p:tags r:id="rId14"/>
            </p:custDataLst>
          </p:nvPr>
        </p:nvSpPr>
        <p:spPr>
          <a:xfrm>
            <a:off x="3592195" y="4204970"/>
            <a:ext cx="7761605" cy="785495"/>
          </a:xfrm>
        </p:spPr>
        <p:txBody>
          <a:bodyPr wrap="square" lIns="0" tIns="0" rIns="0" b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任意多边形 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7204075" cy="6858000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225" h="10741">
                <a:moveTo>
                  <a:pt x="5657" y="0"/>
                </a:moveTo>
                <a:lnTo>
                  <a:pt x="11225" y="0"/>
                </a:lnTo>
                <a:lnTo>
                  <a:pt x="11225" y="20"/>
                </a:lnTo>
                <a:cubicBezTo>
                  <a:pt x="11159" y="5242"/>
                  <a:pt x="7499" y="9597"/>
                  <a:pt x="2605" y="10727"/>
                </a:cubicBezTo>
                <a:lnTo>
                  <a:pt x="2543" y="10741"/>
                </a:lnTo>
                <a:lnTo>
                  <a:pt x="0" y="10741"/>
                </a:lnTo>
                <a:lnTo>
                  <a:pt x="0" y="5443"/>
                </a:lnTo>
                <a:lnTo>
                  <a:pt x="18" y="5444"/>
                </a:lnTo>
                <a:cubicBezTo>
                  <a:pt x="42" y="5444"/>
                  <a:pt x="66" y="5444"/>
                  <a:pt x="90" y="5444"/>
                </a:cubicBezTo>
                <a:cubicBezTo>
                  <a:pt x="3117" y="5444"/>
                  <a:pt x="5580" y="3028"/>
                  <a:pt x="5656" y="20"/>
                </a:cubicBezTo>
                <a:lnTo>
                  <a:pt x="5657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50000"/>
                </a:schemeClr>
              </a:gs>
            </a:gsLst>
            <a:lin ang="102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任意多边形 2"/>
          <p:cNvSpPr/>
          <p:nvPr userDrawn="1">
            <p:custDataLst>
              <p:tags r:id="rId16"/>
            </p:custDataLst>
          </p:nvPr>
        </p:nvSpPr>
        <p:spPr>
          <a:xfrm>
            <a:off x="10226775" y="4601966"/>
            <a:ext cx="1965225" cy="2256034"/>
          </a:xfrm>
          <a:custGeom>
            <a:avLst/>
            <a:gdLst>
              <a:gd name="adj" fmla="val 29466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095" h="3553">
                <a:moveTo>
                  <a:pt x="3095" y="0"/>
                </a:moveTo>
                <a:lnTo>
                  <a:pt x="3095" y="2187"/>
                </a:lnTo>
                <a:lnTo>
                  <a:pt x="3078" y="2193"/>
                </a:lnTo>
                <a:cubicBezTo>
                  <a:pt x="2535" y="2403"/>
                  <a:pt x="2146" y="2925"/>
                  <a:pt x="2131" y="3540"/>
                </a:cubicBezTo>
                <a:lnTo>
                  <a:pt x="2131" y="3553"/>
                </a:lnTo>
                <a:lnTo>
                  <a:pt x="0" y="3553"/>
                </a:lnTo>
                <a:lnTo>
                  <a:pt x="0" y="3531"/>
                </a:lnTo>
                <a:cubicBezTo>
                  <a:pt x="23" y="1741"/>
                  <a:pt x="1346" y="265"/>
                  <a:pt x="3069" y="4"/>
                </a:cubicBezTo>
                <a:lnTo>
                  <a:pt x="3095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36000"/>
                </a:schemeClr>
              </a:gs>
              <a:gs pos="0">
                <a:schemeClr val="accent1">
                  <a:alpha val="28000"/>
                </a:schemeClr>
              </a:gs>
            </a:gsLst>
            <a:lin ang="3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单击此处编辑副标题</a:t>
            </a:r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" descr="D:\工作\商务风毕业答辩\VCG211342754825.jpgVCG21134275482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8"/>
          <a:srcRect r="38939"/>
          <a:stretch>
            <a:fillRect/>
          </a:stretch>
        </p:blipFill>
        <p:spPr>
          <a:xfrm>
            <a:off x="1745615" y="7620"/>
            <a:ext cx="10446385" cy="6842760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1200" y="-7620"/>
            <a:ext cx="121896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34000">
                <a:srgbClr val="000000">
                  <a:alpha val="50000"/>
                </a:srgbClr>
              </a:gs>
              <a:gs pos="58000">
                <a:srgbClr val="000000"/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圆角矩形 17"/>
          <p:cNvSpPr/>
          <p:nvPr userDrawn="1">
            <p:custDataLst>
              <p:tags r:id="rId3"/>
            </p:custDataLst>
          </p:nvPr>
        </p:nvSpPr>
        <p:spPr>
          <a:xfrm>
            <a:off x="877570" y="1149350"/>
            <a:ext cx="10457180" cy="4785360"/>
          </a:xfrm>
          <a:prstGeom prst="roundRect">
            <a:avLst/>
          </a:prstGeom>
          <a:gradFill>
            <a:gsLst>
              <a:gs pos="0">
                <a:schemeClr val="accent1">
                  <a:lumMod val="50000"/>
                  <a:alpha val="20000"/>
                </a:schemeClr>
              </a:gs>
              <a:gs pos="34000">
                <a:schemeClr val="accent1">
                  <a:lumMod val="50000"/>
                  <a:alpha val="10000"/>
                </a:schemeClr>
              </a:gs>
              <a:gs pos="58000">
                <a:schemeClr val="accent1">
                  <a:lumMod val="50000"/>
                  <a:alpha val="10000"/>
                </a:schemeClr>
              </a:gs>
              <a:gs pos="100000">
                <a:schemeClr val="accent1">
                  <a:lumMod val="50000"/>
                  <a:alpha val="10000"/>
                </a:schemeClr>
              </a:gs>
            </a:gsLst>
            <a:lin ang="0" scaled="0"/>
          </a:gradFill>
          <a:ln>
            <a:noFill/>
          </a:ln>
          <a:effectLst>
            <a:glow rad="38100">
              <a:schemeClr val="lt1">
                <a:alpha val="10000"/>
              </a:schemeClr>
            </a:glow>
            <a:outerShdw blurRad="850900" dist="38100" dir="2700000" sx="103000" sy="103000" algn="tl" rotWithShape="0">
              <a:schemeClr val="dk2">
                <a:lumMod val="60000"/>
                <a:lumOff val="40000"/>
                <a:alpha val="20000"/>
              </a:schemeClr>
            </a:outerShdw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36" name="直接连接符 35"/>
          <p:cNvCxnSpPr/>
          <p:nvPr userDrawn="1">
            <p:custDataLst>
              <p:tags r:id="rId4"/>
            </p:custDataLst>
          </p:nvPr>
        </p:nvCxnSpPr>
        <p:spPr>
          <a:xfrm>
            <a:off x="11072495" y="427355"/>
            <a:ext cx="262255" cy="0"/>
          </a:xfrm>
          <a:prstGeom prst="line">
            <a:avLst/>
          </a:prstGeom>
          <a:ln w="5080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>
            <p:custDataLst>
              <p:tags r:id="rId5"/>
            </p:custDataLst>
          </p:nvPr>
        </p:nvCxnSpPr>
        <p:spPr>
          <a:xfrm>
            <a:off x="11072495" y="546100"/>
            <a:ext cx="262255" cy="0"/>
          </a:xfrm>
          <a:prstGeom prst="line">
            <a:avLst/>
          </a:prstGeom>
          <a:ln w="50800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 userDrawn="1">
            <p:custDataLst>
              <p:tags r:id="rId6"/>
            </p:custDataLst>
          </p:nvPr>
        </p:nvSpPr>
        <p:spPr>
          <a:xfrm>
            <a:off x="793115" y="452755"/>
            <a:ext cx="93345" cy="933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" name="椭圆 29"/>
          <p:cNvSpPr/>
          <p:nvPr userDrawn="1">
            <p:custDataLst>
              <p:tags r:id="rId7"/>
            </p:custDataLst>
          </p:nvPr>
        </p:nvSpPr>
        <p:spPr>
          <a:xfrm>
            <a:off x="1007110" y="452755"/>
            <a:ext cx="93345" cy="933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椭圆 30"/>
          <p:cNvSpPr/>
          <p:nvPr userDrawn="1">
            <p:custDataLst>
              <p:tags r:id="rId8"/>
            </p:custDataLst>
          </p:nvPr>
        </p:nvSpPr>
        <p:spPr>
          <a:xfrm>
            <a:off x="1221105" y="452755"/>
            <a:ext cx="93345" cy="933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任意多边形 4"/>
          <p:cNvSpPr/>
          <p:nvPr userDrawn="1">
            <p:custDataLst>
              <p:tags r:id="rId9"/>
            </p:custDataLst>
          </p:nvPr>
        </p:nvSpPr>
        <p:spPr>
          <a:xfrm>
            <a:off x="635" y="0"/>
            <a:ext cx="7204075" cy="6858000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225" h="10741">
                <a:moveTo>
                  <a:pt x="5657" y="0"/>
                </a:moveTo>
                <a:lnTo>
                  <a:pt x="11225" y="0"/>
                </a:lnTo>
                <a:lnTo>
                  <a:pt x="11225" y="20"/>
                </a:lnTo>
                <a:cubicBezTo>
                  <a:pt x="11159" y="5242"/>
                  <a:pt x="7499" y="9597"/>
                  <a:pt x="2605" y="10727"/>
                </a:cubicBezTo>
                <a:lnTo>
                  <a:pt x="2543" y="10741"/>
                </a:lnTo>
                <a:lnTo>
                  <a:pt x="0" y="10741"/>
                </a:lnTo>
                <a:lnTo>
                  <a:pt x="0" y="5443"/>
                </a:lnTo>
                <a:lnTo>
                  <a:pt x="18" y="5444"/>
                </a:lnTo>
                <a:cubicBezTo>
                  <a:pt x="42" y="5444"/>
                  <a:pt x="66" y="5444"/>
                  <a:pt x="90" y="5444"/>
                </a:cubicBezTo>
                <a:cubicBezTo>
                  <a:pt x="3117" y="5444"/>
                  <a:pt x="5580" y="3028"/>
                  <a:pt x="5656" y="20"/>
                </a:cubicBezTo>
                <a:lnTo>
                  <a:pt x="5657" y="0"/>
                </a:lnTo>
                <a:close/>
              </a:path>
            </a:pathLst>
          </a:cu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50000"/>
                </a:schemeClr>
              </a:gs>
            </a:gsLst>
            <a:lin ang="102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10"/>
            </p:custDataLst>
          </p:nvPr>
        </p:nvSpPr>
        <p:spPr>
          <a:xfrm>
            <a:off x="8408770" y="4578350"/>
            <a:ext cx="3783230" cy="2279650"/>
          </a:xfrm>
          <a:custGeom>
            <a:avLst/>
            <a:gdLst>
              <a:gd name="adj" fmla="val 29466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958" h="3590">
                <a:moveTo>
                  <a:pt x="3615" y="0"/>
                </a:moveTo>
                <a:cubicBezTo>
                  <a:pt x="4504" y="0"/>
                  <a:pt x="5318" y="321"/>
                  <a:pt x="5948" y="853"/>
                </a:cubicBezTo>
                <a:lnTo>
                  <a:pt x="5958" y="862"/>
                </a:lnTo>
                <a:lnTo>
                  <a:pt x="5958" y="3590"/>
                </a:lnTo>
                <a:lnTo>
                  <a:pt x="5099" y="3590"/>
                </a:lnTo>
                <a:lnTo>
                  <a:pt x="5099" y="3577"/>
                </a:lnTo>
                <a:cubicBezTo>
                  <a:pt x="5079" y="2774"/>
                  <a:pt x="4422" y="2130"/>
                  <a:pt x="3615" y="2130"/>
                </a:cubicBezTo>
                <a:cubicBezTo>
                  <a:pt x="2808" y="2130"/>
                  <a:pt x="2151" y="2774"/>
                  <a:pt x="2131" y="3577"/>
                </a:cubicBezTo>
                <a:lnTo>
                  <a:pt x="2131" y="3590"/>
                </a:lnTo>
                <a:lnTo>
                  <a:pt x="0" y="3590"/>
                </a:lnTo>
                <a:lnTo>
                  <a:pt x="0" y="3568"/>
                </a:lnTo>
                <a:cubicBezTo>
                  <a:pt x="25" y="1593"/>
                  <a:pt x="1634" y="0"/>
                  <a:pt x="3615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78000"/>
                </a:schemeClr>
              </a:gs>
              <a:gs pos="0">
                <a:schemeClr val="accent1">
                  <a:alpha val="28000"/>
                </a:schemeClr>
              </a:gs>
            </a:gsLst>
            <a:lin ang="3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1376045" y="2990850"/>
            <a:ext cx="9439910" cy="1127760"/>
          </a:xfrm>
        </p:spPr>
        <p:txBody>
          <a:bodyPr wrap="square" anchor="b" anchorCtr="0">
            <a:normAutofit/>
          </a:bodyPr>
          <a:lstStyle>
            <a:lvl1pPr algn="ctr">
              <a:lnSpc>
                <a:spcPct val="100000"/>
              </a:lnSpc>
              <a:defRPr sz="6600" b="1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</a:p>
        </p:txBody>
      </p:sp>
      <p:sp>
        <p:nvSpPr>
          <p:cNvPr id="13" name="日期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1376045" y="2132330"/>
            <a:ext cx="9439910" cy="747395"/>
          </a:xfrm>
        </p:spPr>
        <p:txBody>
          <a:bodyPr wrap="square" anchor="b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40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日期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1378585" y="4229735"/>
            <a:ext cx="9437370" cy="722630"/>
          </a:xfrm>
          <a:noFill/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署名占位符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5.xml"/><Relationship Id="rId21" Type="http://schemas.openxmlformats.org/officeDocument/2006/relationships/tags" Target="../tags/tag9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4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2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ags" Target="../tags/tag2.xml"/><Relationship Id="rId22" Type="http://schemas.openxmlformats.org/officeDocument/2006/relationships/tags" Target="../tags/tag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 userDrawn="1">
            <p:custDataLst>
              <p:tags r:id="rId13"/>
            </p:custDataLst>
          </p:nvPr>
        </p:nvSpPr>
        <p:spPr>
          <a:xfrm>
            <a:off x="635" y="0"/>
            <a:ext cx="2933700" cy="2797810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225" h="10741">
                <a:moveTo>
                  <a:pt x="5657" y="0"/>
                </a:moveTo>
                <a:lnTo>
                  <a:pt x="11225" y="0"/>
                </a:lnTo>
                <a:lnTo>
                  <a:pt x="11225" y="20"/>
                </a:lnTo>
                <a:cubicBezTo>
                  <a:pt x="11159" y="5242"/>
                  <a:pt x="7499" y="9597"/>
                  <a:pt x="2605" y="10727"/>
                </a:cubicBezTo>
                <a:lnTo>
                  <a:pt x="2543" y="10741"/>
                </a:lnTo>
                <a:lnTo>
                  <a:pt x="0" y="10741"/>
                </a:lnTo>
                <a:lnTo>
                  <a:pt x="0" y="5443"/>
                </a:lnTo>
                <a:lnTo>
                  <a:pt x="18" y="5444"/>
                </a:lnTo>
                <a:cubicBezTo>
                  <a:pt x="42" y="5444"/>
                  <a:pt x="66" y="5444"/>
                  <a:pt x="90" y="5444"/>
                </a:cubicBezTo>
                <a:cubicBezTo>
                  <a:pt x="3117" y="5444"/>
                  <a:pt x="5580" y="3028"/>
                  <a:pt x="5656" y="20"/>
                </a:cubicBezTo>
                <a:lnTo>
                  <a:pt x="5657" y="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  <a:alpha val="15000"/>
                </a:schemeClr>
              </a:gs>
              <a:gs pos="0">
                <a:schemeClr val="accent1">
                  <a:lumMod val="60000"/>
                  <a:lumOff val="40000"/>
                  <a:alpha val="32000"/>
                </a:schemeClr>
              </a:gs>
            </a:gsLst>
            <a:lin ang="102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93" name="矩形 192"/>
          <p:cNvSpPr/>
          <p:nvPr userDrawn="1">
            <p:custDataLst>
              <p:tags r:id="rId19"/>
            </p:custDataLst>
          </p:nvPr>
        </p:nvSpPr>
        <p:spPr>
          <a:xfrm>
            <a:off x="46355" y="479425"/>
            <a:ext cx="466090" cy="106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矩形 6"/>
          <p:cNvSpPr/>
          <p:nvPr userDrawn="1">
            <p:custDataLst>
              <p:tags r:id="rId20"/>
            </p:custDataLst>
          </p:nvPr>
        </p:nvSpPr>
        <p:spPr>
          <a:xfrm>
            <a:off x="306705" y="640715"/>
            <a:ext cx="205740" cy="1060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任意多边形 11"/>
          <p:cNvSpPr/>
          <p:nvPr userDrawn="1">
            <p:custDataLst>
              <p:tags r:id="rId21"/>
            </p:custDataLst>
          </p:nvPr>
        </p:nvSpPr>
        <p:spPr>
          <a:xfrm>
            <a:off x="10442575" y="5803265"/>
            <a:ext cx="1749425" cy="1054735"/>
          </a:xfrm>
          <a:custGeom>
            <a:avLst/>
            <a:gdLst>
              <a:gd name="adj" fmla="val 29466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958" h="3590">
                <a:moveTo>
                  <a:pt x="3615" y="0"/>
                </a:moveTo>
                <a:cubicBezTo>
                  <a:pt x="4504" y="0"/>
                  <a:pt x="5318" y="321"/>
                  <a:pt x="5948" y="853"/>
                </a:cubicBezTo>
                <a:lnTo>
                  <a:pt x="5958" y="862"/>
                </a:lnTo>
                <a:lnTo>
                  <a:pt x="5958" y="3590"/>
                </a:lnTo>
                <a:lnTo>
                  <a:pt x="5099" y="3590"/>
                </a:lnTo>
                <a:lnTo>
                  <a:pt x="5099" y="3577"/>
                </a:lnTo>
                <a:cubicBezTo>
                  <a:pt x="5079" y="2774"/>
                  <a:pt x="4422" y="2130"/>
                  <a:pt x="3615" y="2130"/>
                </a:cubicBezTo>
                <a:cubicBezTo>
                  <a:pt x="2808" y="2130"/>
                  <a:pt x="2151" y="2774"/>
                  <a:pt x="2131" y="3577"/>
                </a:cubicBezTo>
                <a:lnTo>
                  <a:pt x="2131" y="3590"/>
                </a:lnTo>
                <a:lnTo>
                  <a:pt x="0" y="3590"/>
                </a:lnTo>
                <a:lnTo>
                  <a:pt x="0" y="3568"/>
                </a:lnTo>
                <a:cubicBezTo>
                  <a:pt x="25" y="1593"/>
                  <a:pt x="1634" y="0"/>
                  <a:pt x="3615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  <a:alpha val="15000"/>
                </a:schemeClr>
              </a:gs>
              <a:gs pos="0">
                <a:schemeClr val="accent1">
                  <a:lumMod val="60000"/>
                  <a:lumOff val="40000"/>
                  <a:alpha val="44000"/>
                </a:schemeClr>
              </a:gs>
            </a:gsLst>
            <a:lin ang="102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lt1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as.uaa.uw.edu/4aae74d40b0bc0873a4e08f98be0016ae20bdc9a.jpg"/>
          <p:cNvPicPr>
            <a:picLocks noChangeAspect="1"/>
          </p:cNvPicPr>
          <p:nvPr/>
        </p:nvPicPr>
        <p:blipFill>
          <a:blip r:embed="rId3"/>
          <a:srcRect t="4417" b="441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344D">
                  <a:alpha val="95000"/>
                </a:srgbClr>
              </a:gs>
              <a:gs pos="50000">
                <a:srgbClr val="00344D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381000"/>
            <a:ext cx="1257300" cy="495300"/>
          </a:xfrm>
          <a:custGeom>
            <a:avLst/>
            <a:gdLst/>
            <a:ahLst/>
            <a:cxnLst/>
            <a:rect l="l" t="t" r="r" b="b"/>
            <a:pathLst>
              <a:path w="1257300" h="495300">
                <a:moveTo>
                  <a:pt x="76202" y="0"/>
                </a:moveTo>
                <a:lnTo>
                  <a:pt x="1181098" y="0"/>
                </a:lnTo>
                <a:cubicBezTo>
                  <a:pt x="1223183" y="0"/>
                  <a:pt x="1257300" y="34117"/>
                  <a:pt x="1257300" y="76202"/>
                </a:cubicBezTo>
                <a:lnTo>
                  <a:pt x="1257300" y="419098"/>
                </a:lnTo>
                <a:cubicBezTo>
                  <a:pt x="1257300" y="461183"/>
                  <a:pt x="1223183" y="495300"/>
                  <a:pt x="11810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C87D55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381000" y="381000"/>
            <a:ext cx="1343025" cy="495300"/>
          </a:xfrm>
          <a:prstGeom prst="rect">
            <a:avLst/>
          </a:prstGeom>
          <a:noFill/>
        </p:spPr>
        <p:txBody>
          <a:bodyPr wrap="square" lIns="228600" tIns="114300" rIns="228600" bIns="11430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SECP 1513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545564" y="384175"/>
            <a:ext cx="1263650" cy="501650"/>
          </a:xfrm>
          <a:custGeom>
            <a:avLst/>
            <a:gdLst/>
            <a:ahLst/>
            <a:cxnLst/>
            <a:rect l="l" t="t" r="r" b="b"/>
            <a:pathLst>
              <a:path w="1263650" h="501650">
                <a:moveTo>
                  <a:pt x="76201" y="0"/>
                </a:moveTo>
                <a:lnTo>
                  <a:pt x="1187449" y="0"/>
                </a:lnTo>
                <a:cubicBezTo>
                  <a:pt x="1229506" y="0"/>
                  <a:pt x="1263650" y="34144"/>
                  <a:pt x="1263650" y="76201"/>
                </a:cubicBezTo>
                <a:lnTo>
                  <a:pt x="1263650" y="425449"/>
                </a:lnTo>
                <a:cubicBezTo>
                  <a:pt x="1263650" y="467506"/>
                  <a:pt x="1229506" y="501650"/>
                  <a:pt x="1187449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42389" y="381000"/>
            <a:ext cx="1343025" cy="495300"/>
          </a:xfrm>
          <a:prstGeom prst="rect">
            <a:avLst/>
          </a:prstGeom>
          <a:noFill/>
        </p:spPr>
        <p:txBody>
          <a:bodyPr wrap="square" lIns="228600" tIns="114300" rIns="228600" bIns="11430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338263"/>
            <a:ext cx="8820150" cy="714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8F8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Design Thinking Project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2205038"/>
            <a:ext cx="7162800" cy="685800"/>
          </a:xfrm>
          <a:custGeom>
            <a:avLst/>
            <a:gdLst/>
            <a:ahLst/>
            <a:cxnLst/>
            <a:rect l="l" t="t" r="r" b="b"/>
            <a:pathLst>
              <a:path w="7162800" h="685800">
                <a:moveTo>
                  <a:pt x="114302" y="0"/>
                </a:moveTo>
                <a:lnTo>
                  <a:pt x="7048498" y="0"/>
                </a:lnTo>
                <a:cubicBezTo>
                  <a:pt x="7111583" y="0"/>
                  <a:pt x="7162800" y="51217"/>
                  <a:pt x="7162800" y="114302"/>
                </a:cubicBezTo>
                <a:lnTo>
                  <a:pt x="7162800" y="571498"/>
                </a:lnTo>
                <a:cubicBezTo>
                  <a:pt x="7162800" y="634583"/>
                  <a:pt x="7111583" y="685800"/>
                  <a:pt x="70484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87D55"/>
          </a:solidFill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2357438"/>
            <a:ext cx="67246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Building Maintenance Management System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3119438"/>
            <a:ext cx="864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Technology and Information Systems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0050" y="3729038"/>
            <a:ext cx="3562350" cy="723900"/>
          </a:xfrm>
          <a:custGeom>
            <a:avLst/>
            <a:gdLst/>
            <a:ahLst/>
            <a:cxnLst/>
            <a:rect l="l" t="t" r="r" b="b"/>
            <a:pathLst>
              <a:path w="3562350" h="723900">
                <a:moveTo>
                  <a:pt x="38100" y="0"/>
                </a:moveTo>
                <a:lnTo>
                  <a:pt x="3486152" y="0"/>
                </a:lnTo>
                <a:cubicBezTo>
                  <a:pt x="3528207" y="0"/>
                  <a:pt x="3562350" y="34143"/>
                  <a:pt x="3562350" y="76198"/>
                </a:cubicBezTo>
                <a:lnTo>
                  <a:pt x="3562350" y="647702"/>
                </a:lnTo>
                <a:cubicBezTo>
                  <a:pt x="3562350" y="689757"/>
                  <a:pt x="3528207" y="723900"/>
                  <a:pt x="348615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400050" y="3729038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4" name="Text 11"/>
          <p:cNvSpPr/>
          <p:nvPr/>
        </p:nvSpPr>
        <p:spPr>
          <a:xfrm>
            <a:off x="609600" y="3843338"/>
            <a:ext cx="3228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Leader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9600" y="4071938"/>
            <a:ext cx="3248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XU HAOJIE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133850" y="3729038"/>
            <a:ext cx="3562350" cy="723900"/>
          </a:xfrm>
          <a:custGeom>
            <a:avLst/>
            <a:gdLst/>
            <a:ahLst/>
            <a:cxnLst/>
            <a:rect l="l" t="t" r="r" b="b"/>
            <a:pathLst>
              <a:path w="3562350" h="723900">
                <a:moveTo>
                  <a:pt x="38100" y="0"/>
                </a:moveTo>
                <a:lnTo>
                  <a:pt x="3486152" y="0"/>
                </a:lnTo>
                <a:cubicBezTo>
                  <a:pt x="3528207" y="0"/>
                  <a:pt x="3562350" y="34143"/>
                  <a:pt x="3562350" y="76198"/>
                </a:cubicBezTo>
                <a:lnTo>
                  <a:pt x="3562350" y="647702"/>
                </a:lnTo>
                <a:cubicBezTo>
                  <a:pt x="3562350" y="689757"/>
                  <a:pt x="3528207" y="723900"/>
                  <a:pt x="348615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4133850" y="3729038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18" name="Text 15"/>
          <p:cNvSpPr/>
          <p:nvPr/>
        </p:nvSpPr>
        <p:spPr>
          <a:xfrm>
            <a:off x="4343400" y="3843338"/>
            <a:ext cx="3228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43400" y="4071938"/>
            <a:ext cx="3248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 HONGYU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00050" y="4605338"/>
            <a:ext cx="3562350" cy="723900"/>
          </a:xfrm>
          <a:custGeom>
            <a:avLst/>
            <a:gdLst/>
            <a:ahLst/>
            <a:cxnLst/>
            <a:rect l="l" t="t" r="r" b="b"/>
            <a:pathLst>
              <a:path w="3562350" h="723900">
                <a:moveTo>
                  <a:pt x="38100" y="0"/>
                </a:moveTo>
                <a:lnTo>
                  <a:pt x="3486152" y="0"/>
                </a:lnTo>
                <a:cubicBezTo>
                  <a:pt x="3528207" y="0"/>
                  <a:pt x="3562350" y="34143"/>
                  <a:pt x="3562350" y="76198"/>
                </a:cubicBezTo>
                <a:lnTo>
                  <a:pt x="3562350" y="647702"/>
                </a:lnTo>
                <a:cubicBezTo>
                  <a:pt x="3562350" y="689757"/>
                  <a:pt x="3528207" y="723900"/>
                  <a:pt x="348615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400050" y="4605338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22" name="Text 19"/>
          <p:cNvSpPr/>
          <p:nvPr/>
        </p:nvSpPr>
        <p:spPr>
          <a:xfrm>
            <a:off x="609600" y="4719638"/>
            <a:ext cx="3228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Researcher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09600" y="4948238"/>
            <a:ext cx="3248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 WENBO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133850" y="4605338"/>
            <a:ext cx="3562350" cy="723900"/>
          </a:xfrm>
          <a:custGeom>
            <a:avLst/>
            <a:gdLst/>
            <a:ahLst/>
            <a:cxnLst/>
            <a:rect l="l" t="t" r="r" b="b"/>
            <a:pathLst>
              <a:path w="3562350" h="723900">
                <a:moveTo>
                  <a:pt x="38100" y="0"/>
                </a:moveTo>
                <a:lnTo>
                  <a:pt x="3486152" y="0"/>
                </a:lnTo>
                <a:cubicBezTo>
                  <a:pt x="3528207" y="0"/>
                  <a:pt x="3562350" y="34143"/>
                  <a:pt x="3562350" y="76198"/>
                </a:cubicBezTo>
                <a:lnTo>
                  <a:pt x="3562350" y="647702"/>
                </a:lnTo>
                <a:cubicBezTo>
                  <a:pt x="3562350" y="689757"/>
                  <a:pt x="3528207" y="723900"/>
                  <a:pt x="348615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4133850" y="4605338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6" name="Text 23"/>
          <p:cNvSpPr/>
          <p:nvPr/>
        </p:nvSpPr>
        <p:spPr>
          <a:xfrm>
            <a:off x="4343400" y="4719638"/>
            <a:ext cx="3228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Editor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343400" y="4948238"/>
            <a:ext cx="3248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Mohamed Brahim Khairy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81000" y="5899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9" name="Shape 26"/>
          <p:cNvSpPr/>
          <p:nvPr/>
        </p:nvSpPr>
        <p:spPr>
          <a:xfrm>
            <a:off x="526256" y="6032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30" name="Text 27"/>
          <p:cNvSpPr/>
          <p:nvPr/>
        </p:nvSpPr>
        <p:spPr>
          <a:xfrm>
            <a:off x="990600" y="5899150"/>
            <a:ext cx="1057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26" dirty="0">
                <a:solidFill>
                  <a:srgbClr val="F8F8F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Date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90600" y="6089650"/>
            <a:ext cx="1085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10/01/2026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694069" y="5781675"/>
            <a:ext cx="2111375" cy="692150"/>
          </a:xfrm>
          <a:custGeom>
            <a:avLst/>
            <a:gdLst/>
            <a:ahLst/>
            <a:cxnLst/>
            <a:rect l="l" t="t" r="r" b="b"/>
            <a:pathLst>
              <a:path w="2111375" h="692150">
                <a:moveTo>
                  <a:pt x="76199" y="0"/>
                </a:moveTo>
                <a:lnTo>
                  <a:pt x="2035176" y="0"/>
                </a:lnTo>
                <a:cubicBezTo>
                  <a:pt x="2077260" y="0"/>
                  <a:pt x="2111375" y="34115"/>
                  <a:pt x="2111375" y="76199"/>
                </a:cubicBezTo>
                <a:lnTo>
                  <a:pt x="2111375" y="615951"/>
                </a:lnTo>
                <a:cubicBezTo>
                  <a:pt x="2111375" y="658035"/>
                  <a:pt x="2077260" y="692150"/>
                  <a:pt x="2035176" y="692150"/>
                </a:cubicBezTo>
                <a:lnTo>
                  <a:pt x="76199" y="692150"/>
                </a:lnTo>
                <a:cubicBezTo>
                  <a:pt x="34115" y="692150"/>
                  <a:pt x="0" y="658035"/>
                  <a:pt x="0" y="6159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C87D55">
                <a:alpha val="50196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925844" y="5899150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UTM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925844" y="6089650"/>
            <a:ext cx="1733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Technology University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3688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4" name="Shape 2"/>
          <p:cNvSpPr/>
          <p:nvPr/>
        </p:nvSpPr>
        <p:spPr>
          <a:xfrm>
            <a:off x="381000" y="1219200"/>
            <a:ext cx="6572250" cy="800100"/>
          </a:xfrm>
          <a:custGeom>
            <a:avLst/>
            <a:gdLst/>
            <a:ahLst/>
            <a:cxnLst/>
            <a:rect l="l" t="t" r="r" b="b"/>
            <a:pathLst>
              <a:path w="6572250" h="800100">
                <a:moveTo>
                  <a:pt x="114302" y="0"/>
                </a:moveTo>
                <a:lnTo>
                  <a:pt x="6457948" y="0"/>
                </a:lnTo>
                <a:cubicBezTo>
                  <a:pt x="6521033" y="0"/>
                  <a:pt x="6572250" y="51217"/>
                  <a:pt x="6572250" y="114302"/>
                </a:cubicBezTo>
                <a:lnTo>
                  <a:pt x="6572250" y="685798"/>
                </a:lnTo>
                <a:cubicBezTo>
                  <a:pt x="6572250" y="748883"/>
                  <a:pt x="6521033" y="800100"/>
                  <a:pt x="64579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3400" y="1390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6" name="Text 4"/>
          <p:cNvSpPr/>
          <p:nvPr/>
        </p:nvSpPr>
        <p:spPr>
          <a:xfrm>
            <a:off x="651570" y="1466850"/>
            <a:ext cx="3333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2847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Background &amp; Objectives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676400"/>
            <a:ext cx="2819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Understanding UTM maintenance challenges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050" y="2501901"/>
            <a:ext cx="6553200" cy="800100"/>
          </a:xfrm>
          <a:custGeom>
            <a:avLst/>
            <a:gdLst/>
            <a:ahLst/>
            <a:cxnLst/>
            <a:rect l="l" t="t" r="r" b="b"/>
            <a:pathLst>
              <a:path w="6553200" h="800100">
                <a:moveTo>
                  <a:pt x="38100" y="0"/>
                </a:moveTo>
                <a:lnTo>
                  <a:pt x="6438898" y="0"/>
                </a:lnTo>
                <a:cubicBezTo>
                  <a:pt x="6501983" y="0"/>
                  <a:pt x="6553200" y="51217"/>
                  <a:pt x="6553200" y="114302"/>
                </a:cubicBezTo>
                <a:lnTo>
                  <a:pt x="6553200" y="685798"/>
                </a:lnTo>
                <a:cubicBezTo>
                  <a:pt x="6553200" y="748883"/>
                  <a:pt x="6501983" y="800100"/>
                  <a:pt x="64388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0050" y="2501901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1" name="Shape 9"/>
          <p:cNvSpPr/>
          <p:nvPr/>
        </p:nvSpPr>
        <p:spPr>
          <a:xfrm>
            <a:off x="571500" y="26733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67643" y="2749551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1100" y="2654301"/>
            <a:ext cx="2943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 5 Phases of Design Thinking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1100" y="2959101"/>
            <a:ext cx="2914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Empathy → Define → Ideate → Prototype → Test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3784600"/>
            <a:ext cx="6553200" cy="800100"/>
          </a:xfrm>
          <a:custGeom>
            <a:avLst/>
            <a:gdLst/>
            <a:ahLst/>
            <a:cxnLst/>
            <a:rect l="l" t="t" r="r" b="b"/>
            <a:pathLst>
              <a:path w="6553200" h="800100">
                <a:moveTo>
                  <a:pt x="38100" y="0"/>
                </a:moveTo>
                <a:lnTo>
                  <a:pt x="6438898" y="0"/>
                </a:lnTo>
                <a:cubicBezTo>
                  <a:pt x="6501983" y="0"/>
                  <a:pt x="6553200" y="51217"/>
                  <a:pt x="6553200" y="114302"/>
                </a:cubicBezTo>
                <a:lnTo>
                  <a:pt x="6553200" y="685798"/>
                </a:lnTo>
                <a:cubicBezTo>
                  <a:pt x="6553200" y="748883"/>
                  <a:pt x="6501983" y="800100"/>
                  <a:pt x="64388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0050" y="37846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17" name="Shape 15"/>
          <p:cNvSpPr/>
          <p:nvPr/>
        </p:nvSpPr>
        <p:spPr>
          <a:xfrm>
            <a:off x="571500" y="3956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A8A94">
              <a:alpha val="2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664766" y="403225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1100" y="3937000"/>
            <a:ext cx="3429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Problem, Solution &amp; Team Collaboration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1100" y="4241800"/>
            <a:ext cx="3400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BMMS advantages and teamwork insights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5067300"/>
            <a:ext cx="6572250" cy="800100"/>
          </a:xfrm>
          <a:custGeom>
            <a:avLst/>
            <a:gdLst/>
            <a:ahLst/>
            <a:cxnLst/>
            <a:rect l="l" t="t" r="r" b="b"/>
            <a:pathLst>
              <a:path w="6572250" h="800100">
                <a:moveTo>
                  <a:pt x="114302" y="0"/>
                </a:moveTo>
                <a:lnTo>
                  <a:pt x="6457948" y="0"/>
                </a:lnTo>
                <a:cubicBezTo>
                  <a:pt x="6521033" y="0"/>
                  <a:pt x="6572250" y="51217"/>
                  <a:pt x="6572250" y="114302"/>
                </a:cubicBezTo>
                <a:lnTo>
                  <a:pt x="6572250" y="685798"/>
                </a:lnTo>
                <a:cubicBezTo>
                  <a:pt x="6572250" y="748883"/>
                  <a:pt x="6521033" y="800100"/>
                  <a:pt x="64579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A8A94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3400" y="5238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3" name="Text 21"/>
          <p:cNvSpPr/>
          <p:nvPr/>
        </p:nvSpPr>
        <p:spPr>
          <a:xfrm>
            <a:off x="629741" y="531495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5219700"/>
            <a:ext cx="3086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Design Thinking Assessment Points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524500"/>
            <a:ext cx="3057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Evaluation and reflection metrics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00900" y="1219200"/>
            <a:ext cx="4610100" cy="800100"/>
          </a:xfrm>
          <a:custGeom>
            <a:avLst/>
            <a:gdLst/>
            <a:ahLst/>
            <a:cxnLst/>
            <a:rect l="l" t="t" r="r" b="b"/>
            <a:pathLst>
              <a:path w="4610100" h="800100">
                <a:moveTo>
                  <a:pt x="38100" y="0"/>
                </a:moveTo>
                <a:lnTo>
                  <a:pt x="4495798" y="0"/>
                </a:lnTo>
                <a:cubicBezTo>
                  <a:pt x="4558883" y="0"/>
                  <a:pt x="4610100" y="51217"/>
                  <a:pt x="4610100" y="114302"/>
                </a:cubicBezTo>
                <a:lnTo>
                  <a:pt x="4610100" y="685798"/>
                </a:lnTo>
                <a:cubicBezTo>
                  <a:pt x="4610100" y="748883"/>
                  <a:pt x="4558883" y="800100"/>
                  <a:pt x="44957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00900" y="12192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8" name="Shape 26"/>
          <p:cNvSpPr/>
          <p:nvPr/>
        </p:nvSpPr>
        <p:spPr>
          <a:xfrm>
            <a:off x="737235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7465219" y="1447800"/>
            <a:ext cx="381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81950" y="1371600"/>
            <a:ext cx="2724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Individual Reflections &amp; Growth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81950" y="1676400"/>
            <a:ext cx="2695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member insights and action plans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00900" y="2501901"/>
            <a:ext cx="4610100" cy="800100"/>
          </a:xfrm>
          <a:custGeom>
            <a:avLst/>
            <a:gdLst/>
            <a:ahLst/>
            <a:cxnLst/>
            <a:rect l="l" t="t" r="r" b="b"/>
            <a:pathLst>
              <a:path w="4610100" h="800100">
                <a:moveTo>
                  <a:pt x="38100" y="0"/>
                </a:moveTo>
                <a:lnTo>
                  <a:pt x="4495798" y="0"/>
                </a:lnTo>
                <a:cubicBezTo>
                  <a:pt x="4558883" y="0"/>
                  <a:pt x="4610100" y="51217"/>
                  <a:pt x="4610100" y="114302"/>
                </a:cubicBezTo>
                <a:lnTo>
                  <a:pt x="4610100" y="685798"/>
                </a:lnTo>
                <a:cubicBezTo>
                  <a:pt x="4610100" y="748883"/>
                  <a:pt x="4558883" y="800100"/>
                  <a:pt x="44957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00900" y="2501901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4" name="Shape 32"/>
          <p:cNvSpPr/>
          <p:nvPr/>
        </p:nvSpPr>
        <p:spPr>
          <a:xfrm>
            <a:off x="7372350" y="26733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A8A94">
              <a:alpha val="2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7463730" y="2749551"/>
            <a:ext cx="390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81950" y="2654301"/>
            <a:ext cx="2238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Task Distribution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81950" y="2959101"/>
            <a:ext cx="2209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Roles and responsibilities breakdown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200900" y="3784600"/>
            <a:ext cx="4610100" cy="800100"/>
          </a:xfrm>
          <a:custGeom>
            <a:avLst/>
            <a:gdLst/>
            <a:ahLst/>
            <a:cxnLst/>
            <a:rect l="l" t="t" r="r" b="b"/>
            <a:pathLst>
              <a:path w="4610100" h="800100">
                <a:moveTo>
                  <a:pt x="38100" y="0"/>
                </a:moveTo>
                <a:lnTo>
                  <a:pt x="4495798" y="0"/>
                </a:lnTo>
                <a:cubicBezTo>
                  <a:pt x="4558883" y="0"/>
                  <a:pt x="4610100" y="51217"/>
                  <a:pt x="4610100" y="114302"/>
                </a:cubicBezTo>
                <a:lnTo>
                  <a:pt x="4610100" y="685798"/>
                </a:lnTo>
                <a:cubicBezTo>
                  <a:pt x="4610100" y="748883"/>
                  <a:pt x="4558883" y="800100"/>
                  <a:pt x="44957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00900" y="37846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0" name="Shape 38"/>
          <p:cNvSpPr/>
          <p:nvPr/>
        </p:nvSpPr>
        <p:spPr>
          <a:xfrm>
            <a:off x="7372350" y="3956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>
              <a:alpha val="2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7474446" y="403225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981950" y="3937000"/>
            <a:ext cx="2505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Conclusion &amp; Future Outlook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981950" y="4241800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Prototype to product roadmap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181850" y="5067300"/>
            <a:ext cx="4629150" cy="800100"/>
          </a:xfrm>
          <a:custGeom>
            <a:avLst/>
            <a:gdLst/>
            <a:ahLst/>
            <a:cxnLst/>
            <a:rect l="l" t="t" r="r" b="b"/>
            <a:pathLst>
              <a:path w="4629150" h="800100">
                <a:moveTo>
                  <a:pt x="114302" y="0"/>
                </a:moveTo>
                <a:lnTo>
                  <a:pt x="4514848" y="0"/>
                </a:lnTo>
                <a:cubicBezTo>
                  <a:pt x="4577933" y="0"/>
                  <a:pt x="4629150" y="51217"/>
                  <a:pt x="4629150" y="114302"/>
                </a:cubicBezTo>
                <a:lnTo>
                  <a:pt x="4629150" y="685798"/>
                </a:lnTo>
                <a:cubicBezTo>
                  <a:pt x="4629150" y="748883"/>
                  <a:pt x="4577933" y="800100"/>
                  <a:pt x="45148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C87D55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334250" y="5238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46" name="Text 44"/>
          <p:cNvSpPr/>
          <p:nvPr/>
        </p:nvSpPr>
        <p:spPr>
          <a:xfrm>
            <a:off x="7424837" y="5314950"/>
            <a:ext cx="390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08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943850" y="5219700"/>
            <a:ext cx="2009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Q&amp;A Session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943850" y="5524500"/>
            <a:ext cx="1981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Questions &amp; Answers (5 Minutes)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00050" y="6019800"/>
            <a:ext cx="11410950" cy="457200"/>
          </a:xfrm>
          <a:custGeom>
            <a:avLst/>
            <a:gdLst/>
            <a:ahLst/>
            <a:cxnLst/>
            <a:rect l="l" t="t" r="r" b="b"/>
            <a:pathLst>
              <a:path w="11410950" h="457200">
                <a:moveTo>
                  <a:pt x="3810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380998"/>
                </a:lnTo>
                <a:cubicBezTo>
                  <a:pt x="11410950" y="423083"/>
                  <a:pt x="11376833" y="457200"/>
                  <a:pt x="11334748" y="457200"/>
                </a:cubicBezTo>
                <a:lnTo>
                  <a:pt x="38100" y="457200"/>
                </a:lnTo>
                <a:cubicBezTo>
                  <a:pt x="17058" y="457200"/>
                  <a:pt x="0" y="440142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344D">
              <a:alpha val="10196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400050" y="60198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3810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1" name="Shape 49"/>
          <p:cNvSpPr/>
          <p:nvPr/>
        </p:nvSpPr>
        <p:spPr>
          <a:xfrm>
            <a:off x="552450" y="6153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2" name="Text 50"/>
          <p:cNvSpPr/>
          <p:nvPr/>
        </p:nvSpPr>
        <p:spPr>
          <a:xfrm>
            <a:off x="781050" y="6134100"/>
            <a:ext cx="10991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Presentation Duration:</a:t>
            </a:r>
            <a:r>
              <a:rPr lang="en-US" sz="1200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10 minutes | </a:t>
            </a:r>
            <a:r>
              <a:rPr lang="en-US" sz="120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Q&amp;A Duration:</a:t>
            </a:r>
            <a:r>
              <a:rPr lang="en-US" sz="1200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5 minutes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783" y="367783"/>
            <a:ext cx="1471131" cy="257448"/>
          </a:xfrm>
          <a:custGeom>
            <a:avLst/>
            <a:gdLst/>
            <a:ahLst/>
            <a:cxnLst/>
            <a:rect l="l" t="t" r="r" b="b"/>
            <a:pathLst>
              <a:path w="1471131" h="257448">
                <a:moveTo>
                  <a:pt x="128724" y="0"/>
                </a:moveTo>
                <a:lnTo>
                  <a:pt x="1342407" y="0"/>
                </a:lnTo>
                <a:cubicBezTo>
                  <a:pt x="1413500" y="0"/>
                  <a:pt x="1471131" y="57632"/>
                  <a:pt x="1471131" y="128724"/>
                </a:cubicBezTo>
                <a:lnTo>
                  <a:pt x="1471131" y="128724"/>
                </a:lnTo>
                <a:cubicBezTo>
                  <a:pt x="1471131" y="199816"/>
                  <a:pt x="1413500" y="257448"/>
                  <a:pt x="1342407" y="257448"/>
                </a:cubicBezTo>
                <a:lnTo>
                  <a:pt x="128724" y="257448"/>
                </a:lnTo>
                <a:cubicBezTo>
                  <a:pt x="57679" y="257448"/>
                  <a:pt x="0" y="199769"/>
                  <a:pt x="0" y="128724"/>
                </a:cubicBezTo>
                <a:lnTo>
                  <a:pt x="0" y="128724"/>
                </a:lnTo>
                <a:cubicBezTo>
                  <a:pt x="0" y="57679"/>
                  <a:pt x="57679" y="0"/>
                  <a:pt x="128724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67783" y="367783"/>
            <a:ext cx="1535493" cy="257448"/>
          </a:xfrm>
          <a:prstGeom prst="rect">
            <a:avLst/>
          </a:prstGeom>
          <a:noFill/>
        </p:spPr>
        <p:txBody>
          <a:bodyPr wrap="square" lIns="147113" tIns="36778" rIns="147113" bIns="36778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7783" y="764192"/>
            <a:ext cx="11677104" cy="4413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75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Background &amp;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783" y="1305629"/>
            <a:ext cx="5654661" cy="5185738"/>
          </a:xfrm>
          <a:custGeom>
            <a:avLst/>
            <a:gdLst/>
            <a:ahLst/>
            <a:cxnLst/>
            <a:rect l="l" t="t" r="r" b="b"/>
            <a:pathLst>
              <a:path w="5654661" h="5185738">
                <a:moveTo>
                  <a:pt x="36778" y="0"/>
                </a:moveTo>
                <a:lnTo>
                  <a:pt x="5617882" y="0"/>
                </a:lnTo>
                <a:cubicBezTo>
                  <a:pt x="5638194" y="0"/>
                  <a:pt x="5654661" y="16466"/>
                  <a:pt x="5654661" y="36778"/>
                </a:cubicBezTo>
                <a:lnTo>
                  <a:pt x="5654661" y="5075385"/>
                </a:lnTo>
                <a:cubicBezTo>
                  <a:pt x="5654661" y="5136331"/>
                  <a:pt x="5605254" y="5185738"/>
                  <a:pt x="5544308" y="5185738"/>
                </a:cubicBezTo>
                <a:lnTo>
                  <a:pt x="110352" y="5185738"/>
                </a:lnTo>
                <a:cubicBezTo>
                  <a:pt x="49406" y="5185738"/>
                  <a:pt x="0" y="5136331"/>
                  <a:pt x="0" y="5075385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7919" dist="919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7783" y="1305629"/>
            <a:ext cx="5654661" cy="36778"/>
          </a:xfrm>
          <a:custGeom>
            <a:avLst/>
            <a:gdLst/>
            <a:ahLst/>
            <a:cxnLst/>
            <a:rect l="l" t="t" r="r" b="b"/>
            <a:pathLst>
              <a:path w="5654661" h="36778">
                <a:moveTo>
                  <a:pt x="36778" y="0"/>
                </a:moveTo>
                <a:lnTo>
                  <a:pt x="5617882" y="0"/>
                </a:lnTo>
                <a:cubicBezTo>
                  <a:pt x="5638194" y="0"/>
                  <a:pt x="5654661" y="16466"/>
                  <a:pt x="5654661" y="36778"/>
                </a:cubicBezTo>
                <a:lnTo>
                  <a:pt x="5654661" y="36778"/>
                </a:lnTo>
                <a:lnTo>
                  <a:pt x="0" y="36778"/>
                </a:ln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7" name="Shape 5"/>
          <p:cNvSpPr/>
          <p:nvPr/>
        </p:nvSpPr>
        <p:spPr>
          <a:xfrm>
            <a:off x="514896" y="1471131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8" name="Shape 6"/>
          <p:cNvSpPr/>
          <p:nvPr/>
        </p:nvSpPr>
        <p:spPr>
          <a:xfrm>
            <a:off x="643620" y="1599855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91946" y="183891"/>
                </a:moveTo>
                <a:cubicBezTo>
                  <a:pt x="142692" y="183891"/>
                  <a:pt x="183891" y="142692"/>
                  <a:pt x="183891" y="91946"/>
                </a:cubicBezTo>
                <a:cubicBezTo>
                  <a:pt x="183891" y="41199"/>
                  <a:pt x="142692" y="0"/>
                  <a:pt x="91946" y="0"/>
                </a:cubicBezTo>
                <a:cubicBezTo>
                  <a:pt x="41199" y="0"/>
                  <a:pt x="0" y="41199"/>
                  <a:pt x="0" y="91946"/>
                </a:cubicBezTo>
                <a:cubicBezTo>
                  <a:pt x="0" y="142692"/>
                  <a:pt x="41199" y="183891"/>
                  <a:pt x="91946" y="183891"/>
                </a:cubicBezTo>
                <a:close/>
                <a:moveTo>
                  <a:pt x="80452" y="57466"/>
                </a:moveTo>
                <a:cubicBezTo>
                  <a:pt x="80452" y="51123"/>
                  <a:pt x="85602" y="45973"/>
                  <a:pt x="91946" y="45973"/>
                </a:cubicBezTo>
                <a:cubicBezTo>
                  <a:pt x="98289" y="45973"/>
                  <a:pt x="103439" y="51123"/>
                  <a:pt x="103439" y="57466"/>
                </a:cubicBezTo>
                <a:cubicBezTo>
                  <a:pt x="103439" y="63809"/>
                  <a:pt x="98289" y="68959"/>
                  <a:pt x="91946" y="68959"/>
                </a:cubicBezTo>
                <a:cubicBezTo>
                  <a:pt x="85602" y="68959"/>
                  <a:pt x="80452" y="63809"/>
                  <a:pt x="80452" y="57466"/>
                </a:cubicBezTo>
                <a:close/>
                <a:moveTo>
                  <a:pt x="77579" y="80452"/>
                </a:moveTo>
                <a:lnTo>
                  <a:pt x="94819" y="80452"/>
                </a:lnTo>
                <a:cubicBezTo>
                  <a:pt x="99596" y="80452"/>
                  <a:pt x="103439" y="84296"/>
                  <a:pt x="103439" y="89072"/>
                </a:cubicBezTo>
                <a:lnTo>
                  <a:pt x="103439" y="120679"/>
                </a:lnTo>
                <a:lnTo>
                  <a:pt x="106312" y="120679"/>
                </a:lnTo>
                <a:cubicBezTo>
                  <a:pt x="111089" y="120679"/>
                  <a:pt x="114932" y="124522"/>
                  <a:pt x="114932" y="129299"/>
                </a:cubicBezTo>
                <a:cubicBezTo>
                  <a:pt x="114932" y="134076"/>
                  <a:pt x="111089" y="137919"/>
                  <a:pt x="106312" y="137919"/>
                </a:cubicBezTo>
                <a:lnTo>
                  <a:pt x="77579" y="137919"/>
                </a:lnTo>
                <a:cubicBezTo>
                  <a:pt x="72802" y="137919"/>
                  <a:pt x="68959" y="134076"/>
                  <a:pt x="68959" y="129299"/>
                </a:cubicBezTo>
                <a:cubicBezTo>
                  <a:pt x="68959" y="124522"/>
                  <a:pt x="72802" y="120679"/>
                  <a:pt x="77579" y="120679"/>
                </a:cubicBezTo>
                <a:lnTo>
                  <a:pt x="86199" y="120679"/>
                </a:lnTo>
                <a:lnTo>
                  <a:pt x="86199" y="97692"/>
                </a:lnTo>
                <a:lnTo>
                  <a:pt x="77579" y="97692"/>
                </a:lnTo>
                <a:cubicBezTo>
                  <a:pt x="72802" y="97692"/>
                  <a:pt x="68959" y="93849"/>
                  <a:pt x="68959" y="89072"/>
                </a:cubicBezTo>
                <a:cubicBezTo>
                  <a:pt x="68959" y="84296"/>
                  <a:pt x="72802" y="80452"/>
                  <a:pt x="77579" y="80452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9" name="Text 7"/>
          <p:cNvSpPr/>
          <p:nvPr/>
        </p:nvSpPr>
        <p:spPr>
          <a:xfrm>
            <a:off x="1066570" y="1544688"/>
            <a:ext cx="1287240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896" y="2022805"/>
            <a:ext cx="5433991" cy="717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Many UTM students reside in hostels (Kolej), but facility maintenance faces significant challenges. The current reporting system relies on paper forms, leading to critical inefficiencies.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285" y="3052597"/>
            <a:ext cx="5342045" cy="845900"/>
          </a:xfrm>
          <a:custGeom>
            <a:avLst/>
            <a:gdLst/>
            <a:ahLst/>
            <a:cxnLst/>
            <a:rect l="l" t="t" r="r" b="b"/>
            <a:pathLst>
              <a:path w="5342045" h="845900">
                <a:moveTo>
                  <a:pt x="36778" y="0"/>
                </a:moveTo>
                <a:lnTo>
                  <a:pt x="5268486" y="0"/>
                </a:lnTo>
                <a:cubicBezTo>
                  <a:pt x="5309112" y="0"/>
                  <a:pt x="5342045" y="32934"/>
                  <a:pt x="5342045" y="73560"/>
                </a:cubicBezTo>
                <a:lnTo>
                  <a:pt x="5342045" y="772341"/>
                </a:lnTo>
                <a:cubicBezTo>
                  <a:pt x="5342045" y="812967"/>
                  <a:pt x="5309112" y="845900"/>
                  <a:pt x="5268486" y="845900"/>
                </a:cubicBezTo>
                <a:lnTo>
                  <a:pt x="36778" y="845900"/>
                </a:lnTo>
                <a:cubicBezTo>
                  <a:pt x="16466" y="845900"/>
                  <a:pt x="0" y="829434"/>
                  <a:pt x="0" y="80912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533285" y="3052597"/>
            <a:ext cx="36778" cy="845900"/>
          </a:xfrm>
          <a:custGeom>
            <a:avLst/>
            <a:gdLst/>
            <a:ahLst/>
            <a:cxnLst/>
            <a:rect l="l" t="t" r="r" b="b"/>
            <a:pathLst>
              <a:path w="36778" h="845900">
                <a:moveTo>
                  <a:pt x="36778" y="0"/>
                </a:moveTo>
                <a:lnTo>
                  <a:pt x="36778" y="0"/>
                </a:lnTo>
                <a:lnTo>
                  <a:pt x="36778" y="845900"/>
                </a:lnTo>
                <a:lnTo>
                  <a:pt x="36778" y="845900"/>
                </a:lnTo>
                <a:cubicBezTo>
                  <a:pt x="16466" y="845900"/>
                  <a:pt x="0" y="829434"/>
                  <a:pt x="0" y="80912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3" name="Shape 11"/>
          <p:cNvSpPr/>
          <p:nvPr/>
        </p:nvSpPr>
        <p:spPr>
          <a:xfrm>
            <a:off x="625231" y="3162932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147113" y="0"/>
                </a:moveTo>
                <a:lnTo>
                  <a:pt x="147113" y="0"/>
                </a:lnTo>
                <a:cubicBezTo>
                  <a:pt x="228307" y="0"/>
                  <a:pt x="294226" y="65919"/>
                  <a:pt x="294226" y="147113"/>
                </a:cubicBezTo>
                <a:lnTo>
                  <a:pt x="294226" y="147113"/>
                </a:lnTo>
                <a:cubicBezTo>
                  <a:pt x="294226" y="228307"/>
                  <a:pt x="228307" y="294226"/>
                  <a:pt x="147113" y="294226"/>
                </a:cubicBezTo>
                <a:lnTo>
                  <a:pt x="147113" y="294226"/>
                </a:lnTo>
                <a:cubicBezTo>
                  <a:pt x="65919" y="294226"/>
                  <a:pt x="0" y="228307"/>
                  <a:pt x="0" y="147113"/>
                </a:cubicBezTo>
                <a:lnTo>
                  <a:pt x="0" y="147113"/>
                </a:lnTo>
                <a:cubicBezTo>
                  <a:pt x="0" y="65919"/>
                  <a:pt x="65919" y="0"/>
                  <a:pt x="14711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4" name="Text 12"/>
          <p:cNvSpPr/>
          <p:nvPr/>
        </p:nvSpPr>
        <p:spPr>
          <a:xfrm>
            <a:off x="748974" y="3187010"/>
            <a:ext cx="119529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9792" y="3126154"/>
            <a:ext cx="4854733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On-site Submission Required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9792" y="3420380"/>
            <a:ext cx="4845538" cy="404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reporting during non-working hours (lunch breaks, weekends, holidays).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285" y="4376615"/>
            <a:ext cx="5342045" cy="643620"/>
          </a:xfrm>
          <a:custGeom>
            <a:avLst/>
            <a:gdLst/>
            <a:ahLst/>
            <a:cxnLst/>
            <a:rect l="l" t="t" r="r" b="b"/>
            <a:pathLst>
              <a:path w="5342045" h="643620">
                <a:moveTo>
                  <a:pt x="36778" y="0"/>
                </a:moveTo>
                <a:lnTo>
                  <a:pt x="5268486" y="0"/>
                </a:lnTo>
                <a:cubicBezTo>
                  <a:pt x="5309084" y="0"/>
                  <a:pt x="5342045" y="32961"/>
                  <a:pt x="5342045" y="73559"/>
                </a:cubicBezTo>
                <a:lnTo>
                  <a:pt x="5342045" y="570061"/>
                </a:lnTo>
                <a:cubicBezTo>
                  <a:pt x="5342045" y="610686"/>
                  <a:pt x="5309112" y="643620"/>
                  <a:pt x="5268486" y="643620"/>
                </a:cubicBezTo>
                <a:lnTo>
                  <a:pt x="36778" y="643620"/>
                </a:lnTo>
                <a:cubicBezTo>
                  <a:pt x="16466" y="643620"/>
                  <a:pt x="0" y="627154"/>
                  <a:pt x="0" y="60684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533285" y="4376615"/>
            <a:ext cx="36778" cy="643620"/>
          </a:xfrm>
          <a:custGeom>
            <a:avLst/>
            <a:gdLst/>
            <a:ahLst/>
            <a:cxnLst/>
            <a:rect l="l" t="t" r="r" b="b"/>
            <a:pathLst>
              <a:path w="36778" h="643620">
                <a:moveTo>
                  <a:pt x="36778" y="0"/>
                </a:moveTo>
                <a:lnTo>
                  <a:pt x="36778" y="0"/>
                </a:lnTo>
                <a:lnTo>
                  <a:pt x="36778" y="643620"/>
                </a:lnTo>
                <a:lnTo>
                  <a:pt x="36778" y="643620"/>
                </a:lnTo>
                <a:cubicBezTo>
                  <a:pt x="16466" y="643620"/>
                  <a:pt x="0" y="627154"/>
                  <a:pt x="0" y="60684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9" name="Shape 17"/>
          <p:cNvSpPr/>
          <p:nvPr/>
        </p:nvSpPr>
        <p:spPr>
          <a:xfrm>
            <a:off x="625231" y="4486950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147113" y="0"/>
                </a:moveTo>
                <a:lnTo>
                  <a:pt x="147113" y="0"/>
                </a:lnTo>
                <a:cubicBezTo>
                  <a:pt x="228307" y="0"/>
                  <a:pt x="294226" y="65919"/>
                  <a:pt x="294226" y="147113"/>
                </a:cubicBezTo>
                <a:lnTo>
                  <a:pt x="294226" y="147113"/>
                </a:lnTo>
                <a:cubicBezTo>
                  <a:pt x="294226" y="228307"/>
                  <a:pt x="228307" y="294226"/>
                  <a:pt x="147113" y="294226"/>
                </a:cubicBezTo>
                <a:lnTo>
                  <a:pt x="147113" y="294226"/>
                </a:lnTo>
                <a:cubicBezTo>
                  <a:pt x="65919" y="294226"/>
                  <a:pt x="0" y="228307"/>
                  <a:pt x="0" y="147113"/>
                </a:cubicBezTo>
                <a:lnTo>
                  <a:pt x="0" y="147113"/>
                </a:lnTo>
                <a:cubicBezTo>
                  <a:pt x="0" y="65919"/>
                  <a:pt x="65919" y="0"/>
                  <a:pt x="14711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0" name="Text 18"/>
          <p:cNvSpPr/>
          <p:nvPr/>
        </p:nvSpPr>
        <p:spPr>
          <a:xfrm>
            <a:off x="734895" y="4498329"/>
            <a:ext cx="147113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9792" y="4450172"/>
            <a:ext cx="4073195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Progress Updates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9792" y="4744398"/>
            <a:ext cx="4064000" cy="2022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Repeated reports are common due to uncertainty about status.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285" y="5498353"/>
            <a:ext cx="5342045" cy="643620"/>
          </a:xfrm>
          <a:custGeom>
            <a:avLst/>
            <a:gdLst/>
            <a:ahLst/>
            <a:cxnLst/>
            <a:rect l="l" t="t" r="r" b="b"/>
            <a:pathLst>
              <a:path w="5342045" h="643620">
                <a:moveTo>
                  <a:pt x="36778" y="0"/>
                </a:moveTo>
                <a:lnTo>
                  <a:pt x="5268486" y="0"/>
                </a:lnTo>
                <a:cubicBezTo>
                  <a:pt x="5309084" y="0"/>
                  <a:pt x="5342045" y="32961"/>
                  <a:pt x="5342045" y="73559"/>
                </a:cubicBezTo>
                <a:lnTo>
                  <a:pt x="5342045" y="570061"/>
                </a:lnTo>
                <a:cubicBezTo>
                  <a:pt x="5342045" y="610686"/>
                  <a:pt x="5309112" y="643620"/>
                  <a:pt x="5268486" y="643620"/>
                </a:cubicBezTo>
                <a:lnTo>
                  <a:pt x="36778" y="643620"/>
                </a:lnTo>
                <a:cubicBezTo>
                  <a:pt x="16466" y="643620"/>
                  <a:pt x="0" y="627154"/>
                  <a:pt x="0" y="60684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533285" y="5498353"/>
            <a:ext cx="36778" cy="643620"/>
          </a:xfrm>
          <a:custGeom>
            <a:avLst/>
            <a:gdLst/>
            <a:ahLst/>
            <a:cxnLst/>
            <a:rect l="l" t="t" r="r" b="b"/>
            <a:pathLst>
              <a:path w="36778" h="643620">
                <a:moveTo>
                  <a:pt x="36778" y="0"/>
                </a:moveTo>
                <a:lnTo>
                  <a:pt x="36778" y="0"/>
                </a:lnTo>
                <a:lnTo>
                  <a:pt x="36778" y="643620"/>
                </a:lnTo>
                <a:lnTo>
                  <a:pt x="36778" y="643620"/>
                </a:lnTo>
                <a:cubicBezTo>
                  <a:pt x="16466" y="643620"/>
                  <a:pt x="0" y="627154"/>
                  <a:pt x="0" y="606842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5" name="Shape 23"/>
          <p:cNvSpPr/>
          <p:nvPr/>
        </p:nvSpPr>
        <p:spPr>
          <a:xfrm>
            <a:off x="625231" y="5608688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147113" y="0"/>
                </a:moveTo>
                <a:lnTo>
                  <a:pt x="147113" y="0"/>
                </a:lnTo>
                <a:cubicBezTo>
                  <a:pt x="228307" y="0"/>
                  <a:pt x="294226" y="65919"/>
                  <a:pt x="294226" y="147113"/>
                </a:cubicBezTo>
                <a:lnTo>
                  <a:pt x="294226" y="147113"/>
                </a:lnTo>
                <a:cubicBezTo>
                  <a:pt x="294226" y="228307"/>
                  <a:pt x="228307" y="294226"/>
                  <a:pt x="147113" y="294226"/>
                </a:cubicBezTo>
                <a:lnTo>
                  <a:pt x="147113" y="294226"/>
                </a:lnTo>
                <a:cubicBezTo>
                  <a:pt x="65919" y="294226"/>
                  <a:pt x="0" y="228307"/>
                  <a:pt x="0" y="147113"/>
                </a:cubicBezTo>
                <a:lnTo>
                  <a:pt x="0" y="147113"/>
                </a:lnTo>
                <a:cubicBezTo>
                  <a:pt x="0" y="65919"/>
                  <a:pt x="65919" y="0"/>
                  <a:pt x="14711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6" name="Text 24"/>
          <p:cNvSpPr/>
          <p:nvPr/>
        </p:nvSpPr>
        <p:spPr>
          <a:xfrm>
            <a:off x="732980" y="5620066"/>
            <a:ext cx="156308" cy="220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9792" y="5571910"/>
            <a:ext cx="4054805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Forms Prone to Loss/Damage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9792" y="5866136"/>
            <a:ext cx="4045611" cy="2022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Paper forms are vulnerable to loss, damage, or disorganization.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0515" y="1287240"/>
            <a:ext cx="5654661" cy="3916887"/>
          </a:xfrm>
          <a:custGeom>
            <a:avLst/>
            <a:gdLst/>
            <a:ahLst/>
            <a:cxnLst/>
            <a:rect l="l" t="t" r="r" b="b"/>
            <a:pathLst>
              <a:path w="5654661" h="3916887">
                <a:moveTo>
                  <a:pt x="110339" y="0"/>
                </a:moveTo>
                <a:lnTo>
                  <a:pt x="5544322" y="0"/>
                </a:lnTo>
                <a:cubicBezTo>
                  <a:pt x="5605260" y="0"/>
                  <a:pt x="5654661" y="49400"/>
                  <a:pt x="5654661" y="110339"/>
                </a:cubicBezTo>
                <a:lnTo>
                  <a:pt x="5654661" y="3806548"/>
                </a:lnTo>
                <a:cubicBezTo>
                  <a:pt x="5654661" y="3867487"/>
                  <a:pt x="5605260" y="3916887"/>
                  <a:pt x="5544322" y="3916887"/>
                </a:cubicBezTo>
                <a:lnTo>
                  <a:pt x="110339" y="3916887"/>
                </a:lnTo>
                <a:cubicBezTo>
                  <a:pt x="49400" y="3916887"/>
                  <a:pt x="0" y="3867487"/>
                  <a:pt x="0" y="3806548"/>
                </a:cubicBezTo>
                <a:lnTo>
                  <a:pt x="0" y="110339"/>
                </a:lnTo>
                <a:cubicBezTo>
                  <a:pt x="0" y="49400"/>
                  <a:pt x="49400" y="0"/>
                  <a:pt x="110339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37919" dist="919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17628" y="1434353"/>
            <a:ext cx="441339" cy="441339"/>
          </a:xfrm>
          <a:custGeom>
            <a:avLst/>
            <a:gdLst/>
            <a:ahLst/>
            <a:cxnLst/>
            <a:rect l="l" t="t" r="r" b="b"/>
            <a:pathLst>
              <a:path w="441339" h="441339">
                <a:moveTo>
                  <a:pt x="220670" y="0"/>
                </a:moveTo>
                <a:lnTo>
                  <a:pt x="220670" y="0"/>
                </a:lnTo>
                <a:cubicBezTo>
                  <a:pt x="342461" y="0"/>
                  <a:pt x="441339" y="98879"/>
                  <a:pt x="441339" y="220670"/>
                </a:cubicBezTo>
                <a:lnTo>
                  <a:pt x="441339" y="220670"/>
                </a:lnTo>
                <a:cubicBezTo>
                  <a:pt x="441339" y="342461"/>
                  <a:pt x="342461" y="441339"/>
                  <a:pt x="220670" y="441339"/>
                </a:cubicBezTo>
                <a:lnTo>
                  <a:pt x="220670" y="441339"/>
                </a:lnTo>
                <a:cubicBezTo>
                  <a:pt x="98879" y="441339"/>
                  <a:pt x="0" y="342461"/>
                  <a:pt x="0" y="220670"/>
                </a:cubicBezTo>
                <a:lnTo>
                  <a:pt x="0" y="220670"/>
                </a:lnTo>
                <a:cubicBezTo>
                  <a:pt x="0" y="98879"/>
                  <a:pt x="98879" y="0"/>
                  <a:pt x="22067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1" name="Shape 29"/>
          <p:cNvSpPr/>
          <p:nvPr/>
        </p:nvSpPr>
        <p:spPr>
          <a:xfrm>
            <a:off x="6446352" y="1556092"/>
            <a:ext cx="183891" cy="183891"/>
          </a:xfrm>
          <a:custGeom>
            <a:avLst/>
            <a:gdLst/>
            <a:ahLst/>
            <a:cxnLst/>
            <a:rect l="l" t="t" r="r" b="b"/>
            <a:pathLst>
              <a:path w="183891" h="183891">
                <a:moveTo>
                  <a:pt x="160905" y="91946"/>
                </a:moveTo>
                <a:cubicBezTo>
                  <a:pt x="160905" y="53886"/>
                  <a:pt x="130005" y="22986"/>
                  <a:pt x="91946" y="22986"/>
                </a:cubicBezTo>
                <a:cubicBezTo>
                  <a:pt x="53886" y="22986"/>
                  <a:pt x="22986" y="53886"/>
                  <a:pt x="22986" y="91946"/>
                </a:cubicBezTo>
                <a:cubicBezTo>
                  <a:pt x="22986" y="130005"/>
                  <a:pt x="53886" y="160905"/>
                  <a:pt x="91946" y="160905"/>
                </a:cubicBezTo>
                <a:cubicBezTo>
                  <a:pt x="130005" y="160905"/>
                  <a:pt x="160905" y="130005"/>
                  <a:pt x="160905" y="91946"/>
                </a:cubicBezTo>
                <a:close/>
                <a:moveTo>
                  <a:pt x="0" y="91946"/>
                </a:moveTo>
                <a:cubicBezTo>
                  <a:pt x="0" y="41199"/>
                  <a:pt x="41199" y="0"/>
                  <a:pt x="91946" y="0"/>
                </a:cubicBezTo>
                <a:cubicBezTo>
                  <a:pt x="142692" y="0"/>
                  <a:pt x="183891" y="41199"/>
                  <a:pt x="183891" y="91946"/>
                </a:cubicBezTo>
                <a:cubicBezTo>
                  <a:pt x="183891" y="142692"/>
                  <a:pt x="142692" y="183891"/>
                  <a:pt x="91946" y="183891"/>
                </a:cubicBezTo>
                <a:cubicBezTo>
                  <a:pt x="41199" y="183891"/>
                  <a:pt x="0" y="142692"/>
                  <a:pt x="0" y="91946"/>
                </a:cubicBezTo>
                <a:close/>
                <a:moveTo>
                  <a:pt x="91946" y="120679"/>
                </a:moveTo>
                <a:cubicBezTo>
                  <a:pt x="107804" y="120679"/>
                  <a:pt x="120679" y="107804"/>
                  <a:pt x="120679" y="91946"/>
                </a:cubicBezTo>
                <a:cubicBezTo>
                  <a:pt x="120679" y="76088"/>
                  <a:pt x="107804" y="63213"/>
                  <a:pt x="91946" y="63213"/>
                </a:cubicBezTo>
                <a:cubicBezTo>
                  <a:pt x="76088" y="63213"/>
                  <a:pt x="63213" y="76088"/>
                  <a:pt x="63213" y="91946"/>
                </a:cubicBezTo>
                <a:cubicBezTo>
                  <a:pt x="63213" y="107804"/>
                  <a:pt x="76088" y="120679"/>
                  <a:pt x="91946" y="120679"/>
                </a:cubicBezTo>
                <a:close/>
                <a:moveTo>
                  <a:pt x="91946" y="40226"/>
                </a:moveTo>
                <a:cubicBezTo>
                  <a:pt x="120490" y="40226"/>
                  <a:pt x="143665" y="63401"/>
                  <a:pt x="143665" y="91946"/>
                </a:cubicBezTo>
                <a:cubicBezTo>
                  <a:pt x="143665" y="120490"/>
                  <a:pt x="120490" y="143665"/>
                  <a:pt x="91946" y="143665"/>
                </a:cubicBezTo>
                <a:cubicBezTo>
                  <a:pt x="63401" y="143665"/>
                  <a:pt x="40226" y="120490"/>
                  <a:pt x="40226" y="91946"/>
                </a:cubicBezTo>
                <a:cubicBezTo>
                  <a:pt x="40226" y="63401"/>
                  <a:pt x="63401" y="40226"/>
                  <a:pt x="91946" y="40226"/>
                </a:cubicBezTo>
                <a:close/>
                <a:moveTo>
                  <a:pt x="80452" y="91946"/>
                </a:moveTo>
                <a:cubicBezTo>
                  <a:pt x="80452" y="85602"/>
                  <a:pt x="85602" y="80452"/>
                  <a:pt x="91946" y="80452"/>
                </a:cubicBezTo>
                <a:cubicBezTo>
                  <a:pt x="98289" y="80452"/>
                  <a:pt x="103439" y="85602"/>
                  <a:pt x="103439" y="91946"/>
                </a:cubicBezTo>
                <a:cubicBezTo>
                  <a:pt x="103439" y="98289"/>
                  <a:pt x="98289" y="103439"/>
                  <a:pt x="91946" y="103439"/>
                </a:cubicBezTo>
                <a:cubicBezTo>
                  <a:pt x="85602" y="103439"/>
                  <a:pt x="80452" y="98289"/>
                  <a:pt x="80452" y="91946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32" name="Text 30"/>
          <p:cNvSpPr/>
          <p:nvPr/>
        </p:nvSpPr>
        <p:spPr>
          <a:xfrm>
            <a:off x="6869302" y="1507910"/>
            <a:ext cx="1140127" cy="2942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17628" y="1986027"/>
            <a:ext cx="5433991" cy="4781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Develop the </a:t>
            </a:r>
            <a:r>
              <a:rPr lang="en-US" sz="116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Building Maintenance Management System (BMMS)</a:t>
            </a:r>
            <a:r>
              <a:rPr lang="en-US" sz="116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via design thinking to achieve: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20692" y="2583675"/>
            <a:ext cx="5357370" cy="760084"/>
          </a:xfrm>
          <a:custGeom>
            <a:avLst/>
            <a:gdLst/>
            <a:ahLst/>
            <a:cxnLst/>
            <a:rect l="l" t="t" r="r" b="b"/>
            <a:pathLst>
              <a:path w="5357370" h="760084">
                <a:moveTo>
                  <a:pt x="73553" y="0"/>
                </a:moveTo>
                <a:lnTo>
                  <a:pt x="5283816" y="0"/>
                </a:lnTo>
                <a:cubicBezTo>
                  <a:pt x="5324439" y="0"/>
                  <a:pt x="5357370" y="32931"/>
                  <a:pt x="5357370" y="73553"/>
                </a:cubicBezTo>
                <a:lnTo>
                  <a:pt x="5357370" y="686531"/>
                </a:lnTo>
                <a:cubicBezTo>
                  <a:pt x="5357370" y="727153"/>
                  <a:pt x="5324439" y="760084"/>
                  <a:pt x="5283816" y="760084"/>
                </a:cubicBezTo>
                <a:lnTo>
                  <a:pt x="73553" y="760084"/>
                </a:lnTo>
                <a:cubicBezTo>
                  <a:pt x="32931" y="760084"/>
                  <a:pt x="0" y="727154"/>
                  <a:pt x="0" y="686531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C87D55">
                <a:alpha val="5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97314" y="2660296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6" name="Shape 34"/>
          <p:cNvSpPr/>
          <p:nvPr/>
        </p:nvSpPr>
        <p:spPr>
          <a:xfrm>
            <a:off x="6511097" y="2761436"/>
            <a:ext cx="144814" cy="165502"/>
          </a:xfrm>
          <a:custGeom>
            <a:avLst/>
            <a:gdLst/>
            <a:ahLst/>
            <a:cxnLst/>
            <a:rect l="l" t="t" r="r" b="b"/>
            <a:pathLst>
              <a:path w="144814" h="165502">
                <a:moveTo>
                  <a:pt x="140548" y="22660"/>
                </a:moveTo>
                <a:cubicBezTo>
                  <a:pt x="145170" y="26021"/>
                  <a:pt x="146204" y="32486"/>
                  <a:pt x="142843" y="37109"/>
                </a:cubicBezTo>
                <a:lnTo>
                  <a:pt x="60092" y="150892"/>
                </a:lnTo>
                <a:cubicBezTo>
                  <a:pt x="58314" y="153348"/>
                  <a:pt x="55566" y="154867"/>
                  <a:pt x="52528" y="155126"/>
                </a:cubicBezTo>
                <a:cubicBezTo>
                  <a:pt x="49489" y="155385"/>
                  <a:pt x="46548" y="154253"/>
                  <a:pt x="44414" y="152120"/>
                </a:cubicBezTo>
                <a:lnTo>
                  <a:pt x="3039" y="110744"/>
                </a:lnTo>
                <a:cubicBezTo>
                  <a:pt x="-1002" y="106704"/>
                  <a:pt x="-1002" y="100142"/>
                  <a:pt x="3039" y="96101"/>
                </a:cubicBezTo>
                <a:cubicBezTo>
                  <a:pt x="7079" y="92061"/>
                  <a:pt x="13641" y="92061"/>
                  <a:pt x="17682" y="96101"/>
                </a:cubicBezTo>
                <a:lnTo>
                  <a:pt x="50491" y="128911"/>
                </a:lnTo>
                <a:lnTo>
                  <a:pt x="126131" y="24922"/>
                </a:lnTo>
                <a:cubicBezTo>
                  <a:pt x="129493" y="20300"/>
                  <a:pt x="135958" y="19265"/>
                  <a:pt x="140580" y="22627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37" name="Text 35"/>
          <p:cNvSpPr/>
          <p:nvPr/>
        </p:nvSpPr>
        <p:spPr>
          <a:xfrm>
            <a:off x="6875432" y="2715463"/>
            <a:ext cx="1379186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Digitize Reporting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75432" y="3064857"/>
            <a:ext cx="4799566" cy="2022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Transform the reporting process for improved efficiency and accessibility.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20692" y="3435705"/>
            <a:ext cx="5357370" cy="760084"/>
          </a:xfrm>
          <a:custGeom>
            <a:avLst/>
            <a:gdLst/>
            <a:ahLst/>
            <a:cxnLst/>
            <a:rect l="l" t="t" r="r" b="b"/>
            <a:pathLst>
              <a:path w="5357370" h="760084">
                <a:moveTo>
                  <a:pt x="73553" y="0"/>
                </a:moveTo>
                <a:lnTo>
                  <a:pt x="5283816" y="0"/>
                </a:lnTo>
                <a:cubicBezTo>
                  <a:pt x="5324439" y="0"/>
                  <a:pt x="5357370" y="32931"/>
                  <a:pt x="5357370" y="73553"/>
                </a:cubicBezTo>
                <a:lnTo>
                  <a:pt x="5357370" y="686531"/>
                </a:lnTo>
                <a:cubicBezTo>
                  <a:pt x="5357370" y="727153"/>
                  <a:pt x="5324439" y="760084"/>
                  <a:pt x="5283816" y="760084"/>
                </a:cubicBezTo>
                <a:lnTo>
                  <a:pt x="73553" y="760084"/>
                </a:lnTo>
                <a:cubicBezTo>
                  <a:pt x="32931" y="760084"/>
                  <a:pt x="0" y="727154"/>
                  <a:pt x="0" y="686531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C87D55">
                <a:alpha val="5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97314" y="3512326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1" name="Shape 39"/>
          <p:cNvSpPr/>
          <p:nvPr/>
        </p:nvSpPr>
        <p:spPr>
          <a:xfrm>
            <a:off x="6511097" y="3613466"/>
            <a:ext cx="144814" cy="165502"/>
          </a:xfrm>
          <a:custGeom>
            <a:avLst/>
            <a:gdLst/>
            <a:ahLst/>
            <a:cxnLst/>
            <a:rect l="l" t="t" r="r" b="b"/>
            <a:pathLst>
              <a:path w="144814" h="165502">
                <a:moveTo>
                  <a:pt x="140548" y="22660"/>
                </a:moveTo>
                <a:cubicBezTo>
                  <a:pt x="145170" y="26021"/>
                  <a:pt x="146204" y="32486"/>
                  <a:pt x="142843" y="37109"/>
                </a:cubicBezTo>
                <a:lnTo>
                  <a:pt x="60092" y="150892"/>
                </a:lnTo>
                <a:cubicBezTo>
                  <a:pt x="58314" y="153348"/>
                  <a:pt x="55566" y="154867"/>
                  <a:pt x="52528" y="155126"/>
                </a:cubicBezTo>
                <a:cubicBezTo>
                  <a:pt x="49489" y="155385"/>
                  <a:pt x="46548" y="154253"/>
                  <a:pt x="44414" y="152120"/>
                </a:cubicBezTo>
                <a:lnTo>
                  <a:pt x="3039" y="110744"/>
                </a:lnTo>
                <a:cubicBezTo>
                  <a:pt x="-1002" y="106704"/>
                  <a:pt x="-1002" y="100142"/>
                  <a:pt x="3039" y="96101"/>
                </a:cubicBezTo>
                <a:cubicBezTo>
                  <a:pt x="7079" y="92061"/>
                  <a:pt x="13641" y="92061"/>
                  <a:pt x="17682" y="96101"/>
                </a:cubicBezTo>
                <a:lnTo>
                  <a:pt x="50491" y="128911"/>
                </a:lnTo>
                <a:lnTo>
                  <a:pt x="126131" y="24922"/>
                </a:lnTo>
                <a:cubicBezTo>
                  <a:pt x="129493" y="20300"/>
                  <a:pt x="135958" y="19265"/>
                  <a:pt x="140580" y="22627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42" name="Text 40"/>
          <p:cNvSpPr/>
          <p:nvPr/>
        </p:nvSpPr>
        <p:spPr>
          <a:xfrm>
            <a:off x="6875432" y="3567493"/>
            <a:ext cx="1746968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Enhance Transparency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75432" y="3916887"/>
            <a:ext cx="4799566" cy="2022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Provide real-time progress tracking to eliminate information gaps.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20692" y="4287735"/>
            <a:ext cx="5357370" cy="760084"/>
          </a:xfrm>
          <a:custGeom>
            <a:avLst/>
            <a:gdLst/>
            <a:ahLst/>
            <a:cxnLst/>
            <a:rect l="l" t="t" r="r" b="b"/>
            <a:pathLst>
              <a:path w="5357370" h="760084">
                <a:moveTo>
                  <a:pt x="73553" y="0"/>
                </a:moveTo>
                <a:lnTo>
                  <a:pt x="5283816" y="0"/>
                </a:lnTo>
                <a:cubicBezTo>
                  <a:pt x="5324439" y="0"/>
                  <a:pt x="5357370" y="32931"/>
                  <a:pt x="5357370" y="73553"/>
                </a:cubicBezTo>
                <a:lnTo>
                  <a:pt x="5357370" y="686531"/>
                </a:lnTo>
                <a:cubicBezTo>
                  <a:pt x="5357370" y="727153"/>
                  <a:pt x="5324439" y="760084"/>
                  <a:pt x="5283816" y="760084"/>
                </a:cubicBezTo>
                <a:lnTo>
                  <a:pt x="73553" y="760084"/>
                </a:lnTo>
                <a:cubicBezTo>
                  <a:pt x="32931" y="760084"/>
                  <a:pt x="0" y="727154"/>
                  <a:pt x="0" y="686531"/>
                </a:cubicBezTo>
                <a:lnTo>
                  <a:pt x="0" y="73553"/>
                </a:lnTo>
                <a:cubicBezTo>
                  <a:pt x="0" y="32958"/>
                  <a:pt x="32958" y="0"/>
                  <a:pt x="7355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C87D55">
                <a:alpha val="5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97314" y="4364357"/>
            <a:ext cx="367783" cy="367783"/>
          </a:xfrm>
          <a:custGeom>
            <a:avLst/>
            <a:gdLst/>
            <a:ahLst/>
            <a:cxnLst/>
            <a:rect l="l" t="t" r="r" b="b"/>
            <a:pathLst>
              <a:path w="367783" h="367783">
                <a:moveTo>
                  <a:pt x="183891" y="0"/>
                </a:moveTo>
                <a:lnTo>
                  <a:pt x="183891" y="0"/>
                </a:lnTo>
                <a:cubicBezTo>
                  <a:pt x="285384" y="0"/>
                  <a:pt x="367783" y="82399"/>
                  <a:pt x="367783" y="183891"/>
                </a:cubicBezTo>
                <a:lnTo>
                  <a:pt x="367783" y="183891"/>
                </a:lnTo>
                <a:cubicBezTo>
                  <a:pt x="367783" y="285384"/>
                  <a:pt x="285384" y="367783"/>
                  <a:pt x="183891" y="367783"/>
                </a:cubicBezTo>
                <a:lnTo>
                  <a:pt x="183891" y="367783"/>
                </a:lnTo>
                <a:cubicBezTo>
                  <a:pt x="82399" y="367783"/>
                  <a:pt x="0" y="285384"/>
                  <a:pt x="0" y="183891"/>
                </a:cubicBezTo>
                <a:lnTo>
                  <a:pt x="0" y="183891"/>
                </a:lnTo>
                <a:cubicBezTo>
                  <a:pt x="0" y="82399"/>
                  <a:pt x="82399" y="0"/>
                  <a:pt x="183891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6" name="Shape 44"/>
          <p:cNvSpPr/>
          <p:nvPr/>
        </p:nvSpPr>
        <p:spPr>
          <a:xfrm>
            <a:off x="6511097" y="4465497"/>
            <a:ext cx="144814" cy="165502"/>
          </a:xfrm>
          <a:custGeom>
            <a:avLst/>
            <a:gdLst/>
            <a:ahLst/>
            <a:cxnLst/>
            <a:rect l="l" t="t" r="r" b="b"/>
            <a:pathLst>
              <a:path w="144814" h="165502">
                <a:moveTo>
                  <a:pt x="140548" y="22660"/>
                </a:moveTo>
                <a:cubicBezTo>
                  <a:pt x="145170" y="26021"/>
                  <a:pt x="146204" y="32486"/>
                  <a:pt x="142843" y="37109"/>
                </a:cubicBezTo>
                <a:lnTo>
                  <a:pt x="60092" y="150892"/>
                </a:lnTo>
                <a:cubicBezTo>
                  <a:pt x="58314" y="153348"/>
                  <a:pt x="55566" y="154867"/>
                  <a:pt x="52528" y="155126"/>
                </a:cubicBezTo>
                <a:cubicBezTo>
                  <a:pt x="49489" y="155385"/>
                  <a:pt x="46548" y="154253"/>
                  <a:pt x="44414" y="152120"/>
                </a:cubicBezTo>
                <a:lnTo>
                  <a:pt x="3039" y="110744"/>
                </a:lnTo>
                <a:cubicBezTo>
                  <a:pt x="-1002" y="106704"/>
                  <a:pt x="-1002" y="100142"/>
                  <a:pt x="3039" y="96101"/>
                </a:cubicBezTo>
                <a:cubicBezTo>
                  <a:pt x="7079" y="92061"/>
                  <a:pt x="13641" y="92061"/>
                  <a:pt x="17682" y="96101"/>
                </a:cubicBezTo>
                <a:lnTo>
                  <a:pt x="50491" y="128911"/>
                </a:lnTo>
                <a:lnTo>
                  <a:pt x="126131" y="24922"/>
                </a:lnTo>
                <a:cubicBezTo>
                  <a:pt x="129493" y="20300"/>
                  <a:pt x="135958" y="19265"/>
                  <a:pt x="140580" y="22627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47" name="Text 45"/>
          <p:cNvSpPr/>
          <p:nvPr/>
        </p:nvSpPr>
        <p:spPr>
          <a:xfrm>
            <a:off x="6875432" y="4419524"/>
            <a:ext cx="1324018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Standardize Data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75432" y="4768918"/>
            <a:ext cx="4799566" cy="2022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6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Implement robust data management to reduce losses and enable analysis.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70515" y="5369629"/>
            <a:ext cx="5654661" cy="1121738"/>
          </a:xfrm>
          <a:custGeom>
            <a:avLst/>
            <a:gdLst/>
            <a:ahLst/>
            <a:cxnLst/>
            <a:rect l="l" t="t" r="r" b="b"/>
            <a:pathLst>
              <a:path w="5654661" h="1121738">
                <a:moveTo>
                  <a:pt x="36778" y="0"/>
                </a:moveTo>
                <a:lnTo>
                  <a:pt x="5617882" y="0"/>
                </a:lnTo>
                <a:cubicBezTo>
                  <a:pt x="5638194" y="0"/>
                  <a:pt x="5654661" y="16466"/>
                  <a:pt x="5654661" y="36778"/>
                </a:cubicBezTo>
                <a:lnTo>
                  <a:pt x="5654661" y="1048185"/>
                </a:lnTo>
                <a:cubicBezTo>
                  <a:pt x="5654661" y="1088807"/>
                  <a:pt x="5621730" y="1121738"/>
                  <a:pt x="5581108" y="1121738"/>
                </a:cubicBezTo>
                <a:lnTo>
                  <a:pt x="73552" y="1121738"/>
                </a:lnTo>
                <a:cubicBezTo>
                  <a:pt x="32931" y="1121738"/>
                  <a:pt x="0" y="1088807"/>
                  <a:pt x="0" y="1048185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6170515" y="5369629"/>
            <a:ext cx="5654661" cy="36778"/>
          </a:xfrm>
          <a:custGeom>
            <a:avLst/>
            <a:gdLst/>
            <a:ahLst/>
            <a:cxnLst/>
            <a:rect l="l" t="t" r="r" b="b"/>
            <a:pathLst>
              <a:path w="5654661" h="36778">
                <a:moveTo>
                  <a:pt x="36778" y="0"/>
                </a:moveTo>
                <a:lnTo>
                  <a:pt x="5617882" y="0"/>
                </a:lnTo>
                <a:cubicBezTo>
                  <a:pt x="5638194" y="0"/>
                  <a:pt x="5654661" y="16466"/>
                  <a:pt x="5654661" y="36778"/>
                </a:cubicBezTo>
                <a:lnTo>
                  <a:pt x="5654661" y="36778"/>
                </a:lnTo>
                <a:lnTo>
                  <a:pt x="0" y="36778"/>
                </a:ln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1" name="Shape 49"/>
          <p:cNvSpPr/>
          <p:nvPr/>
        </p:nvSpPr>
        <p:spPr>
          <a:xfrm>
            <a:off x="6340614" y="5581104"/>
            <a:ext cx="165502" cy="165502"/>
          </a:xfrm>
          <a:custGeom>
            <a:avLst/>
            <a:gdLst/>
            <a:ahLst/>
            <a:cxnLst/>
            <a:rect l="l" t="t" r="r" b="b"/>
            <a:pathLst>
              <a:path w="165502" h="165502">
                <a:moveTo>
                  <a:pt x="82751" y="0"/>
                </a:moveTo>
                <a:cubicBezTo>
                  <a:pt x="87503" y="0"/>
                  <a:pt x="91867" y="2618"/>
                  <a:pt x="94129" y="6788"/>
                </a:cubicBezTo>
                <a:lnTo>
                  <a:pt x="163951" y="136087"/>
                </a:lnTo>
                <a:cubicBezTo>
                  <a:pt x="166116" y="140095"/>
                  <a:pt x="166019" y="144944"/>
                  <a:pt x="163692" y="148855"/>
                </a:cubicBezTo>
                <a:cubicBezTo>
                  <a:pt x="161365" y="152766"/>
                  <a:pt x="157130" y="155158"/>
                  <a:pt x="152572" y="155158"/>
                </a:cubicBezTo>
                <a:lnTo>
                  <a:pt x="12930" y="155158"/>
                </a:lnTo>
                <a:cubicBezTo>
                  <a:pt x="8372" y="155158"/>
                  <a:pt x="4170" y="152766"/>
                  <a:pt x="1810" y="148855"/>
                </a:cubicBezTo>
                <a:cubicBezTo>
                  <a:pt x="-550" y="144944"/>
                  <a:pt x="-614" y="140095"/>
                  <a:pt x="1552" y="136087"/>
                </a:cubicBezTo>
                <a:lnTo>
                  <a:pt x="71373" y="6788"/>
                </a:lnTo>
                <a:cubicBezTo>
                  <a:pt x="73636" y="2618"/>
                  <a:pt x="77999" y="0"/>
                  <a:pt x="82751" y="0"/>
                </a:cubicBezTo>
                <a:close/>
                <a:moveTo>
                  <a:pt x="82751" y="54305"/>
                </a:moveTo>
                <a:cubicBezTo>
                  <a:pt x="78452" y="54305"/>
                  <a:pt x="74993" y="57764"/>
                  <a:pt x="74993" y="62063"/>
                </a:cubicBezTo>
                <a:lnTo>
                  <a:pt x="74993" y="98267"/>
                </a:lnTo>
                <a:cubicBezTo>
                  <a:pt x="74993" y="102566"/>
                  <a:pt x="78452" y="106025"/>
                  <a:pt x="82751" y="106025"/>
                </a:cubicBezTo>
                <a:cubicBezTo>
                  <a:pt x="87050" y="106025"/>
                  <a:pt x="90509" y="102566"/>
                  <a:pt x="90509" y="98267"/>
                </a:cubicBezTo>
                <a:lnTo>
                  <a:pt x="90509" y="62063"/>
                </a:lnTo>
                <a:cubicBezTo>
                  <a:pt x="90509" y="57764"/>
                  <a:pt x="87050" y="54305"/>
                  <a:pt x="82751" y="54305"/>
                </a:cubicBezTo>
                <a:close/>
                <a:moveTo>
                  <a:pt x="91382" y="124127"/>
                </a:moveTo>
                <a:cubicBezTo>
                  <a:pt x="91578" y="120923"/>
                  <a:pt x="89981" y="117875"/>
                  <a:pt x="87234" y="116214"/>
                </a:cubicBezTo>
                <a:cubicBezTo>
                  <a:pt x="84488" y="114553"/>
                  <a:pt x="81047" y="114553"/>
                  <a:pt x="78300" y="116214"/>
                </a:cubicBezTo>
                <a:cubicBezTo>
                  <a:pt x="75554" y="117875"/>
                  <a:pt x="73956" y="120923"/>
                  <a:pt x="74153" y="124127"/>
                </a:cubicBezTo>
                <a:cubicBezTo>
                  <a:pt x="73956" y="127330"/>
                  <a:pt x="75554" y="130378"/>
                  <a:pt x="78300" y="132039"/>
                </a:cubicBezTo>
                <a:cubicBezTo>
                  <a:pt x="81047" y="133701"/>
                  <a:pt x="84488" y="133701"/>
                  <a:pt x="87234" y="132039"/>
                </a:cubicBezTo>
                <a:cubicBezTo>
                  <a:pt x="89981" y="130378"/>
                  <a:pt x="91578" y="127330"/>
                  <a:pt x="91382" y="1241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2" name="Text 50"/>
          <p:cNvSpPr/>
          <p:nvPr/>
        </p:nvSpPr>
        <p:spPr>
          <a:xfrm>
            <a:off x="6529103" y="5535131"/>
            <a:ext cx="5231710" cy="257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Challenge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17628" y="5866136"/>
            <a:ext cx="5433991" cy="4781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UTM's hostel maintenance system serves over </a:t>
            </a:r>
            <a:r>
              <a:rPr lang="en-US" sz="1160" b="1" dirty="0">
                <a:solidFill>
                  <a:srgbClr val="F8F8F7"/>
                </a:solidFill>
                <a:highlight>
                  <a:srgbClr val="C87D55">
                    <a:alpha val="100000"/>
                  </a:srgbClr>
                </a:highlight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12,000 students </a:t>
            </a:r>
            <a:r>
              <a:rPr lang="en-US" sz="116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across multiple residential colleges, making efficiency crucial.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71525" cy="266700"/>
          </a:xfrm>
          <a:custGeom>
            <a:avLst/>
            <a:gdLst/>
            <a:ahLst/>
            <a:cxnLst/>
            <a:rect l="l" t="t" r="r" b="b"/>
            <a:pathLst>
              <a:path w="771525" h="266700">
                <a:moveTo>
                  <a:pt x="133350" y="0"/>
                </a:moveTo>
                <a:lnTo>
                  <a:pt x="638175" y="0"/>
                </a:lnTo>
                <a:cubicBezTo>
                  <a:pt x="711773" y="0"/>
                  <a:pt x="771525" y="59752"/>
                  <a:pt x="771525" y="133350"/>
                </a:cubicBezTo>
                <a:lnTo>
                  <a:pt x="771525" y="133350"/>
                </a:lnTo>
                <a:cubicBezTo>
                  <a:pt x="771525" y="206948"/>
                  <a:pt x="711773" y="266700"/>
                  <a:pt x="6381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38200" cy="2667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8214" y="400050"/>
            <a:ext cx="1657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Thinking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Empathy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33500"/>
            <a:ext cx="6800850" cy="1866900"/>
          </a:xfrm>
          <a:custGeom>
            <a:avLst/>
            <a:gdLst/>
            <a:ahLst/>
            <a:cxnLst/>
            <a:rect l="l" t="t" r="r" b="b"/>
            <a:pathLst>
              <a:path w="6800850" h="1866900">
                <a:moveTo>
                  <a:pt x="76207" y="0"/>
                </a:moveTo>
                <a:lnTo>
                  <a:pt x="6724643" y="0"/>
                </a:lnTo>
                <a:cubicBezTo>
                  <a:pt x="6766731" y="0"/>
                  <a:pt x="6800850" y="34119"/>
                  <a:pt x="6800850" y="76207"/>
                </a:cubicBezTo>
                <a:lnTo>
                  <a:pt x="6800850" y="1790693"/>
                </a:lnTo>
                <a:cubicBezTo>
                  <a:pt x="6800850" y="1832781"/>
                  <a:pt x="6766731" y="1866900"/>
                  <a:pt x="6724643" y="1866900"/>
                </a:cubicBezTo>
                <a:lnTo>
                  <a:pt x="76207" y="1866900"/>
                </a:lnTo>
                <a:cubicBezTo>
                  <a:pt x="34119" y="1866900"/>
                  <a:pt x="0" y="1832781"/>
                  <a:pt x="0" y="179069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1975" y="152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0"/>
                </a:moveTo>
                <a:cubicBezTo>
                  <a:pt x="66749" y="0"/>
                  <a:pt x="57150" y="9599"/>
                  <a:pt x="57150" y="21431"/>
                </a:cubicBezTo>
                <a:lnTo>
                  <a:pt x="57150" y="114300"/>
                </a:lnTo>
                <a:cubicBezTo>
                  <a:pt x="57150" y="126132"/>
                  <a:pt x="66749" y="135731"/>
                  <a:pt x="78581" y="135731"/>
                </a:cubicBezTo>
                <a:lnTo>
                  <a:pt x="107156" y="135731"/>
                </a:lnTo>
                <a:cubicBezTo>
                  <a:pt x="118988" y="135731"/>
                  <a:pt x="128588" y="126132"/>
                  <a:pt x="128588" y="114300"/>
                </a:cubicBezTo>
                <a:lnTo>
                  <a:pt x="128588" y="85725"/>
                </a:lnTo>
                <a:lnTo>
                  <a:pt x="142875" y="85725"/>
                </a:lnTo>
                <a:cubicBezTo>
                  <a:pt x="174441" y="85725"/>
                  <a:pt x="200025" y="111309"/>
                  <a:pt x="200025" y="142875"/>
                </a:cubicBezTo>
                <a:cubicBezTo>
                  <a:pt x="200025" y="174441"/>
                  <a:pt x="174441" y="200025"/>
                  <a:pt x="142875" y="20002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6410"/>
                  <a:pt x="222215" y="200025"/>
                  <a:pt x="214313" y="200025"/>
                </a:cubicBezTo>
                <a:lnTo>
                  <a:pt x="206767" y="200025"/>
                </a:lnTo>
                <a:cubicBezTo>
                  <a:pt x="220340" y="184845"/>
                  <a:pt x="228600" y="164842"/>
                  <a:pt x="228600" y="142875"/>
                </a:cubicBezTo>
                <a:cubicBezTo>
                  <a:pt x="228600" y="95548"/>
                  <a:pt x="190202" y="57150"/>
                  <a:pt x="142875" y="57150"/>
                </a:cubicBezTo>
                <a:lnTo>
                  <a:pt x="128588" y="57150"/>
                </a:lnTo>
                <a:lnTo>
                  <a:pt x="128588" y="21431"/>
                </a:lnTo>
                <a:cubicBezTo>
                  <a:pt x="128588" y="9599"/>
                  <a:pt x="118988" y="0"/>
                  <a:pt x="107156" y="0"/>
                </a:cubicBezTo>
                <a:lnTo>
                  <a:pt x="78581" y="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32159" y="178594"/>
                </a:lnTo>
                <a:cubicBezTo>
                  <a:pt x="138098" y="178594"/>
                  <a:pt x="142875" y="173816"/>
                  <a:pt x="142875" y="167878"/>
                </a:cubicBezTo>
                <a:cubicBezTo>
                  <a:pt x="142875" y="161940"/>
                  <a:pt x="138098" y="157163"/>
                  <a:pt x="132159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8" name="Text 6"/>
          <p:cNvSpPr/>
          <p:nvPr/>
        </p:nvSpPr>
        <p:spPr>
          <a:xfrm>
            <a:off x="933450" y="1485900"/>
            <a:ext cx="14573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2450" y="1905000"/>
            <a:ext cx="3152775" cy="1143000"/>
          </a:xfrm>
          <a:custGeom>
            <a:avLst/>
            <a:gdLst/>
            <a:ahLst/>
            <a:cxnLst/>
            <a:rect l="l" t="t" r="r" b="b"/>
            <a:pathLst>
              <a:path w="3152775" h="1143000">
                <a:moveTo>
                  <a:pt x="38100" y="0"/>
                </a:moveTo>
                <a:lnTo>
                  <a:pt x="3076571" y="0"/>
                </a:lnTo>
                <a:cubicBezTo>
                  <a:pt x="3118657" y="0"/>
                  <a:pt x="3152775" y="34118"/>
                  <a:pt x="3152775" y="76204"/>
                </a:cubicBezTo>
                <a:lnTo>
                  <a:pt x="3152775" y="1066796"/>
                </a:lnTo>
                <a:cubicBezTo>
                  <a:pt x="3152775" y="1108882"/>
                  <a:pt x="3118657" y="1143000"/>
                  <a:pt x="3076571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52450" y="1905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1" name="Text 9"/>
          <p:cNvSpPr/>
          <p:nvPr/>
        </p:nvSpPr>
        <p:spPr>
          <a:xfrm>
            <a:off x="685800" y="2019300"/>
            <a:ext cx="2971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247900"/>
            <a:ext cx="2990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552700"/>
            <a:ext cx="29718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Systematic observation of the current paper-based maintenance reporting process.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74790" y="1905000"/>
            <a:ext cx="3152775" cy="1143000"/>
          </a:xfrm>
          <a:custGeom>
            <a:avLst/>
            <a:gdLst/>
            <a:ahLst/>
            <a:cxnLst/>
            <a:rect l="l" t="t" r="r" b="b"/>
            <a:pathLst>
              <a:path w="3152775" h="1143000">
                <a:moveTo>
                  <a:pt x="38100" y="0"/>
                </a:moveTo>
                <a:lnTo>
                  <a:pt x="3076571" y="0"/>
                </a:lnTo>
                <a:cubicBezTo>
                  <a:pt x="3118657" y="0"/>
                  <a:pt x="3152775" y="34118"/>
                  <a:pt x="3152775" y="76204"/>
                </a:cubicBezTo>
                <a:lnTo>
                  <a:pt x="3152775" y="1066796"/>
                </a:lnTo>
                <a:cubicBezTo>
                  <a:pt x="3152775" y="1108882"/>
                  <a:pt x="3118657" y="1143000"/>
                  <a:pt x="3076571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3874790" y="19050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6" name="Text 14"/>
          <p:cNvSpPr/>
          <p:nvPr/>
        </p:nvSpPr>
        <p:spPr>
          <a:xfrm>
            <a:off x="4008140" y="2019300"/>
            <a:ext cx="2971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Method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08140" y="2247900"/>
            <a:ext cx="2990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Firsthand Experience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08140" y="2552700"/>
            <a:ext cx="29718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All team members are current UTM hostel residents, experiencing the pain points directly.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3352800"/>
            <a:ext cx="6781800" cy="3314700"/>
          </a:xfrm>
          <a:custGeom>
            <a:avLst/>
            <a:gdLst/>
            <a:ahLst/>
            <a:cxnLst/>
            <a:rect l="l" t="t" r="r" b="b"/>
            <a:pathLst>
              <a:path w="6781800" h="3314700">
                <a:moveTo>
                  <a:pt x="38100" y="0"/>
                </a:moveTo>
                <a:lnTo>
                  <a:pt x="6705595" y="0"/>
                </a:lnTo>
                <a:cubicBezTo>
                  <a:pt x="6747682" y="0"/>
                  <a:pt x="6781800" y="34118"/>
                  <a:pt x="6781800" y="76205"/>
                </a:cubicBezTo>
                <a:lnTo>
                  <a:pt x="6781800" y="3238495"/>
                </a:lnTo>
                <a:cubicBezTo>
                  <a:pt x="6781800" y="3280582"/>
                  <a:pt x="6747682" y="3314700"/>
                  <a:pt x="6705595" y="3314700"/>
                </a:cubicBezTo>
                <a:lnTo>
                  <a:pt x="38100" y="3314700"/>
                </a:lnTo>
                <a:cubicBezTo>
                  <a:pt x="17072" y="3314700"/>
                  <a:pt x="0" y="3297628"/>
                  <a:pt x="0" y="3276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0050" y="3352800"/>
            <a:ext cx="38100" cy="3314700"/>
          </a:xfrm>
          <a:custGeom>
            <a:avLst/>
            <a:gdLst/>
            <a:ahLst/>
            <a:cxnLst/>
            <a:rect l="l" t="t" r="r" b="b"/>
            <a:pathLst>
              <a:path w="38100" h="3314700">
                <a:moveTo>
                  <a:pt x="38100" y="0"/>
                </a:moveTo>
                <a:lnTo>
                  <a:pt x="38100" y="0"/>
                </a:lnTo>
                <a:lnTo>
                  <a:pt x="38100" y="3314700"/>
                </a:lnTo>
                <a:lnTo>
                  <a:pt x="38100" y="3314700"/>
                </a:lnTo>
                <a:cubicBezTo>
                  <a:pt x="17072" y="3314700"/>
                  <a:pt x="0" y="3297628"/>
                  <a:pt x="0" y="3276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1" name="Shape 19"/>
          <p:cNvSpPr/>
          <p:nvPr/>
        </p:nvSpPr>
        <p:spPr>
          <a:xfrm>
            <a:off x="628650" y="394454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2" name="Text 20"/>
          <p:cNvSpPr/>
          <p:nvPr/>
        </p:nvSpPr>
        <p:spPr>
          <a:xfrm>
            <a:off x="971550" y="3906441"/>
            <a:ext cx="12287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4325541"/>
            <a:ext cx="6543675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Both user groups—</a:t>
            </a:r>
            <a:r>
              <a:rPr lang="en-US" sz="13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students</a:t>
            </a:r>
            <a:r>
              <a:rPr lang="en-US" sz="13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and </a:t>
            </a:r>
            <a:r>
              <a:rPr lang="en-US" sz="13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maintenance staff</a:t>
            </a:r>
            <a:r>
              <a:rPr lang="en-US" sz="13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—require an efficient, transparent communication and management tool to replace the current fragmented paper-based workflow.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" y="5275659"/>
            <a:ext cx="3171825" cy="838200"/>
          </a:xfrm>
          <a:custGeom>
            <a:avLst/>
            <a:gdLst/>
            <a:ahLst/>
            <a:cxnLst/>
            <a:rect l="l" t="t" r="r" b="b"/>
            <a:pathLst>
              <a:path w="3171825" h="838200">
                <a:moveTo>
                  <a:pt x="76201" y="0"/>
                </a:moveTo>
                <a:lnTo>
                  <a:pt x="3095624" y="0"/>
                </a:lnTo>
                <a:cubicBezTo>
                  <a:pt x="3137709" y="0"/>
                  <a:pt x="3171825" y="34116"/>
                  <a:pt x="3171825" y="76201"/>
                </a:cubicBezTo>
                <a:lnTo>
                  <a:pt x="3171825" y="761999"/>
                </a:lnTo>
                <a:cubicBezTo>
                  <a:pt x="3171825" y="804084"/>
                  <a:pt x="3137709" y="838200"/>
                  <a:pt x="30956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14363" y="5389959"/>
            <a:ext cx="30861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7700" y="5770959"/>
            <a:ext cx="3019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Groups Studied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5641" y="5275659"/>
            <a:ext cx="3171825" cy="838200"/>
          </a:xfrm>
          <a:custGeom>
            <a:avLst/>
            <a:gdLst/>
            <a:ahLst/>
            <a:cxnLst/>
            <a:rect l="l" t="t" r="r" b="b"/>
            <a:pathLst>
              <a:path w="3171825" h="838200">
                <a:moveTo>
                  <a:pt x="76201" y="0"/>
                </a:moveTo>
                <a:lnTo>
                  <a:pt x="3095624" y="0"/>
                </a:lnTo>
                <a:cubicBezTo>
                  <a:pt x="3137709" y="0"/>
                  <a:pt x="3171825" y="34116"/>
                  <a:pt x="3171825" y="76201"/>
                </a:cubicBezTo>
                <a:lnTo>
                  <a:pt x="3171825" y="761999"/>
                </a:lnTo>
                <a:cubicBezTo>
                  <a:pt x="3171825" y="804084"/>
                  <a:pt x="3137709" y="838200"/>
                  <a:pt x="30956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0344D">
              <a:alpha val="1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3898503" y="5389959"/>
            <a:ext cx="30861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100%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31841" y="5770959"/>
            <a:ext cx="3019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Members are Residents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30380" y="1352550"/>
            <a:ext cx="4476750" cy="2952750"/>
          </a:xfrm>
          <a:custGeom>
            <a:avLst/>
            <a:gdLst/>
            <a:ahLst/>
            <a:cxnLst/>
            <a:rect l="l" t="t" r="r" b="b"/>
            <a:pathLst>
              <a:path w="4476750" h="2952750">
                <a:moveTo>
                  <a:pt x="38100" y="0"/>
                </a:moveTo>
                <a:lnTo>
                  <a:pt x="4438650" y="0"/>
                </a:lnTo>
                <a:cubicBezTo>
                  <a:pt x="4459678" y="0"/>
                  <a:pt x="4476750" y="17072"/>
                  <a:pt x="4476750" y="38100"/>
                </a:cubicBezTo>
                <a:lnTo>
                  <a:pt x="4476750" y="2876540"/>
                </a:lnTo>
                <a:cubicBezTo>
                  <a:pt x="4476750" y="2918629"/>
                  <a:pt x="4442629" y="2952750"/>
                  <a:pt x="4400540" y="2952750"/>
                </a:cubicBezTo>
                <a:lnTo>
                  <a:pt x="76210" y="2952750"/>
                </a:lnTo>
                <a:cubicBezTo>
                  <a:pt x="34121" y="2952750"/>
                  <a:pt x="0" y="2918629"/>
                  <a:pt x="0" y="28765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30380" y="1352550"/>
            <a:ext cx="4476750" cy="38100"/>
          </a:xfrm>
          <a:custGeom>
            <a:avLst/>
            <a:gdLst/>
            <a:ahLst/>
            <a:cxnLst/>
            <a:rect l="l" t="t" r="r" b="b"/>
            <a:pathLst>
              <a:path w="4476750" h="38100">
                <a:moveTo>
                  <a:pt x="38100" y="0"/>
                </a:moveTo>
                <a:lnTo>
                  <a:pt x="4438650" y="0"/>
                </a:lnTo>
                <a:cubicBezTo>
                  <a:pt x="4459678" y="0"/>
                  <a:pt x="4476750" y="17072"/>
                  <a:pt x="4476750" y="38100"/>
                </a:cubicBezTo>
                <a:lnTo>
                  <a:pt x="4476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2" name="Shape 30"/>
          <p:cNvSpPr/>
          <p:nvPr/>
        </p:nvSpPr>
        <p:spPr>
          <a:xfrm>
            <a:off x="7511355" y="1543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8147" y="171539"/>
                </a:moveTo>
                <a:cubicBezTo>
                  <a:pt x="168280" y="154394"/>
                  <a:pt x="149751" y="142875"/>
                  <a:pt x="128588" y="142875"/>
                </a:cubicBezTo>
                <a:lnTo>
                  <a:pt x="100013" y="142875"/>
                </a:lnTo>
                <a:cubicBezTo>
                  <a:pt x="78849" y="142875"/>
                  <a:pt x="60320" y="154394"/>
                  <a:pt x="50453" y="171539"/>
                </a:cubicBezTo>
                <a:cubicBezTo>
                  <a:pt x="66169" y="189041"/>
                  <a:pt x="88940" y="200025"/>
                  <a:pt x="114300" y="200025"/>
                </a:cubicBezTo>
                <a:cubicBezTo>
                  <a:pt x="139660" y="200025"/>
                  <a:pt x="162431" y="188997"/>
                  <a:pt x="178147" y="171539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21444"/>
                </a:moveTo>
                <a:cubicBezTo>
                  <a:pt x="132042" y="121444"/>
                  <a:pt x="146447" y="107039"/>
                  <a:pt x="146447" y="89297"/>
                </a:cubicBezTo>
                <a:cubicBezTo>
                  <a:pt x="146447" y="71555"/>
                  <a:pt x="132042" y="57150"/>
                  <a:pt x="114300" y="57150"/>
                </a:cubicBezTo>
                <a:cubicBezTo>
                  <a:pt x="96558" y="57150"/>
                  <a:pt x="82153" y="71555"/>
                  <a:pt x="82153" y="89297"/>
                </a:cubicBezTo>
                <a:cubicBezTo>
                  <a:pt x="82153" y="107039"/>
                  <a:pt x="96558" y="121444"/>
                  <a:pt x="114300" y="121444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3" name="Text 31"/>
          <p:cNvSpPr/>
          <p:nvPr/>
        </p:nvSpPr>
        <p:spPr>
          <a:xfrm>
            <a:off x="7882830" y="1524000"/>
            <a:ext cx="1209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User Persona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82780" y="1905000"/>
            <a:ext cx="4171950" cy="762000"/>
          </a:xfrm>
          <a:custGeom>
            <a:avLst/>
            <a:gdLst/>
            <a:ahLst/>
            <a:cxnLst/>
            <a:rect l="l" t="t" r="r" b="b"/>
            <a:pathLst>
              <a:path w="4171950" h="762000">
                <a:moveTo>
                  <a:pt x="76200" y="0"/>
                </a:moveTo>
                <a:lnTo>
                  <a:pt x="4095750" y="0"/>
                </a:lnTo>
                <a:cubicBezTo>
                  <a:pt x="4137806" y="0"/>
                  <a:pt x="4171950" y="34144"/>
                  <a:pt x="4171950" y="76200"/>
                </a:cubicBezTo>
                <a:lnTo>
                  <a:pt x="4171950" y="685800"/>
                </a:lnTo>
                <a:cubicBezTo>
                  <a:pt x="4171950" y="727856"/>
                  <a:pt x="4137806" y="762000"/>
                  <a:pt x="40957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A8A94">
              <a:alpha val="1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7597080" y="201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36" name="Shape 34"/>
          <p:cNvSpPr/>
          <p:nvPr/>
        </p:nvSpPr>
        <p:spPr>
          <a:xfrm>
            <a:off x="7742337" y="21526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F8F8F7"/>
          </a:solidFill>
        </p:spPr>
      </p:sp>
      <p:sp>
        <p:nvSpPr>
          <p:cNvPr id="37" name="Text 35"/>
          <p:cNvSpPr/>
          <p:nvPr/>
        </p:nvSpPr>
        <p:spPr>
          <a:xfrm>
            <a:off x="8168580" y="2019300"/>
            <a:ext cx="1485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Ali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168580" y="2286000"/>
            <a:ext cx="1457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Maintenance Technician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01830" y="27813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40" name="Text 38"/>
          <p:cNvSpPr/>
          <p:nvPr/>
        </p:nvSpPr>
        <p:spPr>
          <a:xfrm>
            <a:off x="7635180" y="2781300"/>
            <a:ext cx="4086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Pain Point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35180" y="3009900"/>
            <a:ext cx="409575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Spends </a:t>
            </a:r>
            <a:r>
              <a:rPr lang="en-US" sz="1200" b="1" dirty="0">
                <a:solidFill>
                  <a:srgbClr val="F8F8F7"/>
                </a:solidFill>
                <a:highlight>
                  <a:srgbClr val="C87D55">
                    <a:alpha val="100000"/>
                  </a:srgbClr>
                </a:highlight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30% </a:t>
            </a: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of working hours organizing forms and deciphering poor handwriting.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01830" y="35052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00344D"/>
          </a:solidFill>
        </p:spPr>
      </p:sp>
      <p:sp>
        <p:nvSpPr>
          <p:cNvPr id="43" name="Text 41"/>
          <p:cNvSpPr/>
          <p:nvPr/>
        </p:nvSpPr>
        <p:spPr>
          <a:xfrm>
            <a:off x="7635180" y="3505200"/>
            <a:ext cx="4086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Need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35180" y="3733800"/>
            <a:ext cx="409575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Lacks a digital tool to prioritize urgent tasks and track report status efficiently.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30380" y="4476750"/>
            <a:ext cx="4476750" cy="2190750"/>
          </a:xfrm>
          <a:custGeom>
            <a:avLst/>
            <a:gdLst/>
            <a:ahLst/>
            <a:cxnLst/>
            <a:rect l="l" t="t" r="r" b="b"/>
            <a:pathLst>
              <a:path w="4476750" h="2190750">
                <a:moveTo>
                  <a:pt x="38100" y="0"/>
                </a:moveTo>
                <a:lnTo>
                  <a:pt x="4438650" y="0"/>
                </a:lnTo>
                <a:cubicBezTo>
                  <a:pt x="4459678" y="0"/>
                  <a:pt x="4476750" y="17072"/>
                  <a:pt x="4476750" y="38100"/>
                </a:cubicBezTo>
                <a:lnTo>
                  <a:pt x="4476750" y="2114556"/>
                </a:lnTo>
                <a:cubicBezTo>
                  <a:pt x="4476750" y="2156637"/>
                  <a:pt x="4442637" y="2190750"/>
                  <a:pt x="4400556" y="2190750"/>
                </a:cubicBezTo>
                <a:lnTo>
                  <a:pt x="76194" y="2190750"/>
                </a:lnTo>
                <a:cubicBezTo>
                  <a:pt x="34142" y="2190750"/>
                  <a:pt x="0" y="2156608"/>
                  <a:pt x="0" y="21145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7330380" y="4476750"/>
            <a:ext cx="4476750" cy="38100"/>
          </a:xfrm>
          <a:custGeom>
            <a:avLst/>
            <a:gdLst/>
            <a:ahLst/>
            <a:cxnLst/>
            <a:rect l="l" t="t" r="r" b="b"/>
            <a:pathLst>
              <a:path w="4476750" h="38100">
                <a:moveTo>
                  <a:pt x="38100" y="0"/>
                </a:moveTo>
                <a:lnTo>
                  <a:pt x="4438650" y="0"/>
                </a:lnTo>
                <a:cubicBezTo>
                  <a:pt x="4459678" y="0"/>
                  <a:pt x="4476750" y="17072"/>
                  <a:pt x="4476750" y="38100"/>
                </a:cubicBezTo>
                <a:lnTo>
                  <a:pt x="4476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7" name="Shape 45"/>
          <p:cNvSpPr/>
          <p:nvPr/>
        </p:nvSpPr>
        <p:spPr>
          <a:xfrm>
            <a:off x="7506593" y="4686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8" name="Text 46"/>
          <p:cNvSpPr/>
          <p:nvPr/>
        </p:nvSpPr>
        <p:spPr>
          <a:xfrm>
            <a:off x="7797105" y="4648200"/>
            <a:ext cx="781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Evidence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82780" y="5029200"/>
            <a:ext cx="4171950" cy="685800"/>
          </a:xfrm>
          <a:custGeom>
            <a:avLst/>
            <a:gdLst/>
            <a:ahLst/>
            <a:cxnLst/>
            <a:rect l="l" t="t" r="r" b="b"/>
            <a:pathLst>
              <a:path w="4171950" h="685800">
                <a:moveTo>
                  <a:pt x="76199" y="0"/>
                </a:moveTo>
                <a:lnTo>
                  <a:pt x="4095751" y="0"/>
                </a:lnTo>
                <a:cubicBezTo>
                  <a:pt x="4137834" y="0"/>
                  <a:pt x="4171950" y="34116"/>
                  <a:pt x="4171950" y="76199"/>
                </a:cubicBezTo>
                <a:lnTo>
                  <a:pt x="4171950" y="609601"/>
                </a:lnTo>
                <a:cubicBezTo>
                  <a:pt x="4171950" y="651684"/>
                  <a:pt x="4137834" y="685800"/>
                  <a:pt x="4095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7597080" y="5143500"/>
            <a:ext cx="401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Observation Log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597080" y="5410200"/>
            <a:ext cx="4010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Summarized pain points from 15+ reported issues.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82780" y="5829300"/>
            <a:ext cx="4171950" cy="685800"/>
          </a:xfrm>
          <a:custGeom>
            <a:avLst/>
            <a:gdLst/>
            <a:ahLst/>
            <a:cxnLst/>
            <a:rect l="l" t="t" r="r" b="b"/>
            <a:pathLst>
              <a:path w="4171950" h="685800">
                <a:moveTo>
                  <a:pt x="76199" y="0"/>
                </a:moveTo>
                <a:lnTo>
                  <a:pt x="4095751" y="0"/>
                </a:lnTo>
                <a:cubicBezTo>
                  <a:pt x="4137834" y="0"/>
                  <a:pt x="4171950" y="34116"/>
                  <a:pt x="4171950" y="76199"/>
                </a:cubicBezTo>
                <a:lnTo>
                  <a:pt x="4171950" y="609601"/>
                </a:lnTo>
                <a:cubicBezTo>
                  <a:pt x="4171950" y="651684"/>
                  <a:pt x="4137834" y="685800"/>
                  <a:pt x="4095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7597080" y="5943600"/>
            <a:ext cx="4019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Staff Interview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97080" y="6210300"/>
            <a:ext cx="4010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Maintenance team: "We need better organization."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800100" cy="266700"/>
          </a:xfrm>
          <a:custGeom>
            <a:avLst/>
            <a:gdLst/>
            <a:ahLst/>
            <a:cxnLst/>
            <a:rect l="l" t="t" r="r" b="b"/>
            <a:pathLst>
              <a:path w="800100" h="266700">
                <a:moveTo>
                  <a:pt x="133350" y="0"/>
                </a:moveTo>
                <a:lnTo>
                  <a:pt x="666750" y="0"/>
                </a:lnTo>
                <a:cubicBezTo>
                  <a:pt x="740348" y="0"/>
                  <a:pt x="800100" y="59752"/>
                  <a:pt x="800100" y="133350"/>
                </a:cubicBezTo>
                <a:lnTo>
                  <a:pt x="800100" y="133350"/>
                </a:lnTo>
                <a:cubicBezTo>
                  <a:pt x="800100" y="206948"/>
                  <a:pt x="740348" y="266700"/>
                  <a:pt x="6667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66775" cy="2667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3813" y="400050"/>
            <a:ext cx="1657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Thinking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63905"/>
            <a:ext cx="11658600" cy="474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Define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33500"/>
            <a:ext cx="11430000" cy="1352550"/>
          </a:xfrm>
          <a:custGeom>
            <a:avLst/>
            <a:gdLst/>
            <a:ahLst/>
            <a:cxnLst/>
            <a:rect l="l" t="t" r="r" b="b"/>
            <a:pathLst>
              <a:path w="11430000" h="135255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1276347"/>
                </a:lnTo>
                <a:cubicBezTo>
                  <a:pt x="11430000" y="1318433"/>
                  <a:pt x="11395883" y="1352550"/>
                  <a:pt x="11353797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7049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8" name="Shape 6"/>
          <p:cNvSpPr/>
          <p:nvPr/>
        </p:nvSpPr>
        <p:spPr>
          <a:xfrm>
            <a:off x="847725" y="1895475"/>
            <a:ext cx="57150" cy="228600"/>
          </a:xfrm>
          <a:custGeom>
            <a:avLst/>
            <a:gdLst/>
            <a:ahLst/>
            <a:cxnLst/>
            <a:rect l="l" t="t" r="r" b="b"/>
            <a:pathLst>
              <a:path w="57150" h="228600">
                <a:moveTo>
                  <a:pt x="42863" y="14288"/>
                </a:moveTo>
                <a:cubicBezTo>
                  <a:pt x="42863" y="6385"/>
                  <a:pt x="36478" y="0"/>
                  <a:pt x="28575" y="0"/>
                </a:cubicBezTo>
                <a:cubicBezTo>
                  <a:pt x="20672" y="0"/>
                  <a:pt x="14288" y="6385"/>
                  <a:pt x="14288" y="14288"/>
                </a:cubicBezTo>
                <a:lnTo>
                  <a:pt x="14288" y="157163"/>
                </a:lnTo>
                <a:cubicBezTo>
                  <a:pt x="14288" y="165065"/>
                  <a:pt x="20672" y="171450"/>
                  <a:pt x="28575" y="171450"/>
                </a:cubicBezTo>
                <a:cubicBezTo>
                  <a:pt x="36478" y="171450"/>
                  <a:pt x="42863" y="165065"/>
                  <a:pt x="42863" y="157163"/>
                </a:cubicBezTo>
                <a:lnTo>
                  <a:pt x="42863" y="14288"/>
                </a:lnTo>
                <a:close/>
                <a:moveTo>
                  <a:pt x="28575" y="228600"/>
                </a:moveTo>
                <a:cubicBezTo>
                  <a:pt x="38442" y="228600"/>
                  <a:pt x="46434" y="220608"/>
                  <a:pt x="46434" y="210741"/>
                </a:cubicBezTo>
                <a:cubicBezTo>
                  <a:pt x="46434" y="200873"/>
                  <a:pt x="38442" y="192881"/>
                  <a:pt x="28575" y="192881"/>
                </a:cubicBezTo>
                <a:cubicBezTo>
                  <a:pt x="18708" y="192881"/>
                  <a:pt x="10716" y="200873"/>
                  <a:pt x="10716" y="210741"/>
                </a:cubicBezTo>
                <a:cubicBezTo>
                  <a:pt x="10716" y="220608"/>
                  <a:pt x="18708" y="228600"/>
                  <a:pt x="28575" y="228600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9" name="Text 7"/>
          <p:cNvSpPr/>
          <p:nvPr/>
        </p:nvSpPr>
        <p:spPr>
          <a:xfrm>
            <a:off x="1333500" y="1524000"/>
            <a:ext cx="10353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1752600"/>
            <a:ext cx="10382250" cy="476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Residents of UTM hostels need a more efficient way to report facility damages, as the existing paper-based system causes lengthy repair delays and poor user experience.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35881" y="23717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12" name="Text 10"/>
          <p:cNvSpPr/>
          <p:nvPr/>
        </p:nvSpPr>
        <p:spPr>
          <a:xfrm>
            <a:off x="1576388" y="230505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Target Users: UTM Hostel Residents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5833" y="23717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8367" y="25290"/>
                </a:moveTo>
                <a:lnTo>
                  <a:pt x="58367" y="38208"/>
                </a:lnTo>
                <a:lnTo>
                  <a:pt x="58497" y="38338"/>
                </a:lnTo>
                <a:cubicBezTo>
                  <a:pt x="60190" y="16877"/>
                  <a:pt x="78135" y="0"/>
                  <a:pt x="100039" y="0"/>
                </a:cubicBezTo>
                <a:cubicBezTo>
                  <a:pt x="105274" y="0"/>
                  <a:pt x="110300" y="964"/>
                  <a:pt x="114910" y="2735"/>
                </a:cubicBezTo>
                <a:cubicBezTo>
                  <a:pt x="117515" y="3724"/>
                  <a:pt x="117983" y="7032"/>
                  <a:pt x="116030" y="9012"/>
                </a:cubicBezTo>
                <a:lnTo>
                  <a:pt x="92928" y="32113"/>
                </a:lnTo>
                <a:cubicBezTo>
                  <a:pt x="92147" y="32895"/>
                  <a:pt x="91704" y="33963"/>
                  <a:pt x="91704" y="35056"/>
                </a:cubicBezTo>
                <a:lnTo>
                  <a:pt x="91704" y="45839"/>
                </a:lnTo>
                <a:cubicBezTo>
                  <a:pt x="91704" y="48131"/>
                  <a:pt x="93579" y="50006"/>
                  <a:pt x="95871" y="50006"/>
                </a:cubicBezTo>
                <a:lnTo>
                  <a:pt x="106654" y="50006"/>
                </a:lnTo>
                <a:cubicBezTo>
                  <a:pt x="107748" y="50006"/>
                  <a:pt x="108816" y="49563"/>
                  <a:pt x="109597" y="48782"/>
                </a:cubicBezTo>
                <a:lnTo>
                  <a:pt x="132699" y="25680"/>
                </a:lnTo>
                <a:cubicBezTo>
                  <a:pt x="134678" y="23701"/>
                  <a:pt x="137986" y="24196"/>
                  <a:pt x="138976" y="26800"/>
                </a:cubicBezTo>
                <a:cubicBezTo>
                  <a:pt x="140747" y="31410"/>
                  <a:pt x="141710" y="36437"/>
                  <a:pt x="141710" y="41672"/>
                </a:cubicBezTo>
                <a:cubicBezTo>
                  <a:pt x="141710" y="57455"/>
                  <a:pt x="132933" y="71207"/>
                  <a:pt x="119963" y="78265"/>
                </a:cubicBezTo>
                <a:lnTo>
                  <a:pt x="141190" y="99492"/>
                </a:lnTo>
                <a:cubicBezTo>
                  <a:pt x="146060" y="104362"/>
                  <a:pt x="146060" y="112280"/>
                  <a:pt x="141190" y="117176"/>
                </a:cubicBezTo>
                <a:lnTo>
                  <a:pt x="125537" y="132829"/>
                </a:lnTo>
                <a:cubicBezTo>
                  <a:pt x="120666" y="137700"/>
                  <a:pt x="112748" y="137700"/>
                  <a:pt x="107852" y="132829"/>
                </a:cubicBezTo>
                <a:lnTo>
                  <a:pt x="75035" y="100013"/>
                </a:lnTo>
                <a:cubicBezTo>
                  <a:pt x="67899" y="92876"/>
                  <a:pt x="66284" y="82328"/>
                  <a:pt x="70217" y="73629"/>
                </a:cubicBezTo>
                <a:lnTo>
                  <a:pt x="46594" y="50006"/>
                </a:lnTo>
                <a:lnTo>
                  <a:pt x="33676" y="50006"/>
                </a:lnTo>
                <a:cubicBezTo>
                  <a:pt x="30889" y="50006"/>
                  <a:pt x="28285" y="48626"/>
                  <a:pt x="26748" y="46308"/>
                </a:cubicBezTo>
                <a:lnTo>
                  <a:pt x="6095" y="15340"/>
                </a:lnTo>
                <a:cubicBezTo>
                  <a:pt x="5001" y="13700"/>
                  <a:pt x="5209" y="11486"/>
                  <a:pt x="6615" y="10079"/>
                </a:cubicBezTo>
                <a:lnTo>
                  <a:pt x="18440" y="-1745"/>
                </a:lnTo>
                <a:cubicBezTo>
                  <a:pt x="19846" y="-3151"/>
                  <a:pt x="22034" y="-3360"/>
                  <a:pt x="23701" y="-2266"/>
                </a:cubicBezTo>
                <a:lnTo>
                  <a:pt x="54668" y="18362"/>
                </a:lnTo>
                <a:cubicBezTo>
                  <a:pt x="56986" y="19898"/>
                  <a:pt x="58367" y="22503"/>
                  <a:pt x="58367" y="25290"/>
                </a:cubicBezTo>
                <a:close/>
                <a:moveTo>
                  <a:pt x="56153" y="77249"/>
                </a:moveTo>
                <a:cubicBezTo>
                  <a:pt x="54512" y="86886"/>
                  <a:pt x="56778" y="97069"/>
                  <a:pt x="63029" y="105221"/>
                </a:cubicBezTo>
                <a:lnTo>
                  <a:pt x="38286" y="129938"/>
                </a:lnTo>
                <a:cubicBezTo>
                  <a:pt x="30967" y="137257"/>
                  <a:pt x="19091" y="137257"/>
                  <a:pt x="11772" y="129938"/>
                </a:cubicBezTo>
                <a:cubicBezTo>
                  <a:pt x="4454" y="122619"/>
                  <a:pt x="4454" y="110743"/>
                  <a:pt x="11772" y="103424"/>
                </a:cubicBezTo>
                <a:lnTo>
                  <a:pt x="47037" y="68160"/>
                </a:lnTo>
                <a:lnTo>
                  <a:pt x="56153" y="77275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14" name="Text 12"/>
          <p:cNvSpPr/>
          <p:nvPr/>
        </p:nvSpPr>
        <p:spPr>
          <a:xfrm>
            <a:off x="4025305" y="2305050"/>
            <a:ext cx="2238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Core Issue: Facility Damage Reporting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2857500"/>
            <a:ext cx="3705225" cy="3619500"/>
          </a:xfrm>
          <a:custGeom>
            <a:avLst/>
            <a:gdLst/>
            <a:ahLst/>
            <a:cxnLst/>
            <a:rect l="l" t="t" r="r" b="b"/>
            <a:pathLst>
              <a:path w="3705225" h="36195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543310"/>
                </a:lnTo>
                <a:cubicBezTo>
                  <a:pt x="3705225" y="3585388"/>
                  <a:pt x="3671113" y="3619500"/>
                  <a:pt x="3629035" y="3619500"/>
                </a:cubicBezTo>
                <a:lnTo>
                  <a:pt x="76190" y="3619500"/>
                </a:lnTo>
                <a:cubicBezTo>
                  <a:pt x="34112" y="3619500"/>
                  <a:pt x="0" y="3585388"/>
                  <a:pt x="0" y="354331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1000" y="28575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7" name="Shape 15"/>
          <p:cNvSpPr/>
          <p:nvPr/>
        </p:nvSpPr>
        <p:spPr>
          <a:xfrm>
            <a:off x="533400" y="3028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8" name="Shape 16"/>
          <p:cNvSpPr/>
          <p:nvPr/>
        </p:nvSpPr>
        <p:spPr>
          <a:xfrm>
            <a:off x="678656" y="31623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9781" y="-4837"/>
                </a:moveTo>
                <a:cubicBezTo>
                  <a:pt x="85539" y="-5693"/>
                  <a:pt x="81186" y="-5693"/>
                  <a:pt x="76944" y="-4837"/>
                </a:cubicBezTo>
                <a:lnTo>
                  <a:pt x="7181" y="9116"/>
                </a:lnTo>
                <a:cubicBezTo>
                  <a:pt x="3014" y="9934"/>
                  <a:pt x="0" y="13618"/>
                  <a:pt x="0" y="17859"/>
                </a:cubicBezTo>
                <a:cubicBezTo>
                  <a:pt x="0" y="21692"/>
                  <a:pt x="2418" y="25040"/>
                  <a:pt x="5953" y="26268"/>
                </a:cubicBezTo>
                <a:lnTo>
                  <a:pt x="5953" y="53578"/>
                </a:lnTo>
                <a:lnTo>
                  <a:pt x="112" y="82823"/>
                </a:lnTo>
                <a:cubicBezTo>
                  <a:pt x="37" y="83158"/>
                  <a:pt x="0" y="83530"/>
                  <a:pt x="0" y="83902"/>
                </a:cubicBezTo>
                <a:cubicBezTo>
                  <a:pt x="0" y="86878"/>
                  <a:pt x="2418" y="89334"/>
                  <a:pt x="5432" y="89334"/>
                </a:cubicBezTo>
                <a:lnTo>
                  <a:pt x="18417" y="89334"/>
                </a:lnTo>
                <a:cubicBezTo>
                  <a:pt x="21394" y="89334"/>
                  <a:pt x="23850" y="86916"/>
                  <a:pt x="23850" y="83902"/>
                </a:cubicBezTo>
                <a:cubicBezTo>
                  <a:pt x="23850" y="83530"/>
                  <a:pt x="23812" y="83195"/>
                  <a:pt x="23738" y="82823"/>
                </a:cubicBezTo>
                <a:lnTo>
                  <a:pt x="17859" y="53578"/>
                </a:lnTo>
                <a:lnTo>
                  <a:pt x="17859" y="28761"/>
                </a:lnTo>
                <a:lnTo>
                  <a:pt x="35719" y="32333"/>
                </a:lnTo>
                <a:lnTo>
                  <a:pt x="35719" y="53578"/>
                </a:lnTo>
                <a:cubicBezTo>
                  <a:pt x="35719" y="79883"/>
                  <a:pt x="57038" y="101203"/>
                  <a:pt x="83344" y="101203"/>
                </a:cubicBezTo>
                <a:cubicBezTo>
                  <a:pt x="109649" y="101203"/>
                  <a:pt x="130969" y="79883"/>
                  <a:pt x="130969" y="53578"/>
                </a:cubicBezTo>
                <a:lnTo>
                  <a:pt x="130969" y="32333"/>
                </a:lnTo>
                <a:lnTo>
                  <a:pt x="159507" y="26640"/>
                </a:lnTo>
                <a:cubicBezTo>
                  <a:pt x="163674" y="25784"/>
                  <a:pt x="166688" y="22101"/>
                  <a:pt x="166688" y="17859"/>
                </a:cubicBezTo>
                <a:cubicBezTo>
                  <a:pt x="166688" y="13618"/>
                  <a:pt x="163674" y="9934"/>
                  <a:pt x="159507" y="9116"/>
                </a:cubicBezTo>
                <a:lnTo>
                  <a:pt x="89781" y="-4837"/>
                </a:lnTo>
                <a:close/>
                <a:moveTo>
                  <a:pt x="83344" y="83344"/>
                </a:moveTo>
                <a:cubicBezTo>
                  <a:pt x="66898" y="83344"/>
                  <a:pt x="53578" y="70024"/>
                  <a:pt x="53578" y="53578"/>
                </a:cubicBezTo>
                <a:lnTo>
                  <a:pt x="113109" y="53578"/>
                </a:lnTo>
                <a:cubicBezTo>
                  <a:pt x="113109" y="70024"/>
                  <a:pt x="99789" y="83344"/>
                  <a:pt x="83344" y="83344"/>
                </a:cubicBezTo>
                <a:close/>
                <a:moveTo>
                  <a:pt x="44686" y="119100"/>
                </a:moveTo>
                <a:cubicBezTo>
                  <a:pt x="21841" y="129592"/>
                  <a:pt x="5953" y="152660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74414" y="190500"/>
                </a:lnTo>
                <a:lnTo>
                  <a:pt x="74414" y="136178"/>
                </a:lnTo>
                <a:lnTo>
                  <a:pt x="53057" y="120179"/>
                </a:lnTo>
                <a:cubicBezTo>
                  <a:pt x="50639" y="118356"/>
                  <a:pt x="47402" y="117872"/>
                  <a:pt x="44648" y="119137"/>
                </a:cubicBezTo>
                <a:close/>
                <a:moveTo>
                  <a:pt x="92273" y="190500"/>
                </a:move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2660"/>
                  <a:pt x="144847" y="129592"/>
                  <a:pt x="122002" y="119137"/>
                </a:cubicBezTo>
                <a:cubicBezTo>
                  <a:pt x="119249" y="117872"/>
                  <a:pt x="116012" y="118356"/>
                  <a:pt x="113593" y="120179"/>
                </a:cubicBezTo>
                <a:lnTo>
                  <a:pt x="92236" y="136178"/>
                </a:lnTo>
                <a:lnTo>
                  <a:pt x="92236" y="190500"/>
                </a:lnTo>
                <a:close/>
              </a:path>
            </a:pathLst>
          </a:custGeom>
          <a:solidFill>
            <a:srgbClr val="F8F8F7"/>
          </a:solidFill>
        </p:spPr>
      </p:sp>
      <p:sp>
        <p:nvSpPr>
          <p:cNvPr id="19" name="Text 17"/>
          <p:cNvSpPr/>
          <p:nvPr/>
        </p:nvSpPr>
        <p:spPr>
          <a:xfrm>
            <a:off x="1104900" y="312420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Students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2450" y="3600450"/>
            <a:ext cx="38100" cy="2724150"/>
          </a:xfrm>
          <a:custGeom>
            <a:avLst/>
            <a:gdLst/>
            <a:ahLst/>
            <a:cxnLst/>
            <a:rect l="l" t="t" r="r" b="b"/>
            <a:pathLst>
              <a:path w="38100" h="2724150">
                <a:moveTo>
                  <a:pt x="0" y="0"/>
                </a:moveTo>
                <a:lnTo>
                  <a:pt x="38100" y="0"/>
                </a:lnTo>
                <a:lnTo>
                  <a:pt x="3810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21" name="Text 19"/>
          <p:cNvSpPr/>
          <p:nvPr/>
        </p:nvSpPr>
        <p:spPr>
          <a:xfrm>
            <a:off x="685800" y="360045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Core Need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3829050"/>
            <a:ext cx="33242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tracking of report status to eliminate anxiety and uncertainty.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0088" y="4457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4" name="Text 22"/>
          <p:cNvSpPr/>
          <p:nvPr/>
        </p:nvSpPr>
        <p:spPr>
          <a:xfrm>
            <a:off x="904875" y="4400550"/>
            <a:ext cx="1724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Pending:</a:t>
            </a: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Report received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0088" y="4724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6" name="Text 24"/>
          <p:cNvSpPr/>
          <p:nvPr/>
        </p:nvSpPr>
        <p:spPr>
          <a:xfrm>
            <a:off x="904875" y="4667250"/>
            <a:ext cx="1809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 Progress:</a:t>
            </a: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Being handled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0088" y="4991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8" name="Text 26"/>
          <p:cNvSpPr/>
          <p:nvPr/>
        </p:nvSpPr>
        <p:spPr>
          <a:xfrm>
            <a:off x="904875" y="493395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Completed:</a:t>
            </a: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Issue resolved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41800" y="2857500"/>
            <a:ext cx="3705225" cy="3619500"/>
          </a:xfrm>
          <a:custGeom>
            <a:avLst/>
            <a:gdLst/>
            <a:ahLst/>
            <a:cxnLst/>
            <a:rect l="l" t="t" r="r" b="b"/>
            <a:pathLst>
              <a:path w="3705225" h="36195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543310"/>
                </a:lnTo>
                <a:cubicBezTo>
                  <a:pt x="3705225" y="3585388"/>
                  <a:pt x="3671113" y="3619500"/>
                  <a:pt x="3629035" y="3619500"/>
                </a:cubicBezTo>
                <a:lnTo>
                  <a:pt x="76190" y="3619500"/>
                </a:lnTo>
                <a:cubicBezTo>
                  <a:pt x="34112" y="3619500"/>
                  <a:pt x="0" y="3585388"/>
                  <a:pt x="0" y="354331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41800" y="28575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1" name="Shape 29"/>
          <p:cNvSpPr/>
          <p:nvPr/>
        </p:nvSpPr>
        <p:spPr>
          <a:xfrm>
            <a:off x="4394200" y="3028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2" name="Shape 30"/>
          <p:cNvSpPr/>
          <p:nvPr/>
        </p:nvSpPr>
        <p:spPr>
          <a:xfrm>
            <a:off x="4515644" y="31623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F8F8F7"/>
          </a:solidFill>
        </p:spPr>
      </p:sp>
      <p:sp>
        <p:nvSpPr>
          <p:cNvPr id="33" name="Text 31"/>
          <p:cNvSpPr/>
          <p:nvPr/>
        </p:nvSpPr>
        <p:spPr>
          <a:xfrm>
            <a:off x="4965700" y="3124200"/>
            <a:ext cx="1704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Maintenance Team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13250" y="3600450"/>
            <a:ext cx="38100" cy="2724150"/>
          </a:xfrm>
          <a:custGeom>
            <a:avLst/>
            <a:gdLst/>
            <a:ahLst/>
            <a:cxnLst/>
            <a:rect l="l" t="t" r="r" b="b"/>
            <a:pathLst>
              <a:path w="38100" h="2724150">
                <a:moveTo>
                  <a:pt x="0" y="0"/>
                </a:moveTo>
                <a:lnTo>
                  <a:pt x="38100" y="0"/>
                </a:lnTo>
                <a:lnTo>
                  <a:pt x="3810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35" name="Text 33"/>
          <p:cNvSpPr/>
          <p:nvPr/>
        </p:nvSpPr>
        <p:spPr>
          <a:xfrm>
            <a:off x="4546600" y="360045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26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Core Need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46600" y="3829050"/>
            <a:ext cx="33242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Digital task lists with priority ranking and clear categorization.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60888" y="4457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8" name="Text 36"/>
          <p:cNvSpPr/>
          <p:nvPr/>
        </p:nvSpPr>
        <p:spPr>
          <a:xfrm>
            <a:off x="4765675" y="4400550"/>
            <a:ext cx="1466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Sort by urgency level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60888" y="4724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40" name="Text 38"/>
          <p:cNvSpPr/>
          <p:nvPr/>
        </p:nvSpPr>
        <p:spPr>
          <a:xfrm>
            <a:off x="4765675" y="4667250"/>
            <a:ext cx="1171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Filter by location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60888" y="4991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42" name="Text 40"/>
          <p:cNvSpPr/>
          <p:nvPr/>
        </p:nvSpPr>
        <p:spPr>
          <a:xfrm>
            <a:off x="4765675" y="4933950"/>
            <a:ext cx="1495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Photo documentation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02600" y="2857500"/>
            <a:ext cx="3705225" cy="3619500"/>
          </a:xfrm>
          <a:custGeom>
            <a:avLst/>
            <a:gdLst/>
            <a:ahLst/>
            <a:cxnLst/>
            <a:rect l="l" t="t" r="r" b="b"/>
            <a:pathLst>
              <a:path w="3705225" h="36195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543310"/>
                </a:lnTo>
                <a:cubicBezTo>
                  <a:pt x="3705225" y="3585388"/>
                  <a:pt x="3671113" y="3619500"/>
                  <a:pt x="3629035" y="3619500"/>
                </a:cubicBezTo>
                <a:lnTo>
                  <a:pt x="76190" y="3619500"/>
                </a:lnTo>
                <a:cubicBezTo>
                  <a:pt x="34112" y="3619500"/>
                  <a:pt x="0" y="3585388"/>
                  <a:pt x="0" y="354331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8102600" y="28575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5" name="Shape 43"/>
          <p:cNvSpPr/>
          <p:nvPr/>
        </p:nvSpPr>
        <p:spPr>
          <a:xfrm>
            <a:off x="8255000" y="3028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6" name="Shape 44"/>
          <p:cNvSpPr/>
          <p:nvPr/>
        </p:nvSpPr>
        <p:spPr>
          <a:xfrm>
            <a:off x="8412163" y="31623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47" name="Text 45"/>
          <p:cNvSpPr/>
          <p:nvPr/>
        </p:nvSpPr>
        <p:spPr>
          <a:xfrm>
            <a:off x="8826500" y="3124200"/>
            <a:ext cx="1019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74050" y="3600450"/>
            <a:ext cx="38100" cy="2724150"/>
          </a:xfrm>
          <a:custGeom>
            <a:avLst/>
            <a:gdLst/>
            <a:ahLst/>
            <a:cxnLst/>
            <a:rect l="l" t="t" r="r" b="b"/>
            <a:pathLst>
              <a:path w="38100" h="2724150">
                <a:moveTo>
                  <a:pt x="0" y="0"/>
                </a:moveTo>
                <a:lnTo>
                  <a:pt x="38100" y="0"/>
                </a:lnTo>
                <a:lnTo>
                  <a:pt x="3810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49" name="Text 47"/>
          <p:cNvSpPr/>
          <p:nvPr/>
        </p:nvSpPr>
        <p:spPr>
          <a:xfrm>
            <a:off x="8407400" y="3600450"/>
            <a:ext cx="33242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The current system lacks </a:t>
            </a:r>
            <a:r>
              <a:rPr lang="en-US" sz="120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transparency</a:t>
            </a:r>
            <a:r>
              <a:rPr lang="en-US" sz="12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creating a feedback gap that leaves users feeling ignored.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07400" y="4171950"/>
            <a:ext cx="3248025" cy="762000"/>
          </a:xfrm>
          <a:custGeom>
            <a:avLst/>
            <a:gdLst/>
            <a:ahLst/>
            <a:cxnLst/>
            <a:rect l="l" t="t" r="r" b="b"/>
            <a:pathLst>
              <a:path w="3248025" h="762000">
                <a:moveTo>
                  <a:pt x="76200" y="0"/>
                </a:moveTo>
                <a:lnTo>
                  <a:pt x="3171825" y="0"/>
                </a:lnTo>
                <a:cubicBezTo>
                  <a:pt x="3213881" y="0"/>
                  <a:pt x="3248025" y="34144"/>
                  <a:pt x="3248025" y="76200"/>
                </a:cubicBezTo>
                <a:lnTo>
                  <a:pt x="3248025" y="685800"/>
                </a:lnTo>
                <a:cubicBezTo>
                  <a:pt x="3248025" y="727856"/>
                  <a:pt x="3213881" y="762000"/>
                  <a:pt x="31718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1" name="Text 49"/>
          <p:cNvSpPr/>
          <p:nvPr/>
        </p:nvSpPr>
        <p:spPr>
          <a:xfrm>
            <a:off x="8483600" y="4248150"/>
            <a:ext cx="3162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Impact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83600" y="4476750"/>
            <a:ext cx="31623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Students submit multiple reports for the same issue, increasing workload.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800100" cy="266700"/>
          </a:xfrm>
          <a:custGeom>
            <a:avLst/>
            <a:gdLst/>
            <a:ahLst/>
            <a:cxnLst/>
            <a:rect l="l" t="t" r="r" b="b"/>
            <a:pathLst>
              <a:path w="800100" h="266700">
                <a:moveTo>
                  <a:pt x="133350" y="0"/>
                </a:moveTo>
                <a:lnTo>
                  <a:pt x="666750" y="0"/>
                </a:lnTo>
                <a:cubicBezTo>
                  <a:pt x="740348" y="0"/>
                  <a:pt x="800100" y="59752"/>
                  <a:pt x="800100" y="133350"/>
                </a:cubicBezTo>
                <a:lnTo>
                  <a:pt x="800100" y="133350"/>
                </a:lnTo>
                <a:cubicBezTo>
                  <a:pt x="800100" y="206948"/>
                  <a:pt x="740348" y="266700"/>
                  <a:pt x="6667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66775" cy="2667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7285" y="400050"/>
            <a:ext cx="1657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Thinking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8105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Ideate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33500"/>
            <a:ext cx="11430000" cy="12192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143000"/>
                </a:lnTo>
                <a:cubicBezTo>
                  <a:pt x="11430000" y="1185056"/>
                  <a:pt x="11395856" y="1219200"/>
                  <a:pt x="113538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1975" y="152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8" name="Text 6"/>
          <p:cNvSpPr/>
          <p:nvPr/>
        </p:nvSpPr>
        <p:spPr>
          <a:xfrm>
            <a:off x="933450" y="1485900"/>
            <a:ext cx="23907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Brainstorming Process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1905000"/>
            <a:ext cx="11201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Our team conducted intensive brainstorming sessions, generating multiple solution concepts. Each idea was evaluated against user experience and technical feasibility criteria.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724150"/>
            <a:ext cx="3705225" cy="3752850"/>
          </a:xfrm>
          <a:custGeom>
            <a:avLst/>
            <a:gdLst/>
            <a:ahLst/>
            <a:cxnLst/>
            <a:rect l="l" t="t" r="r" b="b"/>
            <a:pathLst>
              <a:path w="3705225" h="37528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676634"/>
                </a:lnTo>
                <a:cubicBezTo>
                  <a:pt x="3705225" y="3718727"/>
                  <a:pt x="3671102" y="3752850"/>
                  <a:pt x="3629009" y="3752850"/>
                </a:cubicBezTo>
                <a:lnTo>
                  <a:pt x="76216" y="3752850"/>
                </a:lnTo>
                <a:cubicBezTo>
                  <a:pt x="34123" y="3752850"/>
                  <a:pt x="0" y="3718727"/>
                  <a:pt x="0" y="367663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1000" y="2724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12" name="Shape 10"/>
          <p:cNvSpPr/>
          <p:nvPr/>
        </p:nvSpPr>
        <p:spPr>
          <a:xfrm>
            <a:off x="533400" y="2895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A8A94">
              <a:alpha val="2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90563" y="30289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0501" y="27310"/>
                </a:moveTo>
                <a:cubicBezTo>
                  <a:pt x="15850" y="22659"/>
                  <a:pt x="8297" y="22659"/>
                  <a:pt x="3646" y="27310"/>
                </a:cubicBezTo>
                <a:cubicBezTo>
                  <a:pt x="-1005" y="31961"/>
                  <a:pt x="-1005" y="39514"/>
                  <a:pt x="3646" y="44165"/>
                </a:cubicBezTo>
                <a:lnTo>
                  <a:pt x="54769" y="95250"/>
                </a:lnTo>
                <a:lnTo>
                  <a:pt x="3683" y="146372"/>
                </a:lnTo>
                <a:cubicBezTo>
                  <a:pt x="-967" y="151023"/>
                  <a:pt x="-967" y="158576"/>
                  <a:pt x="3683" y="163227"/>
                </a:cubicBezTo>
                <a:cubicBezTo>
                  <a:pt x="8334" y="167878"/>
                  <a:pt x="15887" y="167878"/>
                  <a:pt x="20538" y="163227"/>
                </a:cubicBezTo>
                <a:lnTo>
                  <a:pt x="71624" y="112105"/>
                </a:lnTo>
                <a:lnTo>
                  <a:pt x="122746" y="163190"/>
                </a:lnTo>
                <a:cubicBezTo>
                  <a:pt x="127397" y="167841"/>
                  <a:pt x="134950" y="167841"/>
                  <a:pt x="139601" y="163190"/>
                </a:cubicBezTo>
                <a:cubicBezTo>
                  <a:pt x="144252" y="158539"/>
                  <a:pt x="144252" y="150986"/>
                  <a:pt x="139601" y="146335"/>
                </a:cubicBezTo>
                <a:lnTo>
                  <a:pt x="88478" y="95250"/>
                </a:lnTo>
                <a:lnTo>
                  <a:pt x="139564" y="44128"/>
                </a:lnTo>
                <a:cubicBezTo>
                  <a:pt x="144214" y="39477"/>
                  <a:pt x="144214" y="31924"/>
                  <a:pt x="139564" y="27273"/>
                </a:cubicBezTo>
                <a:cubicBezTo>
                  <a:pt x="134913" y="22622"/>
                  <a:pt x="127360" y="22622"/>
                  <a:pt x="122709" y="27273"/>
                </a:cubicBezTo>
                <a:lnTo>
                  <a:pt x="71624" y="78395"/>
                </a:lnTo>
                <a:lnTo>
                  <a:pt x="20501" y="2731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14" name="Text 12"/>
          <p:cNvSpPr/>
          <p:nvPr/>
        </p:nvSpPr>
        <p:spPr>
          <a:xfrm>
            <a:off x="1104900" y="2990850"/>
            <a:ext cx="1323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Rejected Ideas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2450" y="34671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16" name="Shape 14"/>
          <p:cNvSpPr/>
          <p:nvPr/>
        </p:nvSpPr>
        <p:spPr>
          <a:xfrm>
            <a:off x="695325" y="35242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17" name="Text 15"/>
          <p:cNvSpPr/>
          <p:nvPr/>
        </p:nvSpPr>
        <p:spPr>
          <a:xfrm>
            <a:off x="952500" y="3467100"/>
            <a:ext cx="1390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WhatsApp Group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771900"/>
            <a:ext cx="332422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Reason:</a:t>
            </a:r>
            <a:r>
              <a:rPr lang="en-US" sz="120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Disorganized chat flow; no tracking capability.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22910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tx1">
                    <a:alpha val="60000"/>
                  </a:scheme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Messages get buried; difficult to search history.</a:t>
            </a:r>
          </a:p>
        </p:txBody>
      </p:sp>
      <p:sp>
        <p:nvSpPr>
          <p:cNvPr id="20" name="Shape 18"/>
          <p:cNvSpPr/>
          <p:nvPr/>
        </p:nvSpPr>
        <p:spPr>
          <a:xfrm>
            <a:off x="552450" y="45339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21" name="Shape 19"/>
          <p:cNvSpPr/>
          <p:nvPr/>
        </p:nvSpPr>
        <p:spPr>
          <a:xfrm>
            <a:off x="723900" y="45910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22" name="Text 20"/>
          <p:cNvSpPr/>
          <p:nvPr/>
        </p:nvSpPr>
        <p:spPr>
          <a:xfrm>
            <a:off x="952500" y="4533900"/>
            <a:ext cx="1143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Google Forms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838700"/>
            <a:ext cx="332422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Reason:</a:t>
            </a:r>
            <a:r>
              <a:rPr lang="en-US" sz="1200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Submission-only; no status inquiry capability.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5295900"/>
            <a:ext cx="3314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5282A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One-way communication; no feedback mechanism.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1800" y="2705100"/>
            <a:ext cx="3705225" cy="3771900"/>
          </a:xfrm>
          <a:custGeom>
            <a:avLst/>
            <a:gdLst/>
            <a:ahLst/>
            <a:cxnLst/>
            <a:rect l="l" t="t" r="r" b="b"/>
            <a:pathLst>
              <a:path w="3705225" h="3771900">
                <a:moveTo>
                  <a:pt x="76216" y="0"/>
                </a:moveTo>
                <a:lnTo>
                  <a:pt x="3629009" y="0"/>
                </a:lnTo>
                <a:cubicBezTo>
                  <a:pt x="3671102" y="0"/>
                  <a:pt x="3705225" y="34123"/>
                  <a:pt x="3705225" y="76216"/>
                </a:cubicBezTo>
                <a:lnTo>
                  <a:pt x="3705225" y="3695684"/>
                </a:lnTo>
                <a:cubicBezTo>
                  <a:pt x="3705225" y="3737777"/>
                  <a:pt x="3671102" y="3771900"/>
                  <a:pt x="3629009" y="3771900"/>
                </a:cubicBezTo>
                <a:lnTo>
                  <a:pt x="76216" y="3771900"/>
                </a:lnTo>
                <a:cubicBezTo>
                  <a:pt x="34123" y="3771900"/>
                  <a:pt x="0" y="3737777"/>
                  <a:pt x="0" y="3695684"/>
                </a:cubicBezTo>
                <a:lnTo>
                  <a:pt x="0" y="76216"/>
                </a:lnTo>
                <a:cubicBezTo>
                  <a:pt x="0" y="34151"/>
                  <a:pt x="34151" y="0"/>
                  <a:pt x="76216" y="0"/>
                </a:cubicBezTo>
                <a:close/>
              </a:path>
            </a:pathLst>
          </a:custGeom>
          <a:solidFill>
            <a:srgbClr val="C87D55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94200" y="285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27" name="Shape 25"/>
          <p:cNvSpPr/>
          <p:nvPr/>
        </p:nvSpPr>
        <p:spPr>
          <a:xfrm>
            <a:off x="4539456" y="2990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28" name="Text 26"/>
          <p:cNvSpPr/>
          <p:nvPr/>
        </p:nvSpPr>
        <p:spPr>
          <a:xfrm>
            <a:off x="4965700" y="2952750"/>
            <a:ext cx="1323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Final Selection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94200" y="3429000"/>
            <a:ext cx="3400425" cy="800100"/>
          </a:xfrm>
          <a:custGeom>
            <a:avLst/>
            <a:gdLst/>
            <a:ahLst/>
            <a:cxnLst/>
            <a:rect l="l" t="t" r="r" b="b"/>
            <a:pathLst>
              <a:path w="3400425" h="800100">
                <a:moveTo>
                  <a:pt x="76202" y="0"/>
                </a:moveTo>
                <a:lnTo>
                  <a:pt x="3324223" y="0"/>
                </a:lnTo>
                <a:cubicBezTo>
                  <a:pt x="3366308" y="0"/>
                  <a:pt x="3400425" y="34117"/>
                  <a:pt x="3400425" y="76202"/>
                </a:cubicBezTo>
                <a:lnTo>
                  <a:pt x="3400425" y="723898"/>
                </a:lnTo>
                <a:cubicBezTo>
                  <a:pt x="3400425" y="765983"/>
                  <a:pt x="3366308" y="800100"/>
                  <a:pt x="33242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30" name="Text 28"/>
          <p:cNvSpPr/>
          <p:nvPr/>
        </p:nvSpPr>
        <p:spPr>
          <a:xfrm>
            <a:off x="4451350" y="3543300"/>
            <a:ext cx="32861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65638" y="3848100"/>
            <a:ext cx="3257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(BMMS)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97375" y="4346575"/>
            <a:ext cx="3397250" cy="577850"/>
          </a:xfrm>
          <a:custGeom>
            <a:avLst/>
            <a:gdLst/>
            <a:ahLst/>
            <a:cxnLst/>
            <a:rect l="l" t="t" r="r" b="b"/>
            <a:pathLst>
              <a:path w="3397250" h="577850">
                <a:moveTo>
                  <a:pt x="76201" y="0"/>
                </a:moveTo>
                <a:lnTo>
                  <a:pt x="3321049" y="0"/>
                </a:lnTo>
                <a:cubicBezTo>
                  <a:pt x="3363134" y="0"/>
                  <a:pt x="3397250" y="34116"/>
                  <a:pt x="3397250" y="76201"/>
                </a:cubicBezTo>
                <a:lnTo>
                  <a:pt x="3397250" y="501649"/>
                </a:lnTo>
                <a:cubicBezTo>
                  <a:pt x="3397250" y="543734"/>
                  <a:pt x="3363134" y="577850"/>
                  <a:pt x="3321049" y="577850"/>
                </a:cubicBezTo>
                <a:lnTo>
                  <a:pt x="76201" y="577850"/>
                </a:lnTo>
                <a:cubicBezTo>
                  <a:pt x="34116" y="577850"/>
                  <a:pt x="0" y="543734"/>
                  <a:pt x="0" y="501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3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76750" y="4425953"/>
            <a:ext cx="3305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Photo Uploads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76750" y="4654553"/>
            <a:ext cx="3305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Visually document damages for clarity.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97375" y="5006977"/>
            <a:ext cx="3397250" cy="577850"/>
          </a:xfrm>
          <a:custGeom>
            <a:avLst/>
            <a:gdLst/>
            <a:ahLst/>
            <a:cxnLst/>
            <a:rect l="l" t="t" r="r" b="b"/>
            <a:pathLst>
              <a:path w="3397250" h="577850">
                <a:moveTo>
                  <a:pt x="76201" y="0"/>
                </a:moveTo>
                <a:lnTo>
                  <a:pt x="3321049" y="0"/>
                </a:lnTo>
                <a:cubicBezTo>
                  <a:pt x="3363134" y="0"/>
                  <a:pt x="3397250" y="34116"/>
                  <a:pt x="3397250" y="76201"/>
                </a:cubicBezTo>
                <a:lnTo>
                  <a:pt x="3397250" y="501649"/>
                </a:lnTo>
                <a:cubicBezTo>
                  <a:pt x="3397250" y="543734"/>
                  <a:pt x="3363134" y="577850"/>
                  <a:pt x="3321049" y="577850"/>
                </a:cubicBezTo>
                <a:lnTo>
                  <a:pt x="76201" y="577850"/>
                </a:lnTo>
                <a:cubicBezTo>
                  <a:pt x="34116" y="577850"/>
                  <a:pt x="0" y="543734"/>
                  <a:pt x="0" y="501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76750" y="5086350"/>
            <a:ext cx="3305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Status Tracking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76750" y="5314950"/>
            <a:ext cx="3305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progress visibility for users.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97375" y="5667378"/>
            <a:ext cx="3397250" cy="577850"/>
          </a:xfrm>
          <a:custGeom>
            <a:avLst/>
            <a:gdLst/>
            <a:ahLst/>
            <a:cxnLst/>
            <a:rect l="l" t="t" r="r" b="b"/>
            <a:pathLst>
              <a:path w="3397250" h="577850">
                <a:moveTo>
                  <a:pt x="76201" y="0"/>
                </a:moveTo>
                <a:lnTo>
                  <a:pt x="3321049" y="0"/>
                </a:lnTo>
                <a:cubicBezTo>
                  <a:pt x="3363134" y="0"/>
                  <a:pt x="3397250" y="34116"/>
                  <a:pt x="3397250" y="76201"/>
                </a:cubicBezTo>
                <a:lnTo>
                  <a:pt x="3397250" y="501649"/>
                </a:lnTo>
                <a:cubicBezTo>
                  <a:pt x="3397250" y="543734"/>
                  <a:pt x="3363134" y="577850"/>
                  <a:pt x="3321049" y="577850"/>
                </a:cubicBezTo>
                <a:lnTo>
                  <a:pt x="76201" y="577850"/>
                </a:lnTo>
                <a:cubicBezTo>
                  <a:pt x="34116" y="577850"/>
                  <a:pt x="0" y="543734"/>
                  <a:pt x="0" y="501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76750" y="5746752"/>
            <a:ext cx="3305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76750" y="5975352"/>
            <a:ext cx="3305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Instant alerts for status updates.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2600" y="2705100"/>
            <a:ext cx="3705225" cy="3771900"/>
          </a:xfrm>
          <a:custGeom>
            <a:avLst/>
            <a:gdLst/>
            <a:ahLst/>
            <a:cxnLst/>
            <a:rect l="l" t="t" r="r" b="b"/>
            <a:pathLst>
              <a:path w="3705225" h="3771900">
                <a:moveTo>
                  <a:pt x="76216" y="0"/>
                </a:moveTo>
                <a:lnTo>
                  <a:pt x="3629009" y="0"/>
                </a:lnTo>
                <a:cubicBezTo>
                  <a:pt x="3671102" y="0"/>
                  <a:pt x="3705225" y="34123"/>
                  <a:pt x="3705225" y="76216"/>
                </a:cubicBezTo>
                <a:lnTo>
                  <a:pt x="3705225" y="3695684"/>
                </a:lnTo>
                <a:cubicBezTo>
                  <a:pt x="3705225" y="3737777"/>
                  <a:pt x="3671102" y="3771900"/>
                  <a:pt x="3629009" y="3771900"/>
                </a:cubicBezTo>
                <a:lnTo>
                  <a:pt x="76216" y="3771900"/>
                </a:lnTo>
                <a:cubicBezTo>
                  <a:pt x="34123" y="3771900"/>
                  <a:pt x="0" y="3737777"/>
                  <a:pt x="0" y="3695684"/>
                </a:cubicBezTo>
                <a:lnTo>
                  <a:pt x="0" y="76216"/>
                </a:lnTo>
                <a:cubicBezTo>
                  <a:pt x="0" y="34151"/>
                  <a:pt x="34151" y="0"/>
                  <a:pt x="76216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312150" y="28765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43" name="Text 41"/>
          <p:cNvSpPr/>
          <p:nvPr/>
        </p:nvSpPr>
        <p:spPr>
          <a:xfrm>
            <a:off x="8655050" y="2857500"/>
            <a:ext cx="1628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Evaluation Criteria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74050" y="3238500"/>
            <a:ext cx="3381375" cy="952500"/>
          </a:xfrm>
          <a:custGeom>
            <a:avLst/>
            <a:gdLst/>
            <a:ahLst/>
            <a:cxnLst/>
            <a:rect l="l" t="t" r="r" b="b"/>
            <a:pathLst>
              <a:path w="3381375" h="952500">
                <a:moveTo>
                  <a:pt x="38100" y="0"/>
                </a:moveTo>
                <a:lnTo>
                  <a:pt x="3305175" y="0"/>
                </a:lnTo>
                <a:cubicBezTo>
                  <a:pt x="3347231" y="0"/>
                  <a:pt x="3381375" y="34144"/>
                  <a:pt x="3381375" y="76200"/>
                </a:cubicBezTo>
                <a:lnTo>
                  <a:pt x="3381375" y="876300"/>
                </a:lnTo>
                <a:cubicBezTo>
                  <a:pt x="3381375" y="918356"/>
                  <a:pt x="3347231" y="952500"/>
                  <a:pt x="3305175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8274050" y="32385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6" name="Shape 44"/>
          <p:cNvSpPr/>
          <p:nvPr/>
        </p:nvSpPr>
        <p:spPr>
          <a:xfrm>
            <a:off x="8426450" y="3390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7" name="Text 45"/>
          <p:cNvSpPr/>
          <p:nvPr/>
        </p:nvSpPr>
        <p:spPr>
          <a:xfrm>
            <a:off x="8597900" y="3352800"/>
            <a:ext cx="3019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28831" y="3695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9" name="Text 47"/>
          <p:cNvSpPr/>
          <p:nvPr/>
        </p:nvSpPr>
        <p:spPr>
          <a:xfrm>
            <a:off x="8626475" y="3657600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Intuitive interface design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28831" y="39243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1" name="Text 49"/>
          <p:cNvSpPr/>
          <p:nvPr/>
        </p:nvSpPr>
        <p:spPr>
          <a:xfrm>
            <a:off x="8626475" y="3886200"/>
            <a:ext cx="1371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Minimal learning curve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74050" y="4305300"/>
            <a:ext cx="3381375" cy="952500"/>
          </a:xfrm>
          <a:custGeom>
            <a:avLst/>
            <a:gdLst/>
            <a:ahLst/>
            <a:cxnLst/>
            <a:rect l="l" t="t" r="r" b="b"/>
            <a:pathLst>
              <a:path w="3381375" h="952500">
                <a:moveTo>
                  <a:pt x="38100" y="0"/>
                </a:moveTo>
                <a:lnTo>
                  <a:pt x="3305175" y="0"/>
                </a:lnTo>
                <a:cubicBezTo>
                  <a:pt x="3347231" y="0"/>
                  <a:pt x="3381375" y="34144"/>
                  <a:pt x="3381375" y="76200"/>
                </a:cubicBezTo>
                <a:lnTo>
                  <a:pt x="3381375" y="876300"/>
                </a:lnTo>
                <a:cubicBezTo>
                  <a:pt x="3381375" y="918356"/>
                  <a:pt x="3347231" y="952500"/>
                  <a:pt x="3305175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8274050" y="43053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4" name="Shape 52"/>
          <p:cNvSpPr/>
          <p:nvPr/>
        </p:nvSpPr>
        <p:spPr>
          <a:xfrm>
            <a:off x="8407400" y="44577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5" name="Text 53"/>
          <p:cNvSpPr/>
          <p:nvPr/>
        </p:nvSpPr>
        <p:spPr>
          <a:xfrm>
            <a:off x="8597900" y="4419600"/>
            <a:ext cx="3019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28831" y="47625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7" name="Text 55"/>
          <p:cNvSpPr/>
          <p:nvPr/>
        </p:nvSpPr>
        <p:spPr>
          <a:xfrm>
            <a:off x="8626475" y="4724400"/>
            <a:ext cx="155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28831" y="49911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9" name="Text 57"/>
          <p:cNvSpPr/>
          <p:nvPr/>
        </p:nvSpPr>
        <p:spPr>
          <a:xfrm>
            <a:off x="8626475" y="4953000"/>
            <a:ext cx="153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Maintenance &amp; scalability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800100" cy="266700"/>
          </a:xfrm>
          <a:custGeom>
            <a:avLst/>
            <a:gdLst/>
            <a:ahLst/>
            <a:cxnLst/>
            <a:rect l="l" t="t" r="r" b="b"/>
            <a:pathLst>
              <a:path w="800100" h="266700">
                <a:moveTo>
                  <a:pt x="133350" y="0"/>
                </a:moveTo>
                <a:lnTo>
                  <a:pt x="666750" y="0"/>
                </a:lnTo>
                <a:cubicBezTo>
                  <a:pt x="740348" y="0"/>
                  <a:pt x="800100" y="59752"/>
                  <a:pt x="800100" y="133350"/>
                </a:cubicBezTo>
                <a:lnTo>
                  <a:pt x="800100" y="133350"/>
                </a:lnTo>
                <a:cubicBezTo>
                  <a:pt x="800100" y="206948"/>
                  <a:pt x="740348" y="266700"/>
                  <a:pt x="6667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81000" y="381000"/>
            <a:ext cx="866775" cy="266700"/>
          </a:xfrm>
          <a:prstGeom prst="rect">
            <a:avLst/>
          </a:prstGeom>
          <a:noFill/>
        </p:spPr>
        <p:txBody>
          <a:bodyPr wrap="square" lIns="152400" tIns="38100" rIns="1524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3713" y="400050"/>
            <a:ext cx="1657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Thinking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772795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33500"/>
            <a:ext cx="8534400" cy="1409700"/>
          </a:xfrm>
          <a:custGeom>
            <a:avLst/>
            <a:gdLst/>
            <a:ahLst/>
            <a:cxnLst/>
            <a:rect l="l" t="t" r="r" b="b"/>
            <a:pathLst>
              <a:path w="8534400" h="1409700">
                <a:moveTo>
                  <a:pt x="76194" y="0"/>
                </a:moveTo>
                <a:lnTo>
                  <a:pt x="8458206" y="0"/>
                </a:lnTo>
                <a:cubicBezTo>
                  <a:pt x="8500258" y="0"/>
                  <a:pt x="8534400" y="34142"/>
                  <a:pt x="8534400" y="76194"/>
                </a:cubicBezTo>
                <a:lnTo>
                  <a:pt x="8534400" y="1333506"/>
                </a:lnTo>
                <a:cubicBezTo>
                  <a:pt x="8534400" y="1375587"/>
                  <a:pt x="8500287" y="1409700"/>
                  <a:pt x="8458206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1975" y="1524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0380" y="0"/>
                </a:moveTo>
                <a:cubicBezTo>
                  <a:pt x="188952" y="0"/>
                  <a:pt x="197168" y="3393"/>
                  <a:pt x="203195" y="9465"/>
                </a:cubicBezTo>
                <a:lnTo>
                  <a:pt x="219135" y="25405"/>
                </a:lnTo>
                <a:cubicBezTo>
                  <a:pt x="225207" y="31433"/>
                  <a:pt x="228600" y="39648"/>
                  <a:pt x="228600" y="48220"/>
                </a:cubicBezTo>
                <a:cubicBezTo>
                  <a:pt x="228600" y="56793"/>
                  <a:pt x="225207" y="65008"/>
                  <a:pt x="219135" y="71036"/>
                </a:cubicBezTo>
                <a:lnTo>
                  <a:pt x="199087" y="91083"/>
                </a:lnTo>
                <a:lnTo>
                  <a:pt x="137517" y="29513"/>
                </a:lnTo>
                <a:lnTo>
                  <a:pt x="157564" y="9465"/>
                </a:lnTo>
                <a:cubicBezTo>
                  <a:pt x="163592" y="3393"/>
                  <a:pt x="171807" y="0"/>
                  <a:pt x="180380" y="0"/>
                </a:cubicBezTo>
                <a:close/>
                <a:moveTo>
                  <a:pt x="26298" y="140687"/>
                </a:moveTo>
                <a:lnTo>
                  <a:pt x="122381" y="44648"/>
                </a:lnTo>
                <a:lnTo>
                  <a:pt x="183952" y="106219"/>
                </a:lnTo>
                <a:lnTo>
                  <a:pt x="87913" y="202302"/>
                </a:lnTo>
                <a:cubicBezTo>
                  <a:pt x="83135" y="207079"/>
                  <a:pt x="77153" y="210562"/>
                  <a:pt x="70634" y="212393"/>
                </a:cubicBezTo>
                <a:lnTo>
                  <a:pt x="13573" y="228198"/>
                </a:lnTo>
                <a:cubicBezTo>
                  <a:pt x="9867" y="229225"/>
                  <a:pt x="5849" y="228198"/>
                  <a:pt x="3125" y="225430"/>
                </a:cubicBezTo>
                <a:cubicBezTo>
                  <a:pt x="402" y="222662"/>
                  <a:pt x="-670" y="218688"/>
                  <a:pt x="357" y="214982"/>
                </a:cubicBezTo>
                <a:lnTo>
                  <a:pt x="16252" y="157966"/>
                </a:lnTo>
                <a:cubicBezTo>
                  <a:pt x="18083" y="151448"/>
                  <a:pt x="21521" y="145509"/>
                  <a:pt x="26343" y="140687"/>
                </a:cubicBezTo>
                <a:close/>
                <a:moveTo>
                  <a:pt x="100638" y="36076"/>
                </a:moveTo>
                <a:lnTo>
                  <a:pt x="36076" y="100638"/>
                </a:lnTo>
                <a:lnTo>
                  <a:pt x="5224" y="69786"/>
                </a:lnTo>
                <a:cubicBezTo>
                  <a:pt x="-1741" y="62820"/>
                  <a:pt x="-1741" y="51524"/>
                  <a:pt x="5224" y="44514"/>
                </a:cubicBezTo>
                <a:lnTo>
                  <a:pt x="44514" y="5224"/>
                </a:lnTo>
                <a:cubicBezTo>
                  <a:pt x="51480" y="-1741"/>
                  <a:pt x="62776" y="-1741"/>
                  <a:pt x="69786" y="5224"/>
                </a:cubicBezTo>
                <a:lnTo>
                  <a:pt x="72420" y="7858"/>
                </a:lnTo>
                <a:lnTo>
                  <a:pt x="47283" y="32995"/>
                </a:lnTo>
                <a:cubicBezTo>
                  <a:pt x="43800" y="36478"/>
                  <a:pt x="43800" y="42148"/>
                  <a:pt x="47283" y="45631"/>
                </a:cubicBezTo>
                <a:cubicBezTo>
                  <a:pt x="50765" y="49113"/>
                  <a:pt x="56436" y="49113"/>
                  <a:pt x="59918" y="45631"/>
                </a:cubicBezTo>
                <a:lnTo>
                  <a:pt x="85055" y="20494"/>
                </a:lnTo>
                <a:lnTo>
                  <a:pt x="100638" y="36076"/>
                </a:lnTo>
                <a:close/>
                <a:moveTo>
                  <a:pt x="192524" y="127962"/>
                </a:moveTo>
                <a:lnTo>
                  <a:pt x="208106" y="143545"/>
                </a:lnTo>
                <a:lnTo>
                  <a:pt x="182969" y="168682"/>
                </a:lnTo>
                <a:cubicBezTo>
                  <a:pt x="179487" y="172164"/>
                  <a:pt x="179487" y="177835"/>
                  <a:pt x="182969" y="181317"/>
                </a:cubicBezTo>
                <a:cubicBezTo>
                  <a:pt x="186452" y="184800"/>
                  <a:pt x="192122" y="184800"/>
                  <a:pt x="195605" y="181317"/>
                </a:cubicBezTo>
                <a:lnTo>
                  <a:pt x="220742" y="156180"/>
                </a:lnTo>
                <a:lnTo>
                  <a:pt x="223376" y="158814"/>
                </a:lnTo>
                <a:cubicBezTo>
                  <a:pt x="230341" y="165780"/>
                  <a:pt x="230341" y="177076"/>
                  <a:pt x="223376" y="184086"/>
                </a:cubicBezTo>
                <a:lnTo>
                  <a:pt x="184086" y="223376"/>
                </a:lnTo>
                <a:cubicBezTo>
                  <a:pt x="177120" y="230341"/>
                  <a:pt x="165824" y="230341"/>
                  <a:pt x="158814" y="223376"/>
                </a:cubicBezTo>
                <a:lnTo>
                  <a:pt x="127962" y="192524"/>
                </a:lnTo>
                <a:lnTo>
                  <a:pt x="192524" y="127962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8" name="Text 6"/>
          <p:cNvSpPr/>
          <p:nvPr/>
        </p:nvSpPr>
        <p:spPr>
          <a:xfrm>
            <a:off x="933450" y="1485900"/>
            <a:ext cx="29622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Prototype Tools &amp; Approach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2450" y="1905000"/>
            <a:ext cx="4019550" cy="685800"/>
          </a:xfrm>
          <a:custGeom>
            <a:avLst/>
            <a:gdLst/>
            <a:ahLst/>
            <a:cxnLst/>
            <a:rect l="l" t="t" r="r" b="b"/>
            <a:pathLst>
              <a:path w="4019550" h="685800">
                <a:moveTo>
                  <a:pt x="38100" y="0"/>
                </a:moveTo>
                <a:lnTo>
                  <a:pt x="3943351" y="0"/>
                </a:lnTo>
                <a:cubicBezTo>
                  <a:pt x="3985434" y="0"/>
                  <a:pt x="4019550" y="34116"/>
                  <a:pt x="4019550" y="76199"/>
                </a:cubicBezTo>
                <a:lnTo>
                  <a:pt x="4019550" y="609601"/>
                </a:lnTo>
                <a:cubicBezTo>
                  <a:pt x="4019550" y="651684"/>
                  <a:pt x="3985434" y="685800"/>
                  <a:pt x="39433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52450" y="19050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1" name="Text 9"/>
          <p:cNvSpPr/>
          <p:nvPr/>
        </p:nvSpPr>
        <p:spPr>
          <a:xfrm>
            <a:off x="685800" y="2019300"/>
            <a:ext cx="3848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UI Design Software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3838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For high-fidelity interactive mockups.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43450" y="1905000"/>
            <a:ext cx="4019550" cy="685800"/>
          </a:xfrm>
          <a:custGeom>
            <a:avLst/>
            <a:gdLst/>
            <a:ahLst/>
            <a:cxnLst/>
            <a:rect l="l" t="t" r="r" b="b"/>
            <a:pathLst>
              <a:path w="4019550" h="685800">
                <a:moveTo>
                  <a:pt x="38100" y="0"/>
                </a:moveTo>
                <a:lnTo>
                  <a:pt x="3943351" y="0"/>
                </a:lnTo>
                <a:cubicBezTo>
                  <a:pt x="3985434" y="0"/>
                  <a:pt x="4019550" y="34116"/>
                  <a:pt x="4019550" y="76199"/>
                </a:cubicBezTo>
                <a:lnTo>
                  <a:pt x="4019550" y="609601"/>
                </a:lnTo>
                <a:cubicBezTo>
                  <a:pt x="4019550" y="651684"/>
                  <a:pt x="3985434" y="685800"/>
                  <a:pt x="394335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4743450" y="19050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5" name="Text 13"/>
          <p:cNvSpPr/>
          <p:nvPr/>
        </p:nvSpPr>
        <p:spPr>
          <a:xfrm>
            <a:off x="4876800" y="2019300"/>
            <a:ext cx="3848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Hand-drawn Sketches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76800" y="2286000"/>
            <a:ext cx="3838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For rapid ideation and layout testing.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000" y="2914650"/>
            <a:ext cx="2743200" cy="3562350"/>
          </a:xfrm>
          <a:custGeom>
            <a:avLst/>
            <a:gdLst/>
            <a:ahLst/>
            <a:cxnLst/>
            <a:rect l="l" t="t" r="r" b="b"/>
            <a:pathLst>
              <a:path w="2743200" h="35623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486144"/>
                </a:lnTo>
                <a:cubicBezTo>
                  <a:pt x="2743200" y="3528231"/>
                  <a:pt x="2709081" y="3562350"/>
                  <a:pt x="2666994" y="3562350"/>
                </a:cubicBezTo>
                <a:lnTo>
                  <a:pt x="76206" y="3562350"/>
                </a:lnTo>
                <a:cubicBezTo>
                  <a:pt x="34119" y="3562350"/>
                  <a:pt x="0" y="3528231"/>
                  <a:pt x="0" y="34861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1000" y="2914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9" name="Shape 17"/>
          <p:cNvSpPr/>
          <p:nvPr/>
        </p:nvSpPr>
        <p:spPr>
          <a:xfrm>
            <a:off x="533400" y="3086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0" name="Text 18"/>
          <p:cNvSpPr/>
          <p:nvPr/>
        </p:nvSpPr>
        <p:spPr>
          <a:xfrm>
            <a:off x="696714" y="3143250"/>
            <a:ext cx="142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3143250"/>
            <a:ext cx="923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Login Page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6106" y="59150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5" name="Text 23"/>
          <p:cNvSpPr/>
          <p:nvPr/>
        </p:nvSpPr>
        <p:spPr>
          <a:xfrm>
            <a:off x="752475" y="5788660"/>
            <a:ext cx="2286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Role-based access: Students &amp; Maintenance Staff</a:t>
            </a:r>
          </a:p>
        </p:txBody>
      </p:sp>
      <p:sp>
        <p:nvSpPr>
          <p:cNvPr id="26" name="Shape 24"/>
          <p:cNvSpPr/>
          <p:nvPr/>
        </p:nvSpPr>
        <p:spPr>
          <a:xfrm>
            <a:off x="596106" y="625221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7" name="Text 25"/>
          <p:cNvSpPr/>
          <p:nvPr/>
        </p:nvSpPr>
        <p:spPr>
          <a:xfrm>
            <a:off x="752475" y="6203950"/>
            <a:ext cx="13144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Secure authentication</a:t>
            </a:r>
          </a:p>
        </p:txBody>
      </p:sp>
      <p:sp>
        <p:nvSpPr>
          <p:cNvPr id="28" name="Shape 26"/>
          <p:cNvSpPr/>
          <p:nvPr/>
        </p:nvSpPr>
        <p:spPr>
          <a:xfrm>
            <a:off x="3276600" y="2914650"/>
            <a:ext cx="2743200" cy="3562350"/>
          </a:xfrm>
          <a:custGeom>
            <a:avLst/>
            <a:gdLst/>
            <a:ahLst/>
            <a:cxnLst/>
            <a:rect l="l" t="t" r="r" b="b"/>
            <a:pathLst>
              <a:path w="2743200" h="35623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486144"/>
                </a:lnTo>
                <a:cubicBezTo>
                  <a:pt x="2743200" y="3528231"/>
                  <a:pt x="2709081" y="3562350"/>
                  <a:pt x="2666994" y="3562350"/>
                </a:cubicBezTo>
                <a:lnTo>
                  <a:pt x="76206" y="3562350"/>
                </a:lnTo>
                <a:cubicBezTo>
                  <a:pt x="34119" y="3562350"/>
                  <a:pt x="0" y="3528231"/>
                  <a:pt x="0" y="34861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76600" y="2914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0" name="Shape 28"/>
          <p:cNvSpPr/>
          <p:nvPr/>
        </p:nvSpPr>
        <p:spPr>
          <a:xfrm>
            <a:off x="3429000" y="3086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1" name="Text 29"/>
          <p:cNvSpPr/>
          <p:nvPr/>
        </p:nvSpPr>
        <p:spPr>
          <a:xfrm>
            <a:off x="3575844" y="3143250"/>
            <a:ext cx="171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886200" y="3143250"/>
            <a:ext cx="1009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Report Page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27571" y="59080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6" name="Text 34"/>
          <p:cNvSpPr/>
          <p:nvPr/>
        </p:nvSpPr>
        <p:spPr>
          <a:xfrm>
            <a:off x="3648075" y="5867400"/>
            <a:ext cx="1943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Photo upload</a:t>
            </a:r>
            <a:r>
              <a:rPr lang="en-US" sz="10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for visual evidence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426936" y="60896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8" name="Text 36"/>
          <p:cNvSpPr/>
          <p:nvPr/>
        </p:nvSpPr>
        <p:spPr>
          <a:xfrm>
            <a:off x="3648075" y="6057900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Text description</a:t>
            </a:r>
            <a:r>
              <a:rPr lang="en-US" sz="10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field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28841" y="62801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40" name="Text 38"/>
          <p:cNvSpPr/>
          <p:nvPr/>
        </p:nvSpPr>
        <p:spPr>
          <a:xfrm>
            <a:off x="3648075" y="6248400"/>
            <a:ext cx="19431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Location selection</a:t>
            </a:r>
            <a:r>
              <a:rPr lang="en-US" sz="10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(hostel/room)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2200" y="2914650"/>
            <a:ext cx="2743200" cy="3562350"/>
          </a:xfrm>
          <a:custGeom>
            <a:avLst/>
            <a:gdLst/>
            <a:ahLst/>
            <a:cxnLst/>
            <a:rect l="l" t="t" r="r" b="b"/>
            <a:pathLst>
              <a:path w="2743200" h="35623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486144"/>
                </a:lnTo>
                <a:cubicBezTo>
                  <a:pt x="2743200" y="3528231"/>
                  <a:pt x="2709081" y="3562350"/>
                  <a:pt x="2666994" y="3562350"/>
                </a:cubicBezTo>
                <a:lnTo>
                  <a:pt x="76206" y="3562350"/>
                </a:lnTo>
                <a:cubicBezTo>
                  <a:pt x="34119" y="3562350"/>
                  <a:pt x="0" y="3528231"/>
                  <a:pt x="0" y="34861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2914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3" name="Shape 41"/>
          <p:cNvSpPr/>
          <p:nvPr/>
        </p:nvSpPr>
        <p:spPr>
          <a:xfrm>
            <a:off x="6324600" y="3086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4" name="Text 42"/>
          <p:cNvSpPr/>
          <p:nvPr/>
        </p:nvSpPr>
        <p:spPr>
          <a:xfrm>
            <a:off x="6469162" y="3143250"/>
            <a:ext cx="180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81800" y="3143250"/>
            <a:ext cx="990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Status Page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549866" y="60293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9" name="Text 47"/>
          <p:cNvSpPr/>
          <p:nvPr/>
        </p:nvSpPr>
        <p:spPr>
          <a:xfrm>
            <a:off x="6705600" y="5979160"/>
            <a:ext cx="19812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Displays all reports</a:t>
            </a:r>
            <a:r>
              <a:rPr lang="en-US" sz="105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with progress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549866" y="625221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1" name="Text 49"/>
          <p:cNvSpPr/>
          <p:nvPr/>
        </p:nvSpPr>
        <p:spPr>
          <a:xfrm>
            <a:off x="6705600" y="6203950"/>
            <a:ext cx="1419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Filter by status/location</a:t>
            </a:r>
          </a:p>
        </p:txBody>
      </p:sp>
      <p:sp>
        <p:nvSpPr>
          <p:cNvPr id="52" name="Shape 50"/>
          <p:cNvSpPr/>
          <p:nvPr/>
        </p:nvSpPr>
        <p:spPr>
          <a:xfrm>
            <a:off x="9067800" y="1352550"/>
            <a:ext cx="2743200" cy="5124450"/>
          </a:xfrm>
          <a:custGeom>
            <a:avLst/>
            <a:gdLst/>
            <a:ahLst/>
            <a:cxnLst/>
            <a:rect l="l" t="t" r="r" b="b"/>
            <a:pathLst>
              <a:path w="2743200" h="51244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5048244"/>
                </a:lnTo>
                <a:cubicBezTo>
                  <a:pt x="2743200" y="5090331"/>
                  <a:pt x="2709081" y="5124450"/>
                  <a:pt x="2666994" y="5124450"/>
                </a:cubicBezTo>
                <a:lnTo>
                  <a:pt x="76206" y="5124450"/>
                </a:lnTo>
                <a:cubicBezTo>
                  <a:pt x="34119" y="5124450"/>
                  <a:pt x="0" y="5090331"/>
                  <a:pt x="0" y="50482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9067800" y="13525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4" name="Shape 52"/>
          <p:cNvSpPr/>
          <p:nvPr/>
        </p:nvSpPr>
        <p:spPr>
          <a:xfrm>
            <a:off x="9255919" y="15621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5" name="Text 53"/>
          <p:cNvSpPr/>
          <p:nvPr/>
        </p:nvSpPr>
        <p:spPr>
          <a:xfrm>
            <a:off x="9458325" y="1524000"/>
            <a:ext cx="2295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App Interface Mockup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220200" y="1905000"/>
            <a:ext cx="2438400" cy="4152900"/>
          </a:xfrm>
          <a:custGeom>
            <a:avLst/>
            <a:gdLst/>
            <a:ahLst/>
            <a:cxnLst/>
            <a:rect l="l" t="t" r="r" b="b"/>
            <a:pathLst>
              <a:path w="2438400" h="4152900">
                <a:moveTo>
                  <a:pt x="76200" y="0"/>
                </a:moveTo>
                <a:lnTo>
                  <a:pt x="2362200" y="0"/>
                </a:lnTo>
                <a:cubicBezTo>
                  <a:pt x="2404256" y="0"/>
                  <a:pt x="2438400" y="34144"/>
                  <a:pt x="2438400" y="76200"/>
                </a:cubicBezTo>
                <a:lnTo>
                  <a:pt x="2438400" y="4076700"/>
                </a:lnTo>
                <a:cubicBezTo>
                  <a:pt x="2438400" y="4118756"/>
                  <a:pt x="2404256" y="4152900"/>
                  <a:pt x="2362200" y="4152900"/>
                </a:cubicBezTo>
                <a:lnTo>
                  <a:pt x="76200" y="4152900"/>
                </a:lnTo>
                <a:cubicBezTo>
                  <a:pt x="34144" y="4152900"/>
                  <a:pt x="0" y="4118756"/>
                  <a:pt x="0" y="40767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186863" y="6141085"/>
            <a:ext cx="2505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Sample mobile app interface design</a:t>
            </a:r>
          </a:p>
        </p:txBody>
      </p:sp>
      <p:pic>
        <p:nvPicPr>
          <p:cNvPr id="65" name="Image 0" descr="https://kimi-img.moonshot.cn/pub/slides/26-01-10-23:41:39-d5h76cug0jb5uqqvctmg.png"/>
          <p:cNvPicPr>
            <a:picLocks noChangeAspect="1"/>
          </p:cNvPicPr>
          <p:nvPr/>
        </p:nvPicPr>
        <p:blipFill>
          <a:blip r:embed="rId3"/>
          <a:srcRect l="32563" t="27059" r="32458" b="16776"/>
          <a:stretch>
            <a:fillRect/>
          </a:stretch>
        </p:blipFill>
        <p:spPr>
          <a:xfrm>
            <a:off x="933450" y="3409950"/>
            <a:ext cx="1617980" cy="2411095"/>
          </a:xfrm>
          <a:prstGeom prst="rect">
            <a:avLst/>
          </a:prstGeom>
        </p:spPr>
      </p:pic>
      <p:pic>
        <p:nvPicPr>
          <p:cNvPr id="67" name="图片 66" descr="tis2"/>
          <p:cNvPicPr>
            <a:picLocks noChangeAspect="1"/>
          </p:cNvPicPr>
          <p:nvPr/>
        </p:nvPicPr>
        <p:blipFill>
          <a:blip r:embed="rId4"/>
          <a:srcRect l="26114" t="15415" r="30571" b="32703"/>
          <a:stretch>
            <a:fillRect/>
          </a:stretch>
        </p:blipFill>
        <p:spPr>
          <a:xfrm>
            <a:off x="3747135" y="3470910"/>
            <a:ext cx="1713230" cy="2406015"/>
          </a:xfrm>
          <a:prstGeom prst="rect">
            <a:avLst/>
          </a:prstGeom>
        </p:spPr>
      </p:pic>
      <p:pic>
        <p:nvPicPr>
          <p:cNvPr id="68" name="图片 67" descr="tis3"/>
          <p:cNvPicPr>
            <a:picLocks noChangeAspect="1"/>
          </p:cNvPicPr>
          <p:nvPr/>
        </p:nvPicPr>
        <p:blipFill>
          <a:blip r:embed="rId5"/>
          <a:srcRect l="17732" t="7100" r="20960" b="29463"/>
          <a:stretch>
            <a:fillRect/>
          </a:stretch>
        </p:blipFill>
        <p:spPr>
          <a:xfrm>
            <a:off x="6781800" y="3409950"/>
            <a:ext cx="1679575" cy="2510790"/>
          </a:xfrm>
          <a:prstGeom prst="rect">
            <a:avLst/>
          </a:prstGeom>
        </p:spPr>
      </p:pic>
      <p:pic>
        <p:nvPicPr>
          <p:cNvPr id="69" name="图片 68" descr="根据图片生成 App 界面截图"/>
          <p:cNvPicPr>
            <a:picLocks noChangeAspect="1"/>
          </p:cNvPicPr>
          <p:nvPr/>
        </p:nvPicPr>
        <p:blipFill>
          <a:blip r:embed="rId6"/>
          <a:srcRect l="21309" t="7148" r="20741" b="8519"/>
          <a:stretch>
            <a:fillRect/>
          </a:stretch>
        </p:blipFill>
        <p:spPr>
          <a:xfrm>
            <a:off x="9387205" y="1898015"/>
            <a:ext cx="2103755" cy="41592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8617" y="368617"/>
            <a:ext cx="774095" cy="258032"/>
          </a:xfrm>
          <a:custGeom>
            <a:avLst/>
            <a:gdLst/>
            <a:ahLst/>
            <a:cxnLst/>
            <a:rect l="l" t="t" r="r" b="b"/>
            <a:pathLst>
              <a:path w="774095" h="258032">
                <a:moveTo>
                  <a:pt x="129016" y="0"/>
                </a:moveTo>
                <a:lnTo>
                  <a:pt x="645079" y="0"/>
                </a:lnTo>
                <a:cubicBezTo>
                  <a:pt x="716285" y="0"/>
                  <a:pt x="774095" y="57810"/>
                  <a:pt x="774095" y="129016"/>
                </a:cubicBezTo>
                <a:lnTo>
                  <a:pt x="774095" y="129016"/>
                </a:lnTo>
                <a:cubicBezTo>
                  <a:pt x="774095" y="200222"/>
                  <a:pt x="716285" y="258032"/>
                  <a:pt x="645079" y="258032"/>
                </a:cubicBezTo>
                <a:lnTo>
                  <a:pt x="129016" y="258032"/>
                </a:lnTo>
                <a:cubicBezTo>
                  <a:pt x="57810" y="258032"/>
                  <a:pt x="0" y="200222"/>
                  <a:pt x="0" y="129016"/>
                </a:cubicBezTo>
                <a:lnTo>
                  <a:pt x="0" y="129016"/>
                </a:lnTo>
                <a:cubicBezTo>
                  <a:pt x="0" y="57810"/>
                  <a:pt x="57810" y="0"/>
                  <a:pt x="129016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68617" y="368617"/>
            <a:ext cx="838603" cy="258032"/>
          </a:xfrm>
          <a:prstGeom prst="rect">
            <a:avLst/>
          </a:prstGeom>
          <a:noFill/>
        </p:spPr>
        <p:txBody>
          <a:bodyPr wrap="square" lIns="147447" tIns="36862" rIns="147447" bIns="36862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55505" y="387048"/>
            <a:ext cx="1603483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Thinking Process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8617" y="749267"/>
            <a:ext cx="11675937" cy="442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5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617" y="1290159"/>
            <a:ext cx="5649052" cy="1953669"/>
          </a:xfrm>
          <a:custGeom>
            <a:avLst/>
            <a:gdLst/>
            <a:ahLst/>
            <a:cxnLst/>
            <a:rect l="l" t="t" r="r" b="b"/>
            <a:pathLst>
              <a:path w="5649052" h="1953669">
                <a:moveTo>
                  <a:pt x="73731" y="0"/>
                </a:moveTo>
                <a:lnTo>
                  <a:pt x="5575321" y="0"/>
                </a:lnTo>
                <a:cubicBezTo>
                  <a:pt x="5616041" y="0"/>
                  <a:pt x="5649052" y="33011"/>
                  <a:pt x="5649052" y="73731"/>
                </a:cubicBezTo>
                <a:lnTo>
                  <a:pt x="5649052" y="1879937"/>
                </a:lnTo>
                <a:cubicBezTo>
                  <a:pt x="5649052" y="1920658"/>
                  <a:pt x="5616041" y="1953669"/>
                  <a:pt x="5575321" y="1953669"/>
                </a:cubicBezTo>
                <a:lnTo>
                  <a:pt x="73731" y="1953669"/>
                </a:lnTo>
                <a:cubicBezTo>
                  <a:pt x="33038" y="1953669"/>
                  <a:pt x="0" y="1920631"/>
                  <a:pt x="0" y="1879937"/>
                </a:cubicBezTo>
                <a:lnTo>
                  <a:pt x="0" y="73731"/>
                </a:lnTo>
                <a:cubicBezTo>
                  <a:pt x="0" y="33038"/>
                  <a:pt x="33038" y="0"/>
                  <a:pt x="73731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38231" dist="9215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6063" y="1474467"/>
            <a:ext cx="276463" cy="221170"/>
          </a:xfrm>
          <a:custGeom>
            <a:avLst/>
            <a:gdLst/>
            <a:ahLst/>
            <a:cxnLst/>
            <a:rect l="l" t="t" r="r" b="b"/>
            <a:pathLst>
              <a:path w="276463" h="221170">
                <a:moveTo>
                  <a:pt x="138231" y="6912"/>
                </a:moveTo>
                <a:cubicBezTo>
                  <a:pt x="163026" y="6912"/>
                  <a:pt x="183156" y="27042"/>
                  <a:pt x="183156" y="51837"/>
                </a:cubicBezTo>
                <a:cubicBezTo>
                  <a:pt x="183156" y="76632"/>
                  <a:pt x="163026" y="96762"/>
                  <a:pt x="138231" y="96762"/>
                </a:cubicBezTo>
                <a:cubicBezTo>
                  <a:pt x="113436" y="96762"/>
                  <a:pt x="93306" y="76632"/>
                  <a:pt x="93306" y="51837"/>
                </a:cubicBezTo>
                <a:cubicBezTo>
                  <a:pt x="93306" y="27042"/>
                  <a:pt x="113436" y="6912"/>
                  <a:pt x="138231" y="6912"/>
                </a:cubicBezTo>
                <a:close/>
                <a:moveTo>
                  <a:pt x="41469" y="38014"/>
                </a:moveTo>
                <a:cubicBezTo>
                  <a:pt x="58635" y="38014"/>
                  <a:pt x="72571" y="51950"/>
                  <a:pt x="72571" y="69116"/>
                </a:cubicBezTo>
                <a:cubicBezTo>
                  <a:pt x="72571" y="86281"/>
                  <a:pt x="58635" y="100218"/>
                  <a:pt x="41469" y="100218"/>
                </a:cubicBezTo>
                <a:cubicBezTo>
                  <a:pt x="24304" y="100218"/>
                  <a:pt x="10367" y="86281"/>
                  <a:pt x="10367" y="69116"/>
                </a:cubicBezTo>
                <a:cubicBezTo>
                  <a:pt x="10367" y="51950"/>
                  <a:pt x="24304" y="38014"/>
                  <a:pt x="41469" y="38014"/>
                </a:cubicBezTo>
                <a:close/>
                <a:moveTo>
                  <a:pt x="0" y="179701"/>
                </a:moveTo>
                <a:cubicBezTo>
                  <a:pt x="0" y="149160"/>
                  <a:pt x="24752" y="124408"/>
                  <a:pt x="55293" y="124408"/>
                </a:cubicBezTo>
                <a:cubicBezTo>
                  <a:pt x="60822" y="124408"/>
                  <a:pt x="66178" y="125229"/>
                  <a:pt x="71232" y="126741"/>
                </a:cubicBezTo>
                <a:cubicBezTo>
                  <a:pt x="57020" y="142637"/>
                  <a:pt x="48381" y="163631"/>
                  <a:pt x="48381" y="186612"/>
                </a:cubicBezTo>
                <a:lnTo>
                  <a:pt x="48381" y="193524"/>
                </a:lnTo>
                <a:cubicBezTo>
                  <a:pt x="48381" y="198448"/>
                  <a:pt x="49418" y="203114"/>
                  <a:pt x="51275" y="207347"/>
                </a:cubicBezTo>
                <a:lnTo>
                  <a:pt x="13823" y="207347"/>
                </a:lnTo>
                <a:cubicBezTo>
                  <a:pt x="6177" y="207347"/>
                  <a:pt x="0" y="201170"/>
                  <a:pt x="0" y="193524"/>
                </a:cubicBezTo>
                <a:lnTo>
                  <a:pt x="0" y="179701"/>
                </a:lnTo>
                <a:close/>
                <a:moveTo>
                  <a:pt x="225187" y="207347"/>
                </a:moveTo>
                <a:cubicBezTo>
                  <a:pt x="227045" y="203114"/>
                  <a:pt x="228082" y="198448"/>
                  <a:pt x="228082" y="193524"/>
                </a:cubicBezTo>
                <a:lnTo>
                  <a:pt x="228082" y="186612"/>
                </a:lnTo>
                <a:cubicBezTo>
                  <a:pt x="228082" y="163631"/>
                  <a:pt x="219442" y="142637"/>
                  <a:pt x="205230" y="126741"/>
                </a:cubicBezTo>
                <a:cubicBezTo>
                  <a:pt x="210284" y="125229"/>
                  <a:pt x="215641" y="124408"/>
                  <a:pt x="221170" y="124408"/>
                </a:cubicBezTo>
                <a:cubicBezTo>
                  <a:pt x="251711" y="124408"/>
                  <a:pt x="276463" y="149160"/>
                  <a:pt x="276463" y="179701"/>
                </a:cubicBezTo>
                <a:lnTo>
                  <a:pt x="276463" y="193524"/>
                </a:lnTo>
                <a:cubicBezTo>
                  <a:pt x="276463" y="201170"/>
                  <a:pt x="270285" y="207347"/>
                  <a:pt x="262639" y="207347"/>
                </a:cubicBezTo>
                <a:lnTo>
                  <a:pt x="225187" y="207347"/>
                </a:lnTo>
                <a:close/>
                <a:moveTo>
                  <a:pt x="203891" y="69116"/>
                </a:moveTo>
                <a:cubicBezTo>
                  <a:pt x="203891" y="51950"/>
                  <a:pt x="217828" y="38014"/>
                  <a:pt x="234993" y="38014"/>
                </a:cubicBezTo>
                <a:cubicBezTo>
                  <a:pt x="252159" y="38014"/>
                  <a:pt x="266095" y="51950"/>
                  <a:pt x="266095" y="69116"/>
                </a:cubicBezTo>
                <a:cubicBezTo>
                  <a:pt x="266095" y="86281"/>
                  <a:pt x="252159" y="100218"/>
                  <a:pt x="234993" y="100218"/>
                </a:cubicBezTo>
                <a:cubicBezTo>
                  <a:pt x="217828" y="100218"/>
                  <a:pt x="203891" y="86281"/>
                  <a:pt x="203891" y="69116"/>
                </a:cubicBezTo>
                <a:close/>
                <a:moveTo>
                  <a:pt x="69116" y="186612"/>
                </a:moveTo>
                <a:cubicBezTo>
                  <a:pt x="69116" y="148426"/>
                  <a:pt x="100045" y="117497"/>
                  <a:pt x="138231" y="117497"/>
                </a:cubicBezTo>
                <a:cubicBezTo>
                  <a:pt x="176418" y="117497"/>
                  <a:pt x="207347" y="148426"/>
                  <a:pt x="207347" y="186612"/>
                </a:cubicBezTo>
                <a:lnTo>
                  <a:pt x="207347" y="193524"/>
                </a:lnTo>
                <a:cubicBezTo>
                  <a:pt x="207347" y="201170"/>
                  <a:pt x="201170" y="207347"/>
                  <a:pt x="193524" y="207347"/>
                </a:cubicBezTo>
                <a:lnTo>
                  <a:pt x="82939" y="207347"/>
                </a:lnTo>
                <a:cubicBezTo>
                  <a:pt x="75293" y="207347"/>
                  <a:pt x="69116" y="201170"/>
                  <a:pt x="69116" y="193524"/>
                </a:cubicBezTo>
                <a:lnTo>
                  <a:pt x="69116" y="186612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8" name="Text 6"/>
          <p:cNvSpPr/>
          <p:nvPr/>
        </p:nvSpPr>
        <p:spPr>
          <a:xfrm>
            <a:off x="903111" y="1437605"/>
            <a:ext cx="1760145" cy="2948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Test Participants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4494" y="1843084"/>
            <a:ext cx="2589533" cy="1253297"/>
          </a:xfrm>
          <a:custGeom>
            <a:avLst/>
            <a:gdLst/>
            <a:ahLst/>
            <a:cxnLst/>
            <a:rect l="l" t="t" r="r" b="b"/>
            <a:pathLst>
              <a:path w="2589533" h="1253297">
                <a:moveTo>
                  <a:pt x="36862" y="0"/>
                </a:moveTo>
                <a:lnTo>
                  <a:pt x="2515814" y="0"/>
                </a:lnTo>
                <a:cubicBezTo>
                  <a:pt x="2556528" y="0"/>
                  <a:pt x="2589533" y="33005"/>
                  <a:pt x="2589533" y="73719"/>
                </a:cubicBezTo>
                <a:lnTo>
                  <a:pt x="2589533" y="1179578"/>
                </a:lnTo>
                <a:cubicBezTo>
                  <a:pt x="2589533" y="1220292"/>
                  <a:pt x="2556528" y="1253297"/>
                  <a:pt x="2515814" y="1253297"/>
                </a:cubicBezTo>
                <a:lnTo>
                  <a:pt x="36862" y="1253297"/>
                </a:lnTo>
                <a:cubicBezTo>
                  <a:pt x="16504" y="1253297"/>
                  <a:pt x="0" y="1236794"/>
                  <a:pt x="0" y="121643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34494" y="1843084"/>
            <a:ext cx="36862" cy="1253297"/>
          </a:xfrm>
          <a:custGeom>
            <a:avLst/>
            <a:gdLst/>
            <a:ahLst/>
            <a:cxnLst/>
            <a:rect l="l" t="t" r="r" b="b"/>
            <a:pathLst>
              <a:path w="36862" h="1253297">
                <a:moveTo>
                  <a:pt x="36862" y="0"/>
                </a:moveTo>
                <a:lnTo>
                  <a:pt x="36862" y="0"/>
                </a:lnTo>
                <a:lnTo>
                  <a:pt x="36862" y="1253297"/>
                </a:lnTo>
                <a:lnTo>
                  <a:pt x="36862" y="1253297"/>
                </a:lnTo>
                <a:cubicBezTo>
                  <a:pt x="16504" y="1253297"/>
                  <a:pt x="0" y="1236794"/>
                  <a:pt x="0" y="1216435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1" name="Text 9"/>
          <p:cNvSpPr/>
          <p:nvPr/>
        </p:nvSpPr>
        <p:spPr>
          <a:xfrm>
            <a:off x="580571" y="1953669"/>
            <a:ext cx="2515810" cy="368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649" y="2359147"/>
            <a:ext cx="2423655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UTM Hostel Students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1256" y="2617179"/>
            <a:ext cx="2414440" cy="368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dirty="0">
                <a:solidFill>
                  <a:srgbClr val="F8F8F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Active residents with recent maintenance requests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68402" y="1843084"/>
            <a:ext cx="2607964" cy="1253297"/>
          </a:xfrm>
          <a:custGeom>
            <a:avLst/>
            <a:gdLst/>
            <a:ahLst/>
            <a:cxnLst/>
            <a:rect l="l" t="t" r="r" b="b"/>
            <a:pathLst>
              <a:path w="2607964" h="1253297">
                <a:moveTo>
                  <a:pt x="73719" y="0"/>
                </a:moveTo>
                <a:lnTo>
                  <a:pt x="2534245" y="0"/>
                </a:lnTo>
                <a:cubicBezTo>
                  <a:pt x="2574959" y="0"/>
                  <a:pt x="2607964" y="33005"/>
                  <a:pt x="2607964" y="73719"/>
                </a:cubicBezTo>
                <a:lnTo>
                  <a:pt x="2607964" y="1179578"/>
                </a:lnTo>
                <a:cubicBezTo>
                  <a:pt x="2607964" y="1220292"/>
                  <a:pt x="2574959" y="1253297"/>
                  <a:pt x="2534245" y="1253297"/>
                </a:cubicBezTo>
                <a:lnTo>
                  <a:pt x="73719" y="1253297"/>
                </a:lnTo>
                <a:cubicBezTo>
                  <a:pt x="33005" y="1253297"/>
                  <a:pt x="0" y="1220292"/>
                  <a:pt x="0" y="1179578"/>
                </a:cubicBezTo>
                <a:lnTo>
                  <a:pt x="0" y="73719"/>
                </a:lnTo>
                <a:cubicBezTo>
                  <a:pt x="0" y="33005"/>
                  <a:pt x="33005" y="0"/>
                  <a:pt x="73719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3296049" y="1953669"/>
            <a:ext cx="2552671" cy="3686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30min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42126" y="2359147"/>
            <a:ext cx="2460517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Testing Duration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46733" y="2617179"/>
            <a:ext cx="2451302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5" dirty="0">
                <a:solidFill>
                  <a:srgbClr val="F8F8F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Each participant completed full workflow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8617" y="3409705"/>
            <a:ext cx="5649052" cy="1935238"/>
          </a:xfrm>
          <a:custGeom>
            <a:avLst/>
            <a:gdLst/>
            <a:ahLst/>
            <a:cxnLst/>
            <a:rect l="l" t="t" r="r" b="b"/>
            <a:pathLst>
              <a:path w="5649052" h="1935238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1861506"/>
                </a:lnTo>
                <a:cubicBezTo>
                  <a:pt x="5649052" y="1902227"/>
                  <a:pt x="5616041" y="1935238"/>
                  <a:pt x="5575320" y="1935238"/>
                </a:cubicBezTo>
                <a:lnTo>
                  <a:pt x="73733" y="1935238"/>
                </a:lnTo>
                <a:cubicBezTo>
                  <a:pt x="33011" y="1935238"/>
                  <a:pt x="0" y="1902227"/>
                  <a:pt x="0" y="1861506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8231" dist="9215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8617" y="3409705"/>
            <a:ext cx="5649052" cy="36862"/>
          </a:xfrm>
          <a:custGeom>
            <a:avLst/>
            <a:gdLst/>
            <a:ahLst/>
            <a:cxnLst/>
            <a:rect l="l" t="t" r="r" b="b"/>
            <a:pathLst>
              <a:path w="5649052" h="36862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36862"/>
                </a:lnTo>
                <a:lnTo>
                  <a:pt x="0" y="36862"/>
                </a:ln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0" name="Shape 18"/>
          <p:cNvSpPr/>
          <p:nvPr/>
        </p:nvSpPr>
        <p:spPr>
          <a:xfrm>
            <a:off x="516063" y="3575583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221170" y="0"/>
                </a:moveTo>
                <a:lnTo>
                  <a:pt x="221170" y="0"/>
                </a:lnTo>
                <a:cubicBezTo>
                  <a:pt x="343237" y="0"/>
                  <a:pt x="442340" y="99103"/>
                  <a:pt x="442340" y="221170"/>
                </a:cubicBezTo>
                <a:lnTo>
                  <a:pt x="442340" y="221170"/>
                </a:lnTo>
                <a:cubicBezTo>
                  <a:pt x="442340" y="343237"/>
                  <a:pt x="343237" y="442340"/>
                  <a:pt x="221170" y="442340"/>
                </a:cubicBezTo>
                <a:lnTo>
                  <a:pt x="221170" y="442340"/>
                </a:lnTo>
                <a:cubicBezTo>
                  <a:pt x="99103" y="442340"/>
                  <a:pt x="0" y="343237"/>
                  <a:pt x="0" y="221170"/>
                </a:cubicBezTo>
                <a:lnTo>
                  <a:pt x="0" y="221170"/>
                </a:lnTo>
                <a:cubicBezTo>
                  <a:pt x="0" y="99103"/>
                  <a:pt x="99103" y="0"/>
                  <a:pt x="22117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1" name="Shape 19"/>
          <p:cNvSpPr/>
          <p:nvPr/>
        </p:nvSpPr>
        <p:spPr>
          <a:xfrm>
            <a:off x="645079" y="3704599"/>
            <a:ext cx="184308" cy="184308"/>
          </a:xfrm>
          <a:custGeom>
            <a:avLst/>
            <a:gdLst/>
            <a:ahLst/>
            <a:cxnLst/>
            <a:rect l="l" t="t" r="r" b="b"/>
            <a:pathLst>
              <a:path w="184308" h="184308">
                <a:moveTo>
                  <a:pt x="28798" y="57596"/>
                </a:moveTo>
                <a:cubicBezTo>
                  <a:pt x="35170" y="57596"/>
                  <a:pt x="40317" y="62744"/>
                  <a:pt x="40317" y="69116"/>
                </a:cubicBezTo>
                <a:lnTo>
                  <a:pt x="40317" y="161270"/>
                </a:lnTo>
                <a:cubicBezTo>
                  <a:pt x="40317" y="167641"/>
                  <a:pt x="35170" y="172789"/>
                  <a:pt x="28798" y="172789"/>
                </a:cubicBezTo>
                <a:lnTo>
                  <a:pt x="11519" y="172789"/>
                </a:lnTo>
                <a:cubicBezTo>
                  <a:pt x="5148" y="172789"/>
                  <a:pt x="0" y="167641"/>
                  <a:pt x="0" y="161270"/>
                </a:cubicBezTo>
                <a:lnTo>
                  <a:pt x="0" y="69116"/>
                </a:lnTo>
                <a:cubicBezTo>
                  <a:pt x="0" y="62744"/>
                  <a:pt x="5148" y="57596"/>
                  <a:pt x="11519" y="57596"/>
                </a:cubicBezTo>
                <a:lnTo>
                  <a:pt x="28798" y="57596"/>
                </a:lnTo>
                <a:close/>
                <a:moveTo>
                  <a:pt x="97410" y="5760"/>
                </a:moveTo>
                <a:cubicBezTo>
                  <a:pt x="107237" y="5760"/>
                  <a:pt x="115193" y="13715"/>
                  <a:pt x="115193" y="23543"/>
                </a:cubicBezTo>
                <a:lnTo>
                  <a:pt x="115193" y="25054"/>
                </a:lnTo>
                <a:cubicBezTo>
                  <a:pt x="115193" y="27502"/>
                  <a:pt x="114725" y="29950"/>
                  <a:pt x="113825" y="32218"/>
                </a:cubicBezTo>
                <a:lnTo>
                  <a:pt x="103673" y="57596"/>
                </a:lnTo>
                <a:lnTo>
                  <a:pt x="161270" y="57596"/>
                </a:lnTo>
                <a:cubicBezTo>
                  <a:pt x="170809" y="57596"/>
                  <a:pt x="178549" y="65336"/>
                  <a:pt x="178549" y="74875"/>
                </a:cubicBezTo>
                <a:cubicBezTo>
                  <a:pt x="178549" y="81967"/>
                  <a:pt x="174265" y="88050"/>
                  <a:pt x="168145" y="90714"/>
                </a:cubicBezTo>
                <a:cubicBezTo>
                  <a:pt x="174265" y="93378"/>
                  <a:pt x="178549" y="99462"/>
                  <a:pt x="178549" y="106553"/>
                </a:cubicBezTo>
                <a:cubicBezTo>
                  <a:pt x="178549" y="114977"/>
                  <a:pt x="172501" y="121996"/>
                  <a:pt x="164510" y="123508"/>
                </a:cubicBezTo>
                <a:cubicBezTo>
                  <a:pt x="166094" y="126136"/>
                  <a:pt x="167029" y="129196"/>
                  <a:pt x="167029" y="132472"/>
                </a:cubicBezTo>
                <a:cubicBezTo>
                  <a:pt x="167029" y="140463"/>
                  <a:pt x="161630" y="147159"/>
                  <a:pt x="154286" y="149139"/>
                </a:cubicBezTo>
                <a:cubicBezTo>
                  <a:pt x="155078" y="151118"/>
                  <a:pt x="155510" y="153278"/>
                  <a:pt x="155510" y="155510"/>
                </a:cubicBezTo>
                <a:cubicBezTo>
                  <a:pt x="155510" y="165050"/>
                  <a:pt x="147771" y="172789"/>
                  <a:pt x="138231" y="172789"/>
                </a:cubicBezTo>
                <a:lnTo>
                  <a:pt x="106589" y="172789"/>
                </a:lnTo>
                <a:cubicBezTo>
                  <a:pt x="93522" y="172789"/>
                  <a:pt x="80815" y="168325"/>
                  <a:pt x="70628" y="160154"/>
                </a:cubicBezTo>
                <a:lnTo>
                  <a:pt x="66236" y="156662"/>
                </a:lnTo>
                <a:cubicBezTo>
                  <a:pt x="60764" y="152306"/>
                  <a:pt x="57596" y="145683"/>
                  <a:pt x="57596" y="138663"/>
                </a:cubicBezTo>
                <a:lnTo>
                  <a:pt x="57596" y="71491"/>
                </a:lnTo>
                <a:cubicBezTo>
                  <a:pt x="57596" y="66128"/>
                  <a:pt x="58856" y="60836"/>
                  <a:pt x="61232" y="56048"/>
                </a:cubicBezTo>
                <a:lnTo>
                  <a:pt x="81463" y="15587"/>
                </a:lnTo>
                <a:cubicBezTo>
                  <a:pt x="84487" y="9575"/>
                  <a:pt x="90642" y="5760"/>
                  <a:pt x="97410" y="5760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22" name="Text 20"/>
          <p:cNvSpPr/>
          <p:nvPr/>
        </p:nvSpPr>
        <p:spPr>
          <a:xfrm>
            <a:off x="1068989" y="3667737"/>
            <a:ext cx="1667991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Positive Comments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4494" y="4128508"/>
            <a:ext cx="36862" cy="479202"/>
          </a:xfrm>
          <a:custGeom>
            <a:avLst/>
            <a:gdLst/>
            <a:ahLst/>
            <a:cxnLst/>
            <a:rect l="l" t="t" r="r" b="b"/>
            <a:pathLst>
              <a:path w="36862" h="479202">
                <a:moveTo>
                  <a:pt x="0" y="0"/>
                </a:moveTo>
                <a:lnTo>
                  <a:pt x="36862" y="0"/>
                </a:lnTo>
                <a:lnTo>
                  <a:pt x="36862" y="479202"/>
                </a:lnTo>
                <a:lnTo>
                  <a:pt x="0" y="479202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24" name="Shape 22"/>
          <p:cNvSpPr/>
          <p:nvPr/>
        </p:nvSpPr>
        <p:spPr>
          <a:xfrm>
            <a:off x="686549" y="4165370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165878"/>
                </a:moveTo>
                <a:cubicBezTo>
                  <a:pt x="128714" y="165878"/>
                  <a:pt x="165878" y="128714"/>
                  <a:pt x="165878" y="82939"/>
                </a:cubicBezTo>
                <a:cubicBezTo>
                  <a:pt x="165878" y="37164"/>
                  <a:pt x="128714" y="0"/>
                  <a:pt x="82939" y="0"/>
                </a:cubicBezTo>
                <a:cubicBezTo>
                  <a:pt x="37164" y="0"/>
                  <a:pt x="0" y="37164"/>
                  <a:pt x="0" y="82939"/>
                </a:cubicBezTo>
                <a:cubicBezTo>
                  <a:pt x="0" y="128714"/>
                  <a:pt x="37164" y="165878"/>
                  <a:pt x="82939" y="165878"/>
                </a:cubicBezTo>
                <a:close/>
                <a:moveTo>
                  <a:pt x="110283" y="68910"/>
                </a:moveTo>
                <a:lnTo>
                  <a:pt x="84364" y="110380"/>
                </a:lnTo>
                <a:cubicBezTo>
                  <a:pt x="83004" y="112551"/>
                  <a:pt x="80671" y="113911"/>
                  <a:pt x="78111" y="114041"/>
                </a:cubicBezTo>
                <a:cubicBezTo>
                  <a:pt x="75552" y="114170"/>
                  <a:pt x="73090" y="113004"/>
                  <a:pt x="71567" y="110931"/>
                </a:cubicBezTo>
                <a:lnTo>
                  <a:pt x="56016" y="90196"/>
                </a:lnTo>
                <a:cubicBezTo>
                  <a:pt x="53424" y="86762"/>
                  <a:pt x="54137" y="81902"/>
                  <a:pt x="57571" y="79310"/>
                </a:cubicBezTo>
                <a:cubicBezTo>
                  <a:pt x="61005" y="76718"/>
                  <a:pt x="65865" y="77431"/>
                  <a:pt x="68457" y="80865"/>
                </a:cubicBezTo>
                <a:lnTo>
                  <a:pt x="77204" y="92529"/>
                </a:lnTo>
                <a:lnTo>
                  <a:pt x="97097" y="60681"/>
                </a:lnTo>
                <a:cubicBezTo>
                  <a:pt x="99365" y="57053"/>
                  <a:pt x="104159" y="55919"/>
                  <a:pt x="107820" y="58219"/>
                </a:cubicBezTo>
                <a:cubicBezTo>
                  <a:pt x="111481" y="60519"/>
                  <a:pt x="112583" y="65282"/>
                  <a:pt x="110283" y="68943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5" name="Text 23"/>
          <p:cNvSpPr/>
          <p:nvPr/>
        </p:nvSpPr>
        <p:spPr>
          <a:xfrm>
            <a:off x="944580" y="4128508"/>
            <a:ext cx="5003973" cy="4792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Clean Interface:</a:t>
            </a:r>
            <a:r>
              <a:rPr lang="en-US" sz="116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"Very clean and professional looking. Easy to understand where to tap."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4494" y="4718295"/>
            <a:ext cx="36862" cy="479202"/>
          </a:xfrm>
          <a:custGeom>
            <a:avLst/>
            <a:gdLst/>
            <a:ahLst/>
            <a:cxnLst/>
            <a:rect l="l" t="t" r="r" b="b"/>
            <a:pathLst>
              <a:path w="36862" h="479202">
                <a:moveTo>
                  <a:pt x="0" y="0"/>
                </a:moveTo>
                <a:lnTo>
                  <a:pt x="36862" y="0"/>
                </a:lnTo>
                <a:lnTo>
                  <a:pt x="36862" y="479202"/>
                </a:lnTo>
                <a:lnTo>
                  <a:pt x="0" y="479202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27" name="Shape 25"/>
          <p:cNvSpPr/>
          <p:nvPr/>
        </p:nvSpPr>
        <p:spPr>
          <a:xfrm>
            <a:off x="686549" y="4755156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165878"/>
                </a:moveTo>
                <a:cubicBezTo>
                  <a:pt x="128714" y="165878"/>
                  <a:pt x="165878" y="128714"/>
                  <a:pt x="165878" y="82939"/>
                </a:cubicBezTo>
                <a:cubicBezTo>
                  <a:pt x="165878" y="37164"/>
                  <a:pt x="128714" y="0"/>
                  <a:pt x="82939" y="0"/>
                </a:cubicBezTo>
                <a:cubicBezTo>
                  <a:pt x="37164" y="0"/>
                  <a:pt x="0" y="37164"/>
                  <a:pt x="0" y="82939"/>
                </a:cubicBezTo>
                <a:cubicBezTo>
                  <a:pt x="0" y="128714"/>
                  <a:pt x="37164" y="165878"/>
                  <a:pt x="82939" y="165878"/>
                </a:cubicBezTo>
                <a:close/>
                <a:moveTo>
                  <a:pt x="110283" y="68910"/>
                </a:moveTo>
                <a:lnTo>
                  <a:pt x="84364" y="110380"/>
                </a:lnTo>
                <a:cubicBezTo>
                  <a:pt x="83004" y="112551"/>
                  <a:pt x="80671" y="113911"/>
                  <a:pt x="78111" y="114041"/>
                </a:cubicBezTo>
                <a:cubicBezTo>
                  <a:pt x="75552" y="114170"/>
                  <a:pt x="73090" y="113004"/>
                  <a:pt x="71567" y="110931"/>
                </a:cubicBezTo>
                <a:lnTo>
                  <a:pt x="56016" y="90196"/>
                </a:lnTo>
                <a:cubicBezTo>
                  <a:pt x="53424" y="86762"/>
                  <a:pt x="54137" y="81902"/>
                  <a:pt x="57571" y="79310"/>
                </a:cubicBezTo>
                <a:cubicBezTo>
                  <a:pt x="61005" y="76718"/>
                  <a:pt x="65865" y="77431"/>
                  <a:pt x="68457" y="80865"/>
                </a:cubicBezTo>
                <a:lnTo>
                  <a:pt x="77204" y="92529"/>
                </a:lnTo>
                <a:lnTo>
                  <a:pt x="97097" y="60681"/>
                </a:lnTo>
                <a:cubicBezTo>
                  <a:pt x="99365" y="57053"/>
                  <a:pt x="104159" y="55919"/>
                  <a:pt x="107820" y="58219"/>
                </a:cubicBezTo>
                <a:cubicBezTo>
                  <a:pt x="111481" y="60519"/>
                  <a:pt x="112583" y="65282"/>
                  <a:pt x="110283" y="68943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8" name="Text 26"/>
          <p:cNvSpPr/>
          <p:nvPr/>
        </p:nvSpPr>
        <p:spPr>
          <a:xfrm>
            <a:off x="944580" y="4718295"/>
            <a:ext cx="5003973" cy="4792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User-Friendly:</a:t>
            </a:r>
            <a:r>
              <a:rPr lang="en-US" sz="116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"The reporting process is so smooth. I can submit a problem in less than 2 minutes."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8617" y="5446313"/>
            <a:ext cx="5649052" cy="1345451"/>
          </a:xfrm>
          <a:custGeom>
            <a:avLst/>
            <a:gdLst/>
            <a:ahLst/>
            <a:cxnLst/>
            <a:rect l="l" t="t" r="r" b="b"/>
            <a:pathLst>
              <a:path w="5649052" h="1345451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1271734"/>
                </a:lnTo>
                <a:cubicBezTo>
                  <a:pt x="5649052" y="1312447"/>
                  <a:pt x="5616048" y="1345451"/>
                  <a:pt x="5575335" y="1345451"/>
                </a:cubicBezTo>
                <a:lnTo>
                  <a:pt x="73717" y="1345451"/>
                </a:lnTo>
                <a:cubicBezTo>
                  <a:pt x="33032" y="1345451"/>
                  <a:pt x="0" y="1312420"/>
                  <a:pt x="0" y="1271734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8231" dist="9215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8617" y="5446313"/>
            <a:ext cx="5649052" cy="36862"/>
          </a:xfrm>
          <a:custGeom>
            <a:avLst/>
            <a:gdLst/>
            <a:ahLst/>
            <a:cxnLst/>
            <a:rect l="l" t="t" r="r" b="b"/>
            <a:pathLst>
              <a:path w="5649052" h="36862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36862"/>
                </a:lnTo>
                <a:lnTo>
                  <a:pt x="0" y="36862"/>
                </a:ln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1" name="Shape 29"/>
          <p:cNvSpPr/>
          <p:nvPr/>
        </p:nvSpPr>
        <p:spPr>
          <a:xfrm>
            <a:off x="534494" y="5584544"/>
            <a:ext cx="442340" cy="442340"/>
          </a:xfrm>
          <a:custGeom>
            <a:avLst/>
            <a:gdLst/>
            <a:ahLst/>
            <a:cxnLst/>
            <a:rect l="l" t="t" r="r" b="b"/>
            <a:pathLst>
              <a:path w="442340" h="442340">
                <a:moveTo>
                  <a:pt x="221170" y="0"/>
                </a:moveTo>
                <a:lnTo>
                  <a:pt x="221170" y="0"/>
                </a:lnTo>
                <a:cubicBezTo>
                  <a:pt x="343237" y="0"/>
                  <a:pt x="442340" y="99103"/>
                  <a:pt x="442340" y="221170"/>
                </a:cubicBezTo>
                <a:lnTo>
                  <a:pt x="442340" y="221170"/>
                </a:lnTo>
                <a:cubicBezTo>
                  <a:pt x="442340" y="343237"/>
                  <a:pt x="343237" y="442340"/>
                  <a:pt x="221170" y="442340"/>
                </a:cubicBezTo>
                <a:lnTo>
                  <a:pt x="221170" y="442340"/>
                </a:lnTo>
                <a:cubicBezTo>
                  <a:pt x="99103" y="442340"/>
                  <a:pt x="0" y="343237"/>
                  <a:pt x="0" y="221170"/>
                </a:cubicBezTo>
                <a:lnTo>
                  <a:pt x="0" y="221170"/>
                </a:lnTo>
                <a:cubicBezTo>
                  <a:pt x="0" y="99103"/>
                  <a:pt x="99103" y="0"/>
                  <a:pt x="221170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2" name="Shape 30"/>
          <p:cNvSpPr/>
          <p:nvPr/>
        </p:nvSpPr>
        <p:spPr>
          <a:xfrm>
            <a:off x="680818" y="5716814"/>
            <a:ext cx="138231" cy="184308"/>
          </a:xfrm>
          <a:custGeom>
            <a:avLst/>
            <a:gdLst/>
            <a:ahLst/>
            <a:cxnLst/>
            <a:rect l="l" t="t" r="r" b="b"/>
            <a:pathLst>
              <a:path w="138231" h="184308">
                <a:moveTo>
                  <a:pt x="105437" y="138231"/>
                </a:moveTo>
                <a:cubicBezTo>
                  <a:pt x="108065" y="130204"/>
                  <a:pt x="113321" y="122932"/>
                  <a:pt x="119260" y="116669"/>
                </a:cubicBezTo>
                <a:cubicBezTo>
                  <a:pt x="131032" y="104285"/>
                  <a:pt x="138231" y="87546"/>
                  <a:pt x="138231" y="69116"/>
                </a:cubicBezTo>
                <a:cubicBezTo>
                  <a:pt x="138231" y="30958"/>
                  <a:pt x="107273" y="0"/>
                  <a:pt x="69116" y="0"/>
                </a:cubicBezTo>
                <a:cubicBezTo>
                  <a:pt x="30958" y="0"/>
                  <a:pt x="0" y="30958"/>
                  <a:pt x="0" y="69116"/>
                </a:cubicBezTo>
                <a:cubicBezTo>
                  <a:pt x="0" y="87546"/>
                  <a:pt x="7200" y="104285"/>
                  <a:pt x="18971" y="116669"/>
                </a:cubicBezTo>
                <a:cubicBezTo>
                  <a:pt x="24910" y="122932"/>
                  <a:pt x="30202" y="130204"/>
                  <a:pt x="32794" y="138231"/>
                </a:cubicBezTo>
                <a:lnTo>
                  <a:pt x="105401" y="138231"/>
                </a:lnTo>
                <a:close/>
                <a:moveTo>
                  <a:pt x="103673" y="155510"/>
                </a:moveTo>
                <a:lnTo>
                  <a:pt x="34558" y="155510"/>
                </a:lnTo>
                <a:lnTo>
                  <a:pt x="34558" y="161270"/>
                </a:lnTo>
                <a:cubicBezTo>
                  <a:pt x="34558" y="177181"/>
                  <a:pt x="47445" y="190068"/>
                  <a:pt x="63356" y="190068"/>
                </a:cubicBezTo>
                <a:lnTo>
                  <a:pt x="74875" y="190068"/>
                </a:lnTo>
                <a:cubicBezTo>
                  <a:pt x="90786" y="190068"/>
                  <a:pt x="103673" y="177181"/>
                  <a:pt x="103673" y="161270"/>
                </a:cubicBezTo>
                <a:lnTo>
                  <a:pt x="103673" y="155510"/>
                </a:lnTo>
                <a:close/>
                <a:moveTo>
                  <a:pt x="66236" y="40317"/>
                </a:moveTo>
                <a:cubicBezTo>
                  <a:pt x="51909" y="40317"/>
                  <a:pt x="40317" y="51909"/>
                  <a:pt x="40317" y="66236"/>
                </a:cubicBezTo>
                <a:cubicBezTo>
                  <a:pt x="40317" y="71024"/>
                  <a:pt x="36466" y="74875"/>
                  <a:pt x="31678" y="74875"/>
                </a:cubicBezTo>
                <a:cubicBezTo>
                  <a:pt x="26890" y="74875"/>
                  <a:pt x="23039" y="71024"/>
                  <a:pt x="23039" y="66236"/>
                </a:cubicBezTo>
                <a:cubicBezTo>
                  <a:pt x="23039" y="42369"/>
                  <a:pt x="42369" y="23039"/>
                  <a:pt x="66236" y="23039"/>
                </a:cubicBezTo>
                <a:cubicBezTo>
                  <a:pt x="71024" y="23039"/>
                  <a:pt x="74875" y="26890"/>
                  <a:pt x="74875" y="31678"/>
                </a:cubicBezTo>
                <a:cubicBezTo>
                  <a:pt x="74875" y="36466"/>
                  <a:pt x="71024" y="40317"/>
                  <a:pt x="66236" y="40317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33" name="Text 31"/>
          <p:cNvSpPr/>
          <p:nvPr/>
        </p:nvSpPr>
        <p:spPr>
          <a:xfrm>
            <a:off x="1038271" y="5676698"/>
            <a:ext cx="2230132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Improvement Suggestions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6063" y="6119039"/>
            <a:ext cx="36862" cy="479202"/>
          </a:xfrm>
          <a:custGeom>
            <a:avLst/>
            <a:gdLst/>
            <a:ahLst/>
            <a:cxnLst/>
            <a:rect l="l" t="t" r="r" b="b"/>
            <a:pathLst>
              <a:path w="36862" h="479202">
                <a:moveTo>
                  <a:pt x="0" y="0"/>
                </a:moveTo>
                <a:lnTo>
                  <a:pt x="36862" y="0"/>
                </a:lnTo>
                <a:lnTo>
                  <a:pt x="36862" y="479202"/>
                </a:lnTo>
                <a:lnTo>
                  <a:pt x="0" y="479202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35" name="Shape 33"/>
          <p:cNvSpPr/>
          <p:nvPr/>
        </p:nvSpPr>
        <p:spPr>
          <a:xfrm>
            <a:off x="661149" y="6177585"/>
            <a:ext cx="165878" cy="165878"/>
          </a:xfrm>
          <a:custGeom>
            <a:avLst/>
            <a:gdLst/>
            <a:ahLst/>
            <a:cxnLst/>
            <a:rect l="l" t="t" r="r" b="b"/>
            <a:pathLst>
              <a:path w="165878" h="165878">
                <a:moveTo>
                  <a:pt x="82939" y="165878"/>
                </a:moveTo>
                <a:cubicBezTo>
                  <a:pt x="128714" y="165878"/>
                  <a:pt x="165878" y="128714"/>
                  <a:pt x="165878" y="82939"/>
                </a:cubicBezTo>
                <a:cubicBezTo>
                  <a:pt x="165878" y="37164"/>
                  <a:pt x="128714" y="0"/>
                  <a:pt x="82939" y="0"/>
                </a:cubicBezTo>
                <a:cubicBezTo>
                  <a:pt x="37164" y="0"/>
                  <a:pt x="0" y="37164"/>
                  <a:pt x="0" y="82939"/>
                </a:cubicBezTo>
                <a:cubicBezTo>
                  <a:pt x="0" y="128714"/>
                  <a:pt x="37164" y="165878"/>
                  <a:pt x="82939" y="165878"/>
                </a:cubicBezTo>
                <a:close/>
                <a:moveTo>
                  <a:pt x="82939" y="44061"/>
                </a:moveTo>
                <a:cubicBezTo>
                  <a:pt x="87248" y="44061"/>
                  <a:pt x="90714" y="47528"/>
                  <a:pt x="90714" y="51837"/>
                </a:cubicBezTo>
                <a:lnTo>
                  <a:pt x="90714" y="88122"/>
                </a:lnTo>
                <a:cubicBezTo>
                  <a:pt x="90714" y="92431"/>
                  <a:pt x="87248" y="95898"/>
                  <a:pt x="82939" y="95898"/>
                </a:cubicBezTo>
                <a:cubicBezTo>
                  <a:pt x="78630" y="95898"/>
                  <a:pt x="75163" y="92431"/>
                  <a:pt x="75163" y="88122"/>
                </a:cubicBezTo>
                <a:lnTo>
                  <a:pt x="75163" y="51837"/>
                </a:lnTo>
                <a:cubicBezTo>
                  <a:pt x="75163" y="47528"/>
                  <a:pt x="78630" y="44061"/>
                  <a:pt x="82939" y="44061"/>
                </a:cubicBezTo>
                <a:close/>
                <a:moveTo>
                  <a:pt x="74289" y="114041"/>
                </a:moveTo>
                <a:cubicBezTo>
                  <a:pt x="74092" y="110830"/>
                  <a:pt x="75693" y="107775"/>
                  <a:pt x="78446" y="106110"/>
                </a:cubicBezTo>
                <a:cubicBezTo>
                  <a:pt x="81198" y="104445"/>
                  <a:pt x="84647" y="104445"/>
                  <a:pt x="87400" y="106110"/>
                </a:cubicBezTo>
                <a:cubicBezTo>
                  <a:pt x="90152" y="107775"/>
                  <a:pt x="91753" y="110830"/>
                  <a:pt x="91557" y="114041"/>
                </a:cubicBezTo>
                <a:cubicBezTo>
                  <a:pt x="91753" y="117252"/>
                  <a:pt x="90152" y="120307"/>
                  <a:pt x="87400" y="121971"/>
                </a:cubicBezTo>
                <a:cubicBezTo>
                  <a:pt x="84647" y="123636"/>
                  <a:pt x="81198" y="123636"/>
                  <a:pt x="78446" y="121971"/>
                </a:cubicBezTo>
                <a:cubicBezTo>
                  <a:pt x="75693" y="120307"/>
                  <a:pt x="74092" y="117252"/>
                  <a:pt x="74289" y="114041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36" name="Text 34"/>
          <p:cNvSpPr/>
          <p:nvPr/>
        </p:nvSpPr>
        <p:spPr>
          <a:xfrm>
            <a:off x="903111" y="6119039"/>
            <a:ext cx="5003973" cy="4792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Email Notifications:</a:t>
            </a:r>
            <a:r>
              <a:rPr lang="en-US" sz="116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"Can you add email notifications when repairs are done? Sometimes I miss the app notification."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06585" y="1142712"/>
            <a:ext cx="5649052" cy="2783057"/>
          </a:xfrm>
          <a:custGeom>
            <a:avLst/>
            <a:gdLst/>
            <a:ahLst/>
            <a:cxnLst/>
            <a:rect l="l" t="t" r="r" b="b"/>
            <a:pathLst>
              <a:path w="5649052" h="2783057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2709334"/>
                </a:lnTo>
                <a:cubicBezTo>
                  <a:pt x="5649052" y="2750050"/>
                  <a:pt x="5616045" y="2783057"/>
                  <a:pt x="5575329" y="2783057"/>
                </a:cubicBezTo>
                <a:lnTo>
                  <a:pt x="73723" y="2783057"/>
                </a:lnTo>
                <a:cubicBezTo>
                  <a:pt x="33007" y="2783057"/>
                  <a:pt x="0" y="2750050"/>
                  <a:pt x="0" y="2709334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6206585" y="1142712"/>
            <a:ext cx="5649052" cy="36862"/>
          </a:xfrm>
          <a:custGeom>
            <a:avLst/>
            <a:gdLst/>
            <a:ahLst/>
            <a:cxnLst/>
            <a:rect l="l" t="t" r="r" b="b"/>
            <a:pathLst>
              <a:path w="5649052" h="36862">
                <a:moveTo>
                  <a:pt x="36862" y="0"/>
                </a:moveTo>
                <a:lnTo>
                  <a:pt x="5612190" y="0"/>
                </a:lnTo>
                <a:cubicBezTo>
                  <a:pt x="5632549" y="0"/>
                  <a:pt x="5649052" y="16504"/>
                  <a:pt x="5649052" y="36862"/>
                </a:cubicBezTo>
                <a:lnTo>
                  <a:pt x="5649052" y="36862"/>
                </a:lnTo>
                <a:lnTo>
                  <a:pt x="0" y="36862"/>
                </a:ln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9" name="Shape 37"/>
          <p:cNvSpPr/>
          <p:nvPr/>
        </p:nvSpPr>
        <p:spPr>
          <a:xfrm>
            <a:off x="6343281" y="1492898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13823" y="13823"/>
                </a:moveTo>
                <a:cubicBezTo>
                  <a:pt x="21469" y="13823"/>
                  <a:pt x="27646" y="20000"/>
                  <a:pt x="27646" y="27646"/>
                </a:cubicBezTo>
                <a:lnTo>
                  <a:pt x="27646" y="172789"/>
                </a:lnTo>
                <a:cubicBezTo>
                  <a:pt x="27646" y="176590"/>
                  <a:pt x="30756" y="179701"/>
                  <a:pt x="34558" y="179701"/>
                </a:cubicBezTo>
                <a:lnTo>
                  <a:pt x="207347" y="179701"/>
                </a:lnTo>
                <a:cubicBezTo>
                  <a:pt x="214993" y="179701"/>
                  <a:pt x="221170" y="185878"/>
                  <a:pt x="221170" y="193524"/>
                </a:cubicBezTo>
                <a:cubicBezTo>
                  <a:pt x="221170" y="201170"/>
                  <a:pt x="214993" y="207347"/>
                  <a:pt x="207347" y="207347"/>
                </a:cubicBezTo>
                <a:lnTo>
                  <a:pt x="34558" y="207347"/>
                </a:lnTo>
                <a:cubicBezTo>
                  <a:pt x="15465" y="207347"/>
                  <a:pt x="0" y="191882"/>
                  <a:pt x="0" y="172789"/>
                </a:cubicBezTo>
                <a:lnTo>
                  <a:pt x="0" y="27646"/>
                </a:lnTo>
                <a:cubicBezTo>
                  <a:pt x="0" y="20000"/>
                  <a:pt x="6177" y="13823"/>
                  <a:pt x="13823" y="13823"/>
                </a:cubicBezTo>
                <a:close/>
                <a:moveTo>
                  <a:pt x="55293" y="41469"/>
                </a:moveTo>
                <a:cubicBezTo>
                  <a:pt x="55293" y="33823"/>
                  <a:pt x="61470" y="27646"/>
                  <a:pt x="69116" y="27646"/>
                </a:cubicBezTo>
                <a:lnTo>
                  <a:pt x="152054" y="27646"/>
                </a:lnTo>
                <a:cubicBezTo>
                  <a:pt x="159700" y="27646"/>
                  <a:pt x="165878" y="33823"/>
                  <a:pt x="165878" y="41469"/>
                </a:cubicBezTo>
                <a:cubicBezTo>
                  <a:pt x="165878" y="49115"/>
                  <a:pt x="159700" y="55293"/>
                  <a:pt x="152054" y="55293"/>
                </a:cubicBezTo>
                <a:lnTo>
                  <a:pt x="69116" y="55293"/>
                </a:lnTo>
                <a:cubicBezTo>
                  <a:pt x="61470" y="55293"/>
                  <a:pt x="55293" y="49115"/>
                  <a:pt x="55293" y="41469"/>
                </a:cubicBezTo>
                <a:close/>
                <a:moveTo>
                  <a:pt x="69116" y="76027"/>
                </a:moveTo>
                <a:lnTo>
                  <a:pt x="124408" y="76027"/>
                </a:lnTo>
                <a:cubicBezTo>
                  <a:pt x="132054" y="76027"/>
                  <a:pt x="138231" y="82204"/>
                  <a:pt x="138231" y="89850"/>
                </a:cubicBezTo>
                <a:cubicBezTo>
                  <a:pt x="138231" y="97496"/>
                  <a:pt x="132054" y="103673"/>
                  <a:pt x="124408" y="103673"/>
                </a:cubicBezTo>
                <a:lnTo>
                  <a:pt x="69116" y="103673"/>
                </a:lnTo>
                <a:cubicBezTo>
                  <a:pt x="61470" y="103673"/>
                  <a:pt x="55293" y="97496"/>
                  <a:pt x="55293" y="89850"/>
                </a:cubicBezTo>
                <a:cubicBezTo>
                  <a:pt x="55293" y="82204"/>
                  <a:pt x="61470" y="76027"/>
                  <a:pt x="69116" y="76027"/>
                </a:cubicBezTo>
                <a:close/>
                <a:moveTo>
                  <a:pt x="69116" y="124408"/>
                </a:moveTo>
                <a:lnTo>
                  <a:pt x="179701" y="124408"/>
                </a:lnTo>
                <a:cubicBezTo>
                  <a:pt x="187347" y="124408"/>
                  <a:pt x="193524" y="130585"/>
                  <a:pt x="193524" y="138231"/>
                </a:cubicBezTo>
                <a:cubicBezTo>
                  <a:pt x="193524" y="145877"/>
                  <a:pt x="187347" y="152054"/>
                  <a:pt x="179701" y="152054"/>
                </a:cubicBezTo>
                <a:lnTo>
                  <a:pt x="69116" y="152054"/>
                </a:lnTo>
                <a:cubicBezTo>
                  <a:pt x="61470" y="152054"/>
                  <a:pt x="55293" y="145877"/>
                  <a:pt x="55293" y="138231"/>
                </a:cubicBezTo>
                <a:cubicBezTo>
                  <a:pt x="55293" y="130585"/>
                  <a:pt x="61470" y="124408"/>
                  <a:pt x="69116" y="124408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0" name="Text 38"/>
          <p:cNvSpPr/>
          <p:nvPr/>
        </p:nvSpPr>
        <p:spPr>
          <a:xfrm>
            <a:off x="6702682" y="1474467"/>
            <a:ext cx="1382313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Testing Insights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5635" y="1843084"/>
            <a:ext cx="5354159" cy="995265"/>
          </a:xfrm>
          <a:custGeom>
            <a:avLst/>
            <a:gdLst/>
            <a:ahLst/>
            <a:cxnLst/>
            <a:rect l="l" t="t" r="r" b="b"/>
            <a:pathLst>
              <a:path w="5354159" h="995265">
                <a:moveTo>
                  <a:pt x="73719" y="0"/>
                </a:moveTo>
                <a:lnTo>
                  <a:pt x="5280439" y="0"/>
                </a:lnTo>
                <a:cubicBezTo>
                  <a:pt x="5321153" y="0"/>
                  <a:pt x="5354159" y="33005"/>
                  <a:pt x="5354159" y="73719"/>
                </a:cubicBezTo>
                <a:lnTo>
                  <a:pt x="5354159" y="921546"/>
                </a:lnTo>
                <a:cubicBezTo>
                  <a:pt x="5354159" y="962260"/>
                  <a:pt x="5321153" y="995265"/>
                  <a:pt x="5280439" y="995265"/>
                </a:cubicBezTo>
                <a:lnTo>
                  <a:pt x="73719" y="995265"/>
                </a:lnTo>
                <a:cubicBezTo>
                  <a:pt x="33005" y="995265"/>
                  <a:pt x="0" y="962260"/>
                  <a:pt x="0" y="921546"/>
                </a:cubicBezTo>
                <a:lnTo>
                  <a:pt x="0" y="73719"/>
                </a:lnTo>
                <a:cubicBezTo>
                  <a:pt x="0" y="33033"/>
                  <a:pt x="33033" y="0"/>
                  <a:pt x="7371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6426220" y="1953669"/>
            <a:ext cx="5206712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Task Completion Rate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26220" y="2211701"/>
            <a:ext cx="5271220" cy="3317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5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100%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26220" y="2543456"/>
            <a:ext cx="5197497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Both users completed all tasks without assistance.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5635" y="2948934"/>
            <a:ext cx="5354159" cy="995265"/>
          </a:xfrm>
          <a:custGeom>
            <a:avLst/>
            <a:gdLst/>
            <a:ahLst/>
            <a:cxnLst/>
            <a:rect l="l" t="t" r="r" b="b"/>
            <a:pathLst>
              <a:path w="5354159" h="995265">
                <a:moveTo>
                  <a:pt x="73719" y="0"/>
                </a:moveTo>
                <a:lnTo>
                  <a:pt x="5280439" y="0"/>
                </a:lnTo>
                <a:cubicBezTo>
                  <a:pt x="5321153" y="0"/>
                  <a:pt x="5354159" y="33005"/>
                  <a:pt x="5354159" y="73719"/>
                </a:cubicBezTo>
                <a:lnTo>
                  <a:pt x="5354159" y="921546"/>
                </a:lnTo>
                <a:cubicBezTo>
                  <a:pt x="5354159" y="962260"/>
                  <a:pt x="5321153" y="995265"/>
                  <a:pt x="5280439" y="995265"/>
                </a:cubicBezTo>
                <a:lnTo>
                  <a:pt x="73719" y="995265"/>
                </a:lnTo>
                <a:cubicBezTo>
                  <a:pt x="33005" y="995265"/>
                  <a:pt x="0" y="962260"/>
                  <a:pt x="0" y="921546"/>
                </a:cubicBezTo>
                <a:lnTo>
                  <a:pt x="0" y="73719"/>
                </a:lnTo>
                <a:cubicBezTo>
                  <a:pt x="0" y="33033"/>
                  <a:pt x="33033" y="0"/>
                  <a:pt x="7371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6426220" y="3059519"/>
            <a:ext cx="5206712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Average Task Time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26220" y="3317551"/>
            <a:ext cx="5271220" cy="3317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5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1m 45s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26220" y="3649306"/>
            <a:ext cx="5197497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25282A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From login to report submission.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06585" y="4036354"/>
            <a:ext cx="5649052" cy="2617179"/>
          </a:xfrm>
          <a:custGeom>
            <a:avLst/>
            <a:gdLst/>
            <a:ahLst/>
            <a:cxnLst/>
            <a:rect l="l" t="t" r="r" b="b"/>
            <a:pathLst>
              <a:path w="5649052" h="2617179">
                <a:moveTo>
                  <a:pt x="73726" y="0"/>
                </a:moveTo>
                <a:lnTo>
                  <a:pt x="5575326" y="0"/>
                </a:lnTo>
                <a:cubicBezTo>
                  <a:pt x="5616044" y="0"/>
                  <a:pt x="5649052" y="33008"/>
                  <a:pt x="5649052" y="73726"/>
                </a:cubicBezTo>
                <a:lnTo>
                  <a:pt x="5649052" y="2543453"/>
                </a:lnTo>
                <a:cubicBezTo>
                  <a:pt x="5649052" y="2584171"/>
                  <a:pt x="5616044" y="2617179"/>
                  <a:pt x="5575326" y="2617179"/>
                </a:cubicBezTo>
                <a:lnTo>
                  <a:pt x="73726" y="2617179"/>
                </a:lnTo>
                <a:cubicBezTo>
                  <a:pt x="33008" y="2617179"/>
                  <a:pt x="0" y="2584171"/>
                  <a:pt x="0" y="2543453"/>
                </a:cubicBezTo>
                <a:lnTo>
                  <a:pt x="0" y="73726"/>
                </a:lnTo>
                <a:cubicBezTo>
                  <a:pt x="0" y="33035"/>
                  <a:pt x="33035" y="0"/>
                  <a:pt x="73726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38231" dist="9215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43281" y="4266739"/>
            <a:ext cx="221170" cy="221170"/>
          </a:xfrm>
          <a:custGeom>
            <a:avLst/>
            <a:gdLst/>
            <a:ahLst/>
            <a:cxnLst/>
            <a:rect l="l" t="t" r="r" b="b"/>
            <a:pathLst>
              <a:path w="221170" h="221170">
                <a:moveTo>
                  <a:pt x="55293" y="138231"/>
                </a:moveTo>
                <a:lnTo>
                  <a:pt x="10583" y="138231"/>
                </a:lnTo>
                <a:cubicBezTo>
                  <a:pt x="-173" y="138231"/>
                  <a:pt x="-6782" y="126525"/>
                  <a:pt x="-1253" y="117281"/>
                </a:cubicBezTo>
                <a:lnTo>
                  <a:pt x="21599" y="79181"/>
                </a:lnTo>
                <a:cubicBezTo>
                  <a:pt x="25357" y="72917"/>
                  <a:pt x="32096" y="69116"/>
                  <a:pt x="39396" y="69116"/>
                </a:cubicBezTo>
                <a:lnTo>
                  <a:pt x="80433" y="69116"/>
                </a:lnTo>
                <a:cubicBezTo>
                  <a:pt x="113306" y="13434"/>
                  <a:pt x="162335" y="10627"/>
                  <a:pt x="195122" y="15421"/>
                </a:cubicBezTo>
                <a:cubicBezTo>
                  <a:pt x="200651" y="16242"/>
                  <a:pt x="204971" y="20562"/>
                  <a:pt x="205749" y="26048"/>
                </a:cubicBezTo>
                <a:cubicBezTo>
                  <a:pt x="210544" y="58835"/>
                  <a:pt x="207736" y="107864"/>
                  <a:pt x="152054" y="140737"/>
                </a:cubicBezTo>
                <a:lnTo>
                  <a:pt x="152054" y="181774"/>
                </a:lnTo>
                <a:cubicBezTo>
                  <a:pt x="152054" y="189074"/>
                  <a:pt x="148253" y="195813"/>
                  <a:pt x="141989" y="199571"/>
                </a:cubicBezTo>
                <a:lnTo>
                  <a:pt x="103889" y="222423"/>
                </a:lnTo>
                <a:cubicBezTo>
                  <a:pt x="94688" y="227952"/>
                  <a:pt x="82939" y="221300"/>
                  <a:pt x="82939" y="210587"/>
                </a:cubicBezTo>
                <a:lnTo>
                  <a:pt x="82939" y="165878"/>
                </a:lnTo>
                <a:cubicBezTo>
                  <a:pt x="82939" y="150629"/>
                  <a:pt x="70541" y="138231"/>
                  <a:pt x="55293" y="138231"/>
                </a:cubicBezTo>
                <a:lnTo>
                  <a:pt x="55249" y="138231"/>
                </a:lnTo>
                <a:close/>
                <a:moveTo>
                  <a:pt x="172789" y="69116"/>
                </a:moveTo>
                <a:cubicBezTo>
                  <a:pt x="172789" y="57672"/>
                  <a:pt x="163498" y="48381"/>
                  <a:pt x="152054" y="48381"/>
                </a:cubicBezTo>
                <a:cubicBezTo>
                  <a:pt x="140611" y="48381"/>
                  <a:pt x="131320" y="57672"/>
                  <a:pt x="131320" y="69116"/>
                </a:cubicBezTo>
                <a:cubicBezTo>
                  <a:pt x="131320" y="80559"/>
                  <a:pt x="140611" y="89850"/>
                  <a:pt x="152054" y="89850"/>
                </a:cubicBezTo>
                <a:cubicBezTo>
                  <a:pt x="163498" y="89850"/>
                  <a:pt x="172789" y="80559"/>
                  <a:pt x="172789" y="69116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1" name="Text 49"/>
          <p:cNvSpPr/>
          <p:nvPr/>
        </p:nvSpPr>
        <p:spPr>
          <a:xfrm>
            <a:off x="6702682" y="4248308"/>
            <a:ext cx="2147193" cy="258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Subsequent Optimization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63247" y="4755156"/>
            <a:ext cx="5335728" cy="663510"/>
          </a:xfrm>
          <a:custGeom>
            <a:avLst/>
            <a:gdLst/>
            <a:ahLst/>
            <a:cxnLst/>
            <a:rect l="l" t="t" r="r" b="b"/>
            <a:pathLst>
              <a:path w="5335728" h="663510">
                <a:moveTo>
                  <a:pt x="36862" y="0"/>
                </a:moveTo>
                <a:lnTo>
                  <a:pt x="5262005" y="0"/>
                </a:lnTo>
                <a:cubicBezTo>
                  <a:pt x="5302721" y="0"/>
                  <a:pt x="5335728" y="33007"/>
                  <a:pt x="5335728" y="73723"/>
                </a:cubicBezTo>
                <a:lnTo>
                  <a:pt x="5335728" y="589788"/>
                </a:lnTo>
                <a:cubicBezTo>
                  <a:pt x="5335728" y="630503"/>
                  <a:pt x="5302721" y="663510"/>
                  <a:pt x="5262005" y="663510"/>
                </a:cubicBezTo>
                <a:lnTo>
                  <a:pt x="36862" y="663510"/>
                </a:lnTo>
                <a:cubicBezTo>
                  <a:pt x="16504" y="663510"/>
                  <a:pt x="0" y="647007"/>
                  <a:pt x="0" y="626649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6343281" y="4755156"/>
            <a:ext cx="36862" cy="663510"/>
          </a:xfrm>
          <a:custGeom>
            <a:avLst/>
            <a:gdLst/>
            <a:ahLst/>
            <a:cxnLst/>
            <a:rect l="l" t="t" r="r" b="b"/>
            <a:pathLst>
              <a:path w="36862" h="663510">
                <a:moveTo>
                  <a:pt x="36862" y="0"/>
                </a:moveTo>
                <a:lnTo>
                  <a:pt x="36862" y="0"/>
                </a:lnTo>
                <a:lnTo>
                  <a:pt x="36862" y="663510"/>
                </a:lnTo>
                <a:lnTo>
                  <a:pt x="36862" y="663510"/>
                </a:lnTo>
                <a:cubicBezTo>
                  <a:pt x="16504" y="663510"/>
                  <a:pt x="0" y="647007"/>
                  <a:pt x="0" y="626649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4" name="Shape 52"/>
          <p:cNvSpPr/>
          <p:nvPr/>
        </p:nvSpPr>
        <p:spPr>
          <a:xfrm>
            <a:off x="6468812" y="4904619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13823" y="18431"/>
                </a:moveTo>
                <a:cubicBezTo>
                  <a:pt x="6192" y="18431"/>
                  <a:pt x="0" y="24622"/>
                  <a:pt x="0" y="32254"/>
                </a:cubicBezTo>
                <a:cubicBezTo>
                  <a:pt x="0" y="36602"/>
                  <a:pt x="2045" y="40692"/>
                  <a:pt x="5529" y="43312"/>
                </a:cubicBezTo>
                <a:lnTo>
                  <a:pt x="65429" y="88238"/>
                </a:lnTo>
                <a:cubicBezTo>
                  <a:pt x="70354" y="91924"/>
                  <a:pt x="77093" y="91924"/>
                  <a:pt x="82017" y="88238"/>
                </a:cubicBezTo>
                <a:lnTo>
                  <a:pt x="141917" y="43312"/>
                </a:lnTo>
                <a:cubicBezTo>
                  <a:pt x="145402" y="40692"/>
                  <a:pt x="147447" y="36602"/>
                  <a:pt x="147447" y="32254"/>
                </a:cubicBezTo>
                <a:cubicBezTo>
                  <a:pt x="147447" y="24622"/>
                  <a:pt x="141255" y="18431"/>
                  <a:pt x="133624" y="18431"/>
                </a:cubicBezTo>
                <a:lnTo>
                  <a:pt x="13823" y="18431"/>
                </a:lnTo>
                <a:close/>
                <a:moveTo>
                  <a:pt x="0" y="56444"/>
                </a:moveTo>
                <a:lnTo>
                  <a:pt x="0" y="110585"/>
                </a:lnTo>
                <a:cubicBezTo>
                  <a:pt x="0" y="120751"/>
                  <a:pt x="8265" y="129016"/>
                  <a:pt x="18431" y="129016"/>
                </a:cubicBezTo>
                <a:lnTo>
                  <a:pt x="129016" y="129016"/>
                </a:lnTo>
                <a:cubicBezTo>
                  <a:pt x="139182" y="129016"/>
                  <a:pt x="147447" y="120751"/>
                  <a:pt x="147447" y="110585"/>
                </a:cubicBezTo>
                <a:lnTo>
                  <a:pt x="147447" y="56444"/>
                </a:lnTo>
                <a:lnTo>
                  <a:pt x="90311" y="99296"/>
                </a:lnTo>
                <a:cubicBezTo>
                  <a:pt x="80491" y="106668"/>
                  <a:pt x="66956" y="106668"/>
                  <a:pt x="57136" y="99296"/>
                </a:cubicBezTo>
                <a:lnTo>
                  <a:pt x="0" y="56444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55" name="Text 53"/>
          <p:cNvSpPr/>
          <p:nvPr/>
        </p:nvSpPr>
        <p:spPr>
          <a:xfrm>
            <a:off x="6702682" y="4847311"/>
            <a:ext cx="1142712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Email Integration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50794" y="5160635"/>
            <a:ext cx="5160635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Add email notifications for critical status updates.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63247" y="5695129"/>
            <a:ext cx="5335728" cy="663510"/>
          </a:xfrm>
          <a:custGeom>
            <a:avLst/>
            <a:gdLst/>
            <a:ahLst/>
            <a:cxnLst/>
            <a:rect l="l" t="t" r="r" b="b"/>
            <a:pathLst>
              <a:path w="5335728" h="663510">
                <a:moveTo>
                  <a:pt x="36862" y="0"/>
                </a:moveTo>
                <a:lnTo>
                  <a:pt x="5262005" y="0"/>
                </a:lnTo>
                <a:cubicBezTo>
                  <a:pt x="5302721" y="0"/>
                  <a:pt x="5335728" y="33007"/>
                  <a:pt x="5335728" y="73723"/>
                </a:cubicBezTo>
                <a:lnTo>
                  <a:pt x="5335728" y="589788"/>
                </a:lnTo>
                <a:cubicBezTo>
                  <a:pt x="5335728" y="630503"/>
                  <a:pt x="5302721" y="663510"/>
                  <a:pt x="5262005" y="663510"/>
                </a:cubicBezTo>
                <a:lnTo>
                  <a:pt x="36862" y="663510"/>
                </a:lnTo>
                <a:cubicBezTo>
                  <a:pt x="16504" y="663510"/>
                  <a:pt x="0" y="647007"/>
                  <a:pt x="0" y="626649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6343281" y="5695129"/>
            <a:ext cx="36862" cy="663510"/>
          </a:xfrm>
          <a:custGeom>
            <a:avLst/>
            <a:gdLst/>
            <a:ahLst/>
            <a:cxnLst/>
            <a:rect l="l" t="t" r="r" b="b"/>
            <a:pathLst>
              <a:path w="36862" h="663510">
                <a:moveTo>
                  <a:pt x="36862" y="0"/>
                </a:moveTo>
                <a:lnTo>
                  <a:pt x="36862" y="0"/>
                </a:lnTo>
                <a:lnTo>
                  <a:pt x="36862" y="663510"/>
                </a:lnTo>
                <a:lnTo>
                  <a:pt x="36862" y="663510"/>
                </a:lnTo>
                <a:cubicBezTo>
                  <a:pt x="16504" y="663510"/>
                  <a:pt x="0" y="647007"/>
                  <a:pt x="0" y="626649"/>
                </a:cubicBezTo>
                <a:lnTo>
                  <a:pt x="0" y="36862"/>
                </a:lnTo>
                <a:cubicBezTo>
                  <a:pt x="0" y="16517"/>
                  <a:pt x="16517" y="0"/>
                  <a:pt x="36862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9" name="Shape 57"/>
          <p:cNvSpPr/>
          <p:nvPr/>
        </p:nvSpPr>
        <p:spPr>
          <a:xfrm>
            <a:off x="6468812" y="5898646"/>
            <a:ext cx="147447" cy="147447"/>
          </a:xfrm>
          <a:custGeom>
            <a:avLst/>
            <a:gdLst/>
            <a:ahLst/>
            <a:cxnLst/>
            <a:rect l="l" t="t" r="r" b="b"/>
            <a:pathLst>
              <a:path w="147447" h="147447">
                <a:moveTo>
                  <a:pt x="101341" y="80635"/>
                </a:moveTo>
                <a:lnTo>
                  <a:pt x="46365" y="80635"/>
                </a:lnTo>
                <a:cubicBezTo>
                  <a:pt x="47200" y="99210"/>
                  <a:pt x="51318" y="116316"/>
                  <a:pt x="57164" y="128843"/>
                </a:cubicBezTo>
                <a:cubicBezTo>
                  <a:pt x="60447" y="135899"/>
                  <a:pt x="63990" y="140881"/>
                  <a:pt x="67273" y="143933"/>
                </a:cubicBezTo>
                <a:cubicBezTo>
                  <a:pt x="70498" y="146957"/>
                  <a:pt x="72715" y="147447"/>
                  <a:pt x="73867" y="147447"/>
                </a:cubicBezTo>
                <a:cubicBezTo>
                  <a:pt x="75019" y="147447"/>
                  <a:pt x="77237" y="146957"/>
                  <a:pt x="80462" y="143933"/>
                </a:cubicBezTo>
                <a:cubicBezTo>
                  <a:pt x="83745" y="140881"/>
                  <a:pt x="87287" y="135870"/>
                  <a:pt x="90570" y="128843"/>
                </a:cubicBezTo>
                <a:cubicBezTo>
                  <a:pt x="96416" y="116316"/>
                  <a:pt x="100534" y="99210"/>
                  <a:pt x="101370" y="80635"/>
                </a:cubicBezTo>
                <a:close/>
                <a:moveTo>
                  <a:pt x="46336" y="66812"/>
                </a:moveTo>
                <a:lnTo>
                  <a:pt x="101312" y="66812"/>
                </a:lnTo>
                <a:cubicBezTo>
                  <a:pt x="100506" y="48237"/>
                  <a:pt x="96388" y="31131"/>
                  <a:pt x="90541" y="18604"/>
                </a:cubicBezTo>
                <a:cubicBezTo>
                  <a:pt x="87259" y="11577"/>
                  <a:pt x="83716" y="6566"/>
                  <a:pt x="80433" y="3513"/>
                </a:cubicBezTo>
                <a:cubicBezTo>
                  <a:pt x="77208" y="490"/>
                  <a:pt x="74990" y="0"/>
                  <a:pt x="73839" y="0"/>
                </a:cubicBezTo>
                <a:cubicBezTo>
                  <a:pt x="72687" y="0"/>
                  <a:pt x="70469" y="490"/>
                  <a:pt x="67244" y="3513"/>
                </a:cubicBezTo>
                <a:cubicBezTo>
                  <a:pt x="63961" y="6566"/>
                  <a:pt x="60419" y="11577"/>
                  <a:pt x="57136" y="18604"/>
                </a:cubicBezTo>
                <a:cubicBezTo>
                  <a:pt x="51290" y="31131"/>
                  <a:pt x="47171" y="48237"/>
                  <a:pt x="46336" y="66812"/>
                </a:cubicBezTo>
                <a:close/>
                <a:moveTo>
                  <a:pt x="32513" y="66812"/>
                </a:moveTo>
                <a:cubicBezTo>
                  <a:pt x="33521" y="42161"/>
                  <a:pt x="39885" y="19266"/>
                  <a:pt x="49187" y="4233"/>
                </a:cubicBezTo>
                <a:cubicBezTo>
                  <a:pt x="22664" y="13622"/>
                  <a:pt x="3139" y="37783"/>
                  <a:pt x="432" y="66812"/>
                </a:cubicBezTo>
                <a:lnTo>
                  <a:pt x="32513" y="66812"/>
                </a:lnTo>
                <a:close/>
                <a:moveTo>
                  <a:pt x="432" y="80635"/>
                </a:moveTo>
                <a:cubicBezTo>
                  <a:pt x="3139" y="109663"/>
                  <a:pt x="22664" y="133825"/>
                  <a:pt x="49187" y="143213"/>
                </a:cubicBezTo>
                <a:cubicBezTo>
                  <a:pt x="39885" y="128181"/>
                  <a:pt x="33521" y="105286"/>
                  <a:pt x="32513" y="80635"/>
                </a:cubicBezTo>
                <a:lnTo>
                  <a:pt x="432" y="80635"/>
                </a:lnTo>
                <a:close/>
                <a:moveTo>
                  <a:pt x="115164" y="80635"/>
                </a:moveTo>
                <a:cubicBezTo>
                  <a:pt x="114156" y="105286"/>
                  <a:pt x="107792" y="128181"/>
                  <a:pt x="98490" y="143213"/>
                </a:cubicBezTo>
                <a:cubicBezTo>
                  <a:pt x="125013" y="133796"/>
                  <a:pt x="144538" y="109663"/>
                  <a:pt x="147245" y="80635"/>
                </a:cubicBezTo>
                <a:lnTo>
                  <a:pt x="115164" y="80635"/>
                </a:lnTo>
                <a:close/>
                <a:moveTo>
                  <a:pt x="147245" y="66812"/>
                </a:moveTo>
                <a:cubicBezTo>
                  <a:pt x="144538" y="37783"/>
                  <a:pt x="125013" y="13622"/>
                  <a:pt x="98490" y="4233"/>
                </a:cubicBezTo>
                <a:cubicBezTo>
                  <a:pt x="107792" y="19266"/>
                  <a:pt x="114156" y="42161"/>
                  <a:pt x="115164" y="66812"/>
                </a:cubicBezTo>
                <a:lnTo>
                  <a:pt x="147245" y="66812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60" name="Text 58"/>
          <p:cNvSpPr/>
          <p:nvPr/>
        </p:nvSpPr>
        <p:spPr>
          <a:xfrm>
            <a:off x="6702682" y="5805714"/>
            <a:ext cx="1585052" cy="221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95002" y="6119039"/>
            <a:ext cx="5160635" cy="1843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Add Malay and English for broader accessibility.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391" y="353391"/>
            <a:ext cx="1404730" cy="247374"/>
          </a:xfrm>
          <a:custGeom>
            <a:avLst/>
            <a:gdLst/>
            <a:ahLst/>
            <a:cxnLst/>
            <a:rect l="l" t="t" r="r" b="b"/>
            <a:pathLst>
              <a:path w="1404730" h="247374">
                <a:moveTo>
                  <a:pt x="123687" y="0"/>
                </a:moveTo>
                <a:lnTo>
                  <a:pt x="1281043" y="0"/>
                </a:lnTo>
                <a:cubicBezTo>
                  <a:pt x="1349308" y="0"/>
                  <a:pt x="1404730" y="55422"/>
                  <a:pt x="1404730" y="123687"/>
                </a:cubicBezTo>
                <a:lnTo>
                  <a:pt x="1404730" y="123687"/>
                </a:lnTo>
                <a:cubicBezTo>
                  <a:pt x="1404730" y="191952"/>
                  <a:pt x="1349308" y="247374"/>
                  <a:pt x="1281043" y="247374"/>
                </a:cubicBezTo>
                <a:lnTo>
                  <a:pt x="123687" y="247374"/>
                </a:lnTo>
                <a:cubicBezTo>
                  <a:pt x="55422" y="247374"/>
                  <a:pt x="0" y="191952"/>
                  <a:pt x="0" y="123687"/>
                </a:cubicBezTo>
                <a:lnTo>
                  <a:pt x="0" y="123687"/>
                </a:lnTo>
                <a:cubicBezTo>
                  <a:pt x="0" y="55422"/>
                  <a:pt x="55422" y="0"/>
                  <a:pt x="123687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53391" y="353391"/>
            <a:ext cx="1466574" cy="247374"/>
          </a:xfrm>
          <a:prstGeom prst="rect">
            <a:avLst/>
          </a:prstGeom>
          <a:noFill/>
        </p:spPr>
        <p:txBody>
          <a:bodyPr wrap="square" lIns="141357" tIns="35339" rIns="141357" bIns="35339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SYNTHESIS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3391" y="713353"/>
            <a:ext cx="11697252" cy="424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Problem, Solution &amp; Team Collaboration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3391" y="1236870"/>
            <a:ext cx="5671930" cy="2968487"/>
          </a:xfrm>
          <a:custGeom>
            <a:avLst/>
            <a:gdLst/>
            <a:ahLst/>
            <a:cxnLst/>
            <a:rect l="l" t="t" r="r" b="b"/>
            <a:pathLst>
              <a:path w="5671930" h="2968487">
                <a:moveTo>
                  <a:pt x="70680" y="0"/>
                </a:moveTo>
                <a:lnTo>
                  <a:pt x="5601251" y="0"/>
                </a:lnTo>
                <a:cubicBezTo>
                  <a:pt x="5640286" y="0"/>
                  <a:pt x="5671930" y="31644"/>
                  <a:pt x="5671930" y="70680"/>
                </a:cubicBezTo>
                <a:lnTo>
                  <a:pt x="5671930" y="2897807"/>
                </a:lnTo>
                <a:cubicBezTo>
                  <a:pt x="5671930" y="2936843"/>
                  <a:pt x="5640286" y="2968487"/>
                  <a:pt x="5601251" y="2968487"/>
                </a:cubicBezTo>
                <a:lnTo>
                  <a:pt x="70680" y="2968487"/>
                </a:lnTo>
                <a:cubicBezTo>
                  <a:pt x="31644" y="2968487"/>
                  <a:pt x="0" y="2936843"/>
                  <a:pt x="0" y="2897807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6A8A94"/>
          </a:solidFill>
          <a:effectLst>
            <a:outerShdw blurRad="132522" dist="8834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52" y="1413565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cubicBezTo>
                  <a:pt x="112105" y="0"/>
                  <a:pt x="117696" y="3354"/>
                  <a:pt x="120595" y="8697"/>
                </a:cubicBezTo>
                <a:lnTo>
                  <a:pt x="210047" y="174349"/>
                </a:lnTo>
                <a:cubicBezTo>
                  <a:pt x="212822" y="179484"/>
                  <a:pt x="212697" y="185696"/>
                  <a:pt x="209716" y="190707"/>
                </a:cubicBezTo>
                <a:cubicBezTo>
                  <a:pt x="206734" y="195718"/>
                  <a:pt x="201309" y="198783"/>
                  <a:pt x="195470" y="198783"/>
                </a:cubicBezTo>
                <a:lnTo>
                  <a:pt x="16565" y="198783"/>
                </a:lnTo>
                <a:cubicBezTo>
                  <a:pt x="10726" y="198783"/>
                  <a:pt x="5342" y="195718"/>
                  <a:pt x="2319" y="190707"/>
                </a:cubicBezTo>
                <a:cubicBezTo>
                  <a:pt x="-704" y="185696"/>
                  <a:pt x="-787" y="179484"/>
                  <a:pt x="1988" y="174349"/>
                </a:cubicBezTo>
                <a:lnTo>
                  <a:pt x="91440" y="8697"/>
                </a:lnTo>
                <a:cubicBezTo>
                  <a:pt x="94339" y="3354"/>
                  <a:pt x="99930" y="0"/>
                  <a:pt x="106017" y="0"/>
                </a:cubicBezTo>
                <a:close/>
                <a:moveTo>
                  <a:pt x="106017" y="69574"/>
                </a:moveTo>
                <a:cubicBezTo>
                  <a:pt x="100509" y="69574"/>
                  <a:pt x="96078" y="74005"/>
                  <a:pt x="96078" y="79513"/>
                </a:cubicBezTo>
                <a:lnTo>
                  <a:pt x="96078" y="125896"/>
                </a:lnTo>
                <a:cubicBezTo>
                  <a:pt x="96078" y="131404"/>
                  <a:pt x="100509" y="135835"/>
                  <a:pt x="106017" y="135835"/>
                </a:cubicBezTo>
                <a:cubicBezTo>
                  <a:pt x="111525" y="135835"/>
                  <a:pt x="115957" y="131404"/>
                  <a:pt x="115957" y="125896"/>
                </a:cubicBezTo>
                <a:lnTo>
                  <a:pt x="115957" y="79513"/>
                </a:lnTo>
                <a:cubicBezTo>
                  <a:pt x="115957" y="74005"/>
                  <a:pt x="111525" y="69574"/>
                  <a:pt x="106017" y="69574"/>
                </a:cubicBezTo>
                <a:close/>
                <a:moveTo>
                  <a:pt x="117075" y="159026"/>
                </a:moveTo>
                <a:cubicBezTo>
                  <a:pt x="117326" y="154922"/>
                  <a:pt x="115279" y="151017"/>
                  <a:pt x="111761" y="148889"/>
                </a:cubicBezTo>
                <a:cubicBezTo>
                  <a:pt x="108243" y="146760"/>
                  <a:pt x="103834" y="146760"/>
                  <a:pt x="100315" y="148889"/>
                </a:cubicBezTo>
                <a:cubicBezTo>
                  <a:pt x="96797" y="151017"/>
                  <a:pt x="94750" y="154922"/>
                  <a:pt x="95002" y="159026"/>
                </a:cubicBezTo>
                <a:cubicBezTo>
                  <a:pt x="94750" y="163130"/>
                  <a:pt x="96797" y="167035"/>
                  <a:pt x="100315" y="169164"/>
                </a:cubicBezTo>
                <a:cubicBezTo>
                  <a:pt x="103834" y="171292"/>
                  <a:pt x="108243" y="171292"/>
                  <a:pt x="111761" y="169164"/>
                </a:cubicBezTo>
                <a:cubicBezTo>
                  <a:pt x="115279" y="167035"/>
                  <a:pt x="117326" y="163130"/>
                  <a:pt x="117075" y="159026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7" name="Text 5"/>
          <p:cNvSpPr/>
          <p:nvPr/>
        </p:nvSpPr>
        <p:spPr>
          <a:xfrm>
            <a:off x="865809" y="1378226"/>
            <a:ext cx="1387061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4748" y="1766957"/>
            <a:ext cx="5459896" cy="4594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The paper-based maintenance reporting process at UTM hostels suffers from three critical inefficiencies: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417" y="2332383"/>
            <a:ext cx="5371548" cy="530087"/>
          </a:xfrm>
          <a:custGeom>
            <a:avLst/>
            <a:gdLst/>
            <a:ahLst/>
            <a:cxnLst/>
            <a:rect l="l" t="t" r="r" b="b"/>
            <a:pathLst>
              <a:path w="5371548" h="530087">
                <a:moveTo>
                  <a:pt x="35339" y="0"/>
                </a:moveTo>
                <a:lnTo>
                  <a:pt x="5300871" y="0"/>
                </a:lnTo>
                <a:cubicBezTo>
                  <a:pt x="5339905" y="0"/>
                  <a:pt x="5371548" y="31643"/>
                  <a:pt x="5371548" y="70676"/>
                </a:cubicBezTo>
                <a:lnTo>
                  <a:pt x="5371548" y="459410"/>
                </a:lnTo>
                <a:cubicBezTo>
                  <a:pt x="5371548" y="498444"/>
                  <a:pt x="5339905" y="530087"/>
                  <a:pt x="5300871" y="530087"/>
                </a:cubicBez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12417" y="2332383"/>
            <a:ext cx="35339" cy="530087"/>
          </a:xfrm>
          <a:custGeom>
            <a:avLst/>
            <a:gdLst/>
            <a:ahLst/>
            <a:cxnLst/>
            <a:rect l="l" t="t" r="r" b="b"/>
            <a:pathLst>
              <a:path w="35339" h="530087">
                <a:moveTo>
                  <a:pt x="35339" y="0"/>
                </a:moveTo>
                <a:lnTo>
                  <a:pt x="35339" y="0"/>
                </a:lnTo>
                <a:lnTo>
                  <a:pt x="35339" y="530087"/>
                </a:ln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1" name="Text 9"/>
          <p:cNvSpPr/>
          <p:nvPr/>
        </p:nvSpPr>
        <p:spPr>
          <a:xfrm>
            <a:off x="600765" y="2403061"/>
            <a:ext cx="5283200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Low Efficiency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0765" y="2615096"/>
            <a:ext cx="5274365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Requires physical submission during office hours only.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417" y="2933148"/>
            <a:ext cx="5371548" cy="530087"/>
          </a:xfrm>
          <a:custGeom>
            <a:avLst/>
            <a:gdLst/>
            <a:ahLst/>
            <a:cxnLst/>
            <a:rect l="l" t="t" r="r" b="b"/>
            <a:pathLst>
              <a:path w="5371548" h="530087">
                <a:moveTo>
                  <a:pt x="35339" y="0"/>
                </a:moveTo>
                <a:lnTo>
                  <a:pt x="5300871" y="0"/>
                </a:lnTo>
                <a:cubicBezTo>
                  <a:pt x="5339905" y="0"/>
                  <a:pt x="5371548" y="31643"/>
                  <a:pt x="5371548" y="70676"/>
                </a:cubicBezTo>
                <a:lnTo>
                  <a:pt x="5371548" y="459410"/>
                </a:lnTo>
                <a:cubicBezTo>
                  <a:pt x="5371548" y="498444"/>
                  <a:pt x="5339905" y="530087"/>
                  <a:pt x="5300871" y="530087"/>
                </a:cubicBez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12417" y="2933148"/>
            <a:ext cx="35339" cy="530087"/>
          </a:xfrm>
          <a:custGeom>
            <a:avLst/>
            <a:gdLst/>
            <a:ahLst/>
            <a:cxnLst/>
            <a:rect l="l" t="t" r="r" b="b"/>
            <a:pathLst>
              <a:path w="35339" h="530087">
                <a:moveTo>
                  <a:pt x="35339" y="0"/>
                </a:moveTo>
                <a:lnTo>
                  <a:pt x="35339" y="0"/>
                </a:lnTo>
                <a:lnTo>
                  <a:pt x="35339" y="530087"/>
                </a:ln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5" name="Text 13"/>
          <p:cNvSpPr/>
          <p:nvPr/>
        </p:nvSpPr>
        <p:spPr>
          <a:xfrm>
            <a:off x="600765" y="3003826"/>
            <a:ext cx="5283200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Lack of Transparency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0765" y="3215861"/>
            <a:ext cx="5274365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visibility into repair progress or completion status.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417" y="3533913"/>
            <a:ext cx="5371548" cy="530087"/>
          </a:xfrm>
          <a:custGeom>
            <a:avLst/>
            <a:gdLst/>
            <a:ahLst/>
            <a:cxnLst/>
            <a:rect l="l" t="t" r="r" b="b"/>
            <a:pathLst>
              <a:path w="5371548" h="530087">
                <a:moveTo>
                  <a:pt x="35339" y="0"/>
                </a:moveTo>
                <a:lnTo>
                  <a:pt x="5300871" y="0"/>
                </a:lnTo>
                <a:cubicBezTo>
                  <a:pt x="5339905" y="0"/>
                  <a:pt x="5371548" y="31643"/>
                  <a:pt x="5371548" y="70676"/>
                </a:cubicBezTo>
                <a:lnTo>
                  <a:pt x="5371548" y="459410"/>
                </a:lnTo>
                <a:cubicBezTo>
                  <a:pt x="5371548" y="498444"/>
                  <a:pt x="5339905" y="530087"/>
                  <a:pt x="5300871" y="530087"/>
                </a:cubicBez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512417" y="3533913"/>
            <a:ext cx="35339" cy="530087"/>
          </a:xfrm>
          <a:custGeom>
            <a:avLst/>
            <a:gdLst/>
            <a:ahLst/>
            <a:cxnLst/>
            <a:rect l="l" t="t" r="r" b="b"/>
            <a:pathLst>
              <a:path w="35339" h="530087">
                <a:moveTo>
                  <a:pt x="35339" y="0"/>
                </a:moveTo>
                <a:lnTo>
                  <a:pt x="35339" y="0"/>
                </a:lnTo>
                <a:lnTo>
                  <a:pt x="35339" y="530087"/>
                </a:lnTo>
                <a:lnTo>
                  <a:pt x="35339" y="530087"/>
                </a:lnTo>
                <a:cubicBezTo>
                  <a:pt x="15822" y="530087"/>
                  <a:pt x="0" y="514265"/>
                  <a:pt x="0" y="494748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9" name="Text 17"/>
          <p:cNvSpPr/>
          <p:nvPr/>
        </p:nvSpPr>
        <p:spPr>
          <a:xfrm>
            <a:off x="600765" y="3604591"/>
            <a:ext cx="5283200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High Risk of Loss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0765" y="3816626"/>
            <a:ext cx="5274365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Paper forms vulnerable to damage, disorganization, or loss.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4654" y="1254539"/>
            <a:ext cx="5671930" cy="2950817"/>
          </a:xfrm>
          <a:custGeom>
            <a:avLst/>
            <a:gdLst/>
            <a:ahLst/>
            <a:cxnLst/>
            <a:rect l="l" t="t" r="r" b="b"/>
            <a:pathLst>
              <a:path w="5671930" h="2950817">
                <a:moveTo>
                  <a:pt x="35339" y="0"/>
                </a:moveTo>
                <a:lnTo>
                  <a:pt x="5636591" y="0"/>
                </a:lnTo>
                <a:cubicBezTo>
                  <a:pt x="5656109" y="0"/>
                  <a:pt x="5671930" y="15822"/>
                  <a:pt x="5671930" y="35339"/>
                </a:cubicBezTo>
                <a:lnTo>
                  <a:pt x="5671930" y="2880145"/>
                </a:lnTo>
                <a:cubicBezTo>
                  <a:pt x="5671930" y="2919176"/>
                  <a:pt x="5640289" y="2950817"/>
                  <a:pt x="5601258" y="2950817"/>
                </a:cubicBezTo>
                <a:lnTo>
                  <a:pt x="70672" y="2950817"/>
                </a:lnTo>
                <a:cubicBezTo>
                  <a:pt x="31641" y="2950817"/>
                  <a:pt x="0" y="2919176"/>
                  <a:pt x="0" y="2880145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2522" dist="8834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4654" y="1254539"/>
            <a:ext cx="5671930" cy="35339"/>
          </a:xfrm>
          <a:custGeom>
            <a:avLst/>
            <a:gdLst/>
            <a:ahLst/>
            <a:cxnLst/>
            <a:rect l="l" t="t" r="r" b="b"/>
            <a:pathLst>
              <a:path w="5671930" h="35339">
                <a:moveTo>
                  <a:pt x="35339" y="0"/>
                </a:moveTo>
                <a:lnTo>
                  <a:pt x="5636591" y="0"/>
                </a:lnTo>
                <a:cubicBezTo>
                  <a:pt x="5656109" y="0"/>
                  <a:pt x="5671930" y="15822"/>
                  <a:pt x="5671930" y="35339"/>
                </a:cubicBezTo>
                <a:lnTo>
                  <a:pt x="5671930" y="35339"/>
                </a:lnTo>
                <a:lnTo>
                  <a:pt x="0" y="35339"/>
                </a:ln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23" name="Shape 21"/>
          <p:cNvSpPr/>
          <p:nvPr/>
        </p:nvSpPr>
        <p:spPr>
          <a:xfrm>
            <a:off x="6332515" y="1448904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59759" y="0"/>
                </a:moveTo>
                <a:lnTo>
                  <a:pt x="152524" y="0"/>
                </a:lnTo>
                <a:cubicBezTo>
                  <a:pt x="163499" y="0"/>
                  <a:pt x="172444" y="9028"/>
                  <a:pt x="172030" y="19961"/>
                </a:cubicBezTo>
                <a:cubicBezTo>
                  <a:pt x="171947" y="22156"/>
                  <a:pt x="171864" y="24351"/>
                  <a:pt x="171740" y="26504"/>
                </a:cubicBezTo>
                <a:lnTo>
                  <a:pt x="192281" y="26504"/>
                </a:lnTo>
                <a:cubicBezTo>
                  <a:pt x="203090" y="26504"/>
                  <a:pt x="212615" y="35450"/>
                  <a:pt x="211786" y="47128"/>
                </a:cubicBezTo>
                <a:cubicBezTo>
                  <a:pt x="208680" y="90073"/>
                  <a:pt x="186731" y="113679"/>
                  <a:pt x="162919" y="126020"/>
                </a:cubicBezTo>
                <a:cubicBezTo>
                  <a:pt x="156376" y="129416"/>
                  <a:pt x="149708" y="131942"/>
                  <a:pt x="143372" y="133806"/>
                </a:cubicBezTo>
                <a:cubicBezTo>
                  <a:pt x="135007" y="145650"/>
                  <a:pt x="126310" y="151903"/>
                  <a:pt x="119394" y="155258"/>
                </a:cubicBezTo>
                <a:lnTo>
                  <a:pt x="119394" y="185530"/>
                </a:lnTo>
                <a:lnTo>
                  <a:pt x="145898" y="185530"/>
                </a:lnTo>
                <a:cubicBezTo>
                  <a:pt x="153228" y="185530"/>
                  <a:pt x="159150" y="191453"/>
                  <a:pt x="159150" y="198783"/>
                </a:cubicBezTo>
                <a:cubicBezTo>
                  <a:pt x="159150" y="206113"/>
                  <a:pt x="153228" y="212035"/>
                  <a:pt x="145898" y="212035"/>
                </a:cubicBezTo>
                <a:lnTo>
                  <a:pt x="66385" y="212035"/>
                </a:lnTo>
                <a:cubicBezTo>
                  <a:pt x="59055" y="212035"/>
                  <a:pt x="53133" y="206113"/>
                  <a:pt x="53133" y="198783"/>
                </a:cubicBezTo>
                <a:cubicBezTo>
                  <a:pt x="53133" y="191453"/>
                  <a:pt x="59055" y="185530"/>
                  <a:pt x="66385" y="185530"/>
                </a:cubicBezTo>
                <a:lnTo>
                  <a:pt x="92889" y="185530"/>
                </a:lnTo>
                <a:lnTo>
                  <a:pt x="92889" y="155257"/>
                </a:lnTo>
                <a:cubicBezTo>
                  <a:pt x="86263" y="152069"/>
                  <a:pt x="78022" y="146147"/>
                  <a:pt x="69988" y="135255"/>
                </a:cubicBezTo>
                <a:cubicBezTo>
                  <a:pt x="62368" y="133267"/>
                  <a:pt x="54085" y="130244"/>
                  <a:pt x="46010" y="125689"/>
                </a:cubicBezTo>
                <a:cubicBezTo>
                  <a:pt x="23605" y="113140"/>
                  <a:pt x="3396" y="89494"/>
                  <a:pt x="497" y="47045"/>
                </a:cubicBezTo>
                <a:cubicBezTo>
                  <a:pt x="-290" y="35408"/>
                  <a:pt x="9194" y="26463"/>
                  <a:pt x="20003" y="26463"/>
                </a:cubicBezTo>
                <a:lnTo>
                  <a:pt x="40543" y="26463"/>
                </a:lnTo>
                <a:cubicBezTo>
                  <a:pt x="40419" y="24309"/>
                  <a:pt x="40336" y="22156"/>
                  <a:pt x="40253" y="19920"/>
                </a:cubicBezTo>
                <a:cubicBezTo>
                  <a:pt x="39839" y="8945"/>
                  <a:pt x="48785" y="-41"/>
                  <a:pt x="59759" y="-41"/>
                </a:cubicBezTo>
                <a:close/>
                <a:moveTo>
                  <a:pt x="42034" y="46383"/>
                </a:moveTo>
                <a:lnTo>
                  <a:pt x="20334" y="46383"/>
                </a:lnTo>
                <a:cubicBezTo>
                  <a:pt x="22901" y="81459"/>
                  <a:pt x="39011" y="99019"/>
                  <a:pt x="55618" y="108337"/>
                </a:cubicBezTo>
                <a:cubicBezTo>
                  <a:pt x="49654" y="92889"/>
                  <a:pt x="44726" y="72721"/>
                  <a:pt x="42034" y="46383"/>
                </a:cubicBezTo>
                <a:close/>
                <a:moveTo>
                  <a:pt x="157370" y="106349"/>
                </a:moveTo>
                <a:cubicBezTo>
                  <a:pt x="174142" y="96492"/>
                  <a:pt x="189299" y="78975"/>
                  <a:pt x="191867" y="46383"/>
                </a:cubicBezTo>
                <a:lnTo>
                  <a:pt x="170208" y="46383"/>
                </a:lnTo>
                <a:cubicBezTo>
                  <a:pt x="167640" y="71603"/>
                  <a:pt x="163002" y="91192"/>
                  <a:pt x="157370" y="106349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4" name="Text 22"/>
          <p:cNvSpPr/>
          <p:nvPr/>
        </p:nvSpPr>
        <p:spPr>
          <a:xfrm>
            <a:off x="6677071" y="1413565"/>
            <a:ext cx="2721113" cy="2827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BMMS Solution Advantages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23680" y="1802296"/>
            <a:ext cx="5371548" cy="706783"/>
          </a:xfrm>
          <a:custGeom>
            <a:avLst/>
            <a:gdLst/>
            <a:ahLst/>
            <a:cxnLst/>
            <a:rect l="l" t="t" r="r" b="b"/>
            <a:pathLst>
              <a:path w="5371548" h="706783">
                <a:moveTo>
                  <a:pt x="35339" y="0"/>
                </a:moveTo>
                <a:lnTo>
                  <a:pt x="5300870" y="0"/>
                </a:lnTo>
                <a:cubicBezTo>
                  <a:pt x="5339904" y="0"/>
                  <a:pt x="5371548" y="31644"/>
                  <a:pt x="5371548" y="70678"/>
                </a:cubicBezTo>
                <a:lnTo>
                  <a:pt x="5371548" y="636104"/>
                </a:lnTo>
                <a:cubicBezTo>
                  <a:pt x="5371548" y="675139"/>
                  <a:pt x="5339904" y="706783"/>
                  <a:pt x="5300870" y="706783"/>
                </a:cubicBezTo>
                <a:lnTo>
                  <a:pt x="35339" y="706783"/>
                </a:lnTo>
                <a:cubicBezTo>
                  <a:pt x="15822" y="706783"/>
                  <a:pt x="0" y="690961"/>
                  <a:pt x="0" y="6714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323680" y="1802296"/>
            <a:ext cx="35339" cy="706783"/>
          </a:xfrm>
          <a:custGeom>
            <a:avLst/>
            <a:gdLst/>
            <a:ahLst/>
            <a:cxnLst/>
            <a:rect l="l" t="t" r="r" b="b"/>
            <a:pathLst>
              <a:path w="35339" h="706783">
                <a:moveTo>
                  <a:pt x="35339" y="0"/>
                </a:moveTo>
                <a:lnTo>
                  <a:pt x="35339" y="0"/>
                </a:lnTo>
                <a:lnTo>
                  <a:pt x="35339" y="706783"/>
                </a:lnTo>
                <a:lnTo>
                  <a:pt x="35339" y="706783"/>
                </a:lnTo>
                <a:cubicBezTo>
                  <a:pt x="15822" y="706783"/>
                  <a:pt x="0" y="690961"/>
                  <a:pt x="0" y="6714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7" name="Shape 25"/>
          <p:cNvSpPr/>
          <p:nvPr/>
        </p:nvSpPr>
        <p:spPr>
          <a:xfrm>
            <a:off x="6480497" y="1943652"/>
            <a:ext cx="154609" cy="176696"/>
          </a:xfrm>
          <a:custGeom>
            <a:avLst/>
            <a:gdLst/>
            <a:ahLst/>
            <a:cxnLst/>
            <a:rect l="l" t="t" r="r" b="b"/>
            <a:pathLst>
              <a:path w="154609" h="176696">
                <a:moveTo>
                  <a:pt x="116923" y="-3417"/>
                </a:moveTo>
                <a:cubicBezTo>
                  <a:pt x="121030" y="-449"/>
                  <a:pt x="122548" y="4935"/>
                  <a:pt x="120685" y="9629"/>
                </a:cubicBezTo>
                <a:lnTo>
                  <a:pt x="93628" y="77304"/>
                </a:lnTo>
                <a:lnTo>
                  <a:pt x="143565" y="77304"/>
                </a:lnTo>
                <a:cubicBezTo>
                  <a:pt x="148224" y="77304"/>
                  <a:pt x="152365" y="80203"/>
                  <a:pt x="153953" y="84586"/>
                </a:cubicBezTo>
                <a:cubicBezTo>
                  <a:pt x="155540" y="88969"/>
                  <a:pt x="154195" y="93870"/>
                  <a:pt x="150640" y="96838"/>
                </a:cubicBezTo>
                <a:lnTo>
                  <a:pt x="51249" y="179664"/>
                </a:lnTo>
                <a:cubicBezTo>
                  <a:pt x="47349" y="182908"/>
                  <a:pt x="41793" y="183080"/>
                  <a:pt x="37686" y="180112"/>
                </a:cubicBezTo>
                <a:cubicBezTo>
                  <a:pt x="33579" y="177144"/>
                  <a:pt x="32061" y="171761"/>
                  <a:pt x="33924" y="167067"/>
                </a:cubicBezTo>
                <a:lnTo>
                  <a:pt x="60981" y="99391"/>
                </a:lnTo>
                <a:lnTo>
                  <a:pt x="11043" y="99391"/>
                </a:lnTo>
                <a:cubicBezTo>
                  <a:pt x="6385" y="99391"/>
                  <a:pt x="2243" y="96492"/>
                  <a:pt x="656" y="92110"/>
                </a:cubicBezTo>
                <a:cubicBezTo>
                  <a:pt x="-932" y="87727"/>
                  <a:pt x="414" y="82826"/>
                  <a:pt x="3969" y="79858"/>
                </a:cubicBezTo>
                <a:lnTo>
                  <a:pt x="103360" y="-2968"/>
                </a:lnTo>
                <a:cubicBezTo>
                  <a:pt x="107260" y="-6212"/>
                  <a:pt x="112816" y="-6385"/>
                  <a:pt x="116923" y="-341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8" name="Text 26"/>
          <p:cNvSpPr/>
          <p:nvPr/>
        </p:nvSpPr>
        <p:spPr>
          <a:xfrm>
            <a:off x="6774254" y="1908313"/>
            <a:ext cx="786296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7367" y="2191026"/>
            <a:ext cx="5212522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Instant reporting accessible 24/7 from any location.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23680" y="2579757"/>
            <a:ext cx="5371548" cy="706783"/>
          </a:xfrm>
          <a:custGeom>
            <a:avLst/>
            <a:gdLst/>
            <a:ahLst/>
            <a:cxnLst/>
            <a:rect l="l" t="t" r="r" b="b"/>
            <a:pathLst>
              <a:path w="5371548" h="706783">
                <a:moveTo>
                  <a:pt x="35339" y="0"/>
                </a:moveTo>
                <a:lnTo>
                  <a:pt x="5300870" y="0"/>
                </a:lnTo>
                <a:cubicBezTo>
                  <a:pt x="5339904" y="0"/>
                  <a:pt x="5371548" y="31644"/>
                  <a:pt x="5371548" y="70678"/>
                </a:cubicBezTo>
                <a:lnTo>
                  <a:pt x="5371548" y="636104"/>
                </a:lnTo>
                <a:cubicBezTo>
                  <a:pt x="5371548" y="675139"/>
                  <a:pt x="5339904" y="706783"/>
                  <a:pt x="5300870" y="706783"/>
                </a:cubicBezTo>
                <a:lnTo>
                  <a:pt x="35339" y="706783"/>
                </a:lnTo>
                <a:cubicBezTo>
                  <a:pt x="15822" y="706783"/>
                  <a:pt x="0" y="690961"/>
                  <a:pt x="0" y="6714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323680" y="2579757"/>
            <a:ext cx="35339" cy="706783"/>
          </a:xfrm>
          <a:custGeom>
            <a:avLst/>
            <a:gdLst/>
            <a:ahLst/>
            <a:cxnLst/>
            <a:rect l="l" t="t" r="r" b="b"/>
            <a:pathLst>
              <a:path w="35339" h="706783">
                <a:moveTo>
                  <a:pt x="35339" y="0"/>
                </a:moveTo>
                <a:lnTo>
                  <a:pt x="35339" y="0"/>
                </a:lnTo>
                <a:lnTo>
                  <a:pt x="35339" y="706783"/>
                </a:lnTo>
                <a:lnTo>
                  <a:pt x="35339" y="706783"/>
                </a:lnTo>
                <a:cubicBezTo>
                  <a:pt x="15822" y="706783"/>
                  <a:pt x="0" y="690961"/>
                  <a:pt x="0" y="6714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2" name="Shape 30"/>
          <p:cNvSpPr/>
          <p:nvPr/>
        </p:nvSpPr>
        <p:spPr>
          <a:xfrm>
            <a:off x="6458411" y="2721113"/>
            <a:ext cx="198783" cy="176696"/>
          </a:xfrm>
          <a:custGeom>
            <a:avLst/>
            <a:gdLst/>
            <a:ahLst/>
            <a:cxnLst/>
            <a:rect l="l" t="t" r="r" b="b"/>
            <a:pathLst>
              <a:path w="198783" h="176696">
                <a:moveTo>
                  <a:pt x="99391" y="11043"/>
                </a:moveTo>
                <a:cubicBezTo>
                  <a:pt x="71507" y="11043"/>
                  <a:pt x="49178" y="23743"/>
                  <a:pt x="32923" y="38859"/>
                </a:cubicBezTo>
                <a:cubicBezTo>
                  <a:pt x="16772" y="53871"/>
                  <a:pt x="5970" y="71783"/>
                  <a:pt x="828" y="84103"/>
                </a:cubicBezTo>
                <a:cubicBezTo>
                  <a:pt x="-311" y="86829"/>
                  <a:pt x="-311" y="89866"/>
                  <a:pt x="828" y="92593"/>
                </a:cubicBezTo>
                <a:cubicBezTo>
                  <a:pt x="5970" y="104913"/>
                  <a:pt x="16772" y="122859"/>
                  <a:pt x="32923" y="137836"/>
                </a:cubicBezTo>
                <a:cubicBezTo>
                  <a:pt x="49178" y="152918"/>
                  <a:pt x="71507" y="165652"/>
                  <a:pt x="99391" y="165652"/>
                </a:cubicBezTo>
                <a:cubicBezTo>
                  <a:pt x="127276" y="165652"/>
                  <a:pt x="149605" y="152952"/>
                  <a:pt x="165859" y="137836"/>
                </a:cubicBezTo>
                <a:cubicBezTo>
                  <a:pt x="182010" y="122824"/>
                  <a:pt x="192812" y="104913"/>
                  <a:pt x="197954" y="92593"/>
                </a:cubicBezTo>
                <a:cubicBezTo>
                  <a:pt x="199093" y="89866"/>
                  <a:pt x="199093" y="86829"/>
                  <a:pt x="197954" y="84103"/>
                </a:cubicBezTo>
                <a:cubicBezTo>
                  <a:pt x="192812" y="71783"/>
                  <a:pt x="182010" y="53837"/>
                  <a:pt x="165859" y="38859"/>
                </a:cubicBezTo>
                <a:cubicBezTo>
                  <a:pt x="149605" y="23778"/>
                  <a:pt x="127276" y="11043"/>
                  <a:pt x="99391" y="11043"/>
                </a:cubicBezTo>
                <a:close/>
                <a:moveTo>
                  <a:pt x="49696" y="88348"/>
                </a:moveTo>
                <a:cubicBezTo>
                  <a:pt x="49696" y="60920"/>
                  <a:pt x="71964" y="38652"/>
                  <a:pt x="99391" y="38652"/>
                </a:cubicBezTo>
                <a:cubicBezTo>
                  <a:pt x="126819" y="38652"/>
                  <a:pt x="149087" y="60920"/>
                  <a:pt x="149087" y="88348"/>
                </a:cubicBezTo>
                <a:cubicBezTo>
                  <a:pt x="149087" y="115776"/>
                  <a:pt x="126819" y="138043"/>
                  <a:pt x="99391" y="138043"/>
                </a:cubicBezTo>
                <a:cubicBezTo>
                  <a:pt x="71964" y="138043"/>
                  <a:pt x="49696" y="115776"/>
                  <a:pt x="49696" y="88348"/>
                </a:cubicBezTo>
                <a:close/>
                <a:moveTo>
                  <a:pt x="99391" y="66261"/>
                </a:moveTo>
                <a:cubicBezTo>
                  <a:pt x="99391" y="78443"/>
                  <a:pt x="89487" y="88348"/>
                  <a:pt x="77304" y="88348"/>
                </a:cubicBezTo>
                <a:cubicBezTo>
                  <a:pt x="73336" y="88348"/>
                  <a:pt x="69608" y="87313"/>
                  <a:pt x="66364" y="85449"/>
                </a:cubicBezTo>
                <a:cubicBezTo>
                  <a:pt x="66019" y="89211"/>
                  <a:pt x="66330" y="93076"/>
                  <a:pt x="67365" y="96907"/>
                </a:cubicBezTo>
                <a:cubicBezTo>
                  <a:pt x="72093" y="114576"/>
                  <a:pt x="90280" y="125067"/>
                  <a:pt x="107950" y="120339"/>
                </a:cubicBezTo>
                <a:cubicBezTo>
                  <a:pt x="125620" y="115611"/>
                  <a:pt x="136111" y="97424"/>
                  <a:pt x="131383" y="79755"/>
                </a:cubicBezTo>
                <a:cubicBezTo>
                  <a:pt x="127173" y="63983"/>
                  <a:pt x="112229" y="53940"/>
                  <a:pt x="96492" y="55321"/>
                </a:cubicBezTo>
                <a:cubicBezTo>
                  <a:pt x="98321" y="58530"/>
                  <a:pt x="99391" y="62258"/>
                  <a:pt x="99391" y="66261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3" name="Text 31"/>
          <p:cNvSpPr/>
          <p:nvPr/>
        </p:nvSpPr>
        <p:spPr>
          <a:xfrm>
            <a:off x="6774254" y="2685774"/>
            <a:ext cx="1042504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7367" y="2968487"/>
            <a:ext cx="5212522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tracking eliminates information gaps and reduces anxiety.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3680" y="3357217"/>
            <a:ext cx="5371548" cy="706783"/>
          </a:xfrm>
          <a:custGeom>
            <a:avLst/>
            <a:gdLst/>
            <a:ahLst/>
            <a:cxnLst/>
            <a:rect l="l" t="t" r="r" b="b"/>
            <a:pathLst>
              <a:path w="5371548" h="706783">
                <a:moveTo>
                  <a:pt x="35339" y="0"/>
                </a:moveTo>
                <a:lnTo>
                  <a:pt x="5300870" y="0"/>
                </a:lnTo>
                <a:cubicBezTo>
                  <a:pt x="5339904" y="0"/>
                  <a:pt x="5371548" y="31644"/>
                  <a:pt x="5371548" y="70678"/>
                </a:cubicBezTo>
                <a:lnTo>
                  <a:pt x="5371548" y="636104"/>
                </a:lnTo>
                <a:cubicBezTo>
                  <a:pt x="5371548" y="675139"/>
                  <a:pt x="5339904" y="706783"/>
                  <a:pt x="5300870" y="706783"/>
                </a:cubicBezTo>
                <a:lnTo>
                  <a:pt x="35339" y="706783"/>
                </a:lnTo>
                <a:cubicBezTo>
                  <a:pt x="15822" y="706783"/>
                  <a:pt x="0" y="690961"/>
                  <a:pt x="0" y="6714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323680" y="3357217"/>
            <a:ext cx="35339" cy="706783"/>
          </a:xfrm>
          <a:custGeom>
            <a:avLst/>
            <a:gdLst/>
            <a:ahLst/>
            <a:cxnLst/>
            <a:rect l="l" t="t" r="r" b="b"/>
            <a:pathLst>
              <a:path w="35339" h="706783">
                <a:moveTo>
                  <a:pt x="35339" y="0"/>
                </a:moveTo>
                <a:lnTo>
                  <a:pt x="35339" y="0"/>
                </a:lnTo>
                <a:lnTo>
                  <a:pt x="35339" y="706783"/>
                </a:lnTo>
                <a:lnTo>
                  <a:pt x="35339" y="706783"/>
                </a:lnTo>
                <a:cubicBezTo>
                  <a:pt x="15822" y="706783"/>
                  <a:pt x="0" y="690961"/>
                  <a:pt x="0" y="67144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7" name="Shape 35"/>
          <p:cNvSpPr/>
          <p:nvPr/>
        </p:nvSpPr>
        <p:spPr>
          <a:xfrm>
            <a:off x="6480497" y="3498574"/>
            <a:ext cx="154609" cy="176696"/>
          </a:xfrm>
          <a:custGeom>
            <a:avLst/>
            <a:gdLst/>
            <a:ahLst/>
            <a:cxnLst/>
            <a:rect l="l" t="t" r="r" b="b"/>
            <a:pathLst>
              <a:path w="154609" h="176696">
                <a:moveTo>
                  <a:pt x="154609" y="71023"/>
                </a:moveTo>
                <a:cubicBezTo>
                  <a:pt x="149501" y="74405"/>
                  <a:pt x="143634" y="77132"/>
                  <a:pt x="137526" y="79306"/>
                </a:cubicBezTo>
                <a:cubicBezTo>
                  <a:pt x="121306" y="85104"/>
                  <a:pt x="100013" y="88348"/>
                  <a:pt x="77304" y="88348"/>
                </a:cubicBezTo>
                <a:cubicBezTo>
                  <a:pt x="54596" y="88348"/>
                  <a:pt x="33268" y="85069"/>
                  <a:pt x="17083" y="79306"/>
                </a:cubicBezTo>
                <a:cubicBezTo>
                  <a:pt x="11009" y="77132"/>
                  <a:pt x="5108" y="74405"/>
                  <a:pt x="0" y="71023"/>
                </a:cubicBezTo>
                <a:lnTo>
                  <a:pt x="0" y="99391"/>
                </a:lnTo>
                <a:cubicBezTo>
                  <a:pt x="0" y="114645"/>
                  <a:pt x="34614" y="127000"/>
                  <a:pt x="77304" y="127000"/>
                </a:cubicBezTo>
                <a:cubicBezTo>
                  <a:pt x="119994" y="127000"/>
                  <a:pt x="154609" y="114645"/>
                  <a:pt x="154609" y="99391"/>
                </a:cubicBezTo>
                <a:lnTo>
                  <a:pt x="154609" y="71023"/>
                </a:lnTo>
                <a:close/>
                <a:moveTo>
                  <a:pt x="154609" y="44174"/>
                </a:moveTo>
                <a:lnTo>
                  <a:pt x="154609" y="27609"/>
                </a:lnTo>
                <a:cubicBezTo>
                  <a:pt x="154609" y="12355"/>
                  <a:pt x="119994" y="0"/>
                  <a:pt x="77304" y="0"/>
                </a:cubicBezTo>
                <a:cubicBezTo>
                  <a:pt x="34614" y="0"/>
                  <a:pt x="0" y="12355"/>
                  <a:pt x="0" y="27609"/>
                </a:cubicBezTo>
                <a:lnTo>
                  <a:pt x="0" y="44174"/>
                </a:lnTo>
                <a:cubicBezTo>
                  <a:pt x="0" y="59428"/>
                  <a:pt x="34614" y="71783"/>
                  <a:pt x="77304" y="71783"/>
                </a:cubicBezTo>
                <a:cubicBezTo>
                  <a:pt x="119994" y="71783"/>
                  <a:pt x="154609" y="59428"/>
                  <a:pt x="154609" y="44174"/>
                </a:cubicBezTo>
                <a:close/>
                <a:moveTo>
                  <a:pt x="137526" y="134523"/>
                </a:moveTo>
                <a:cubicBezTo>
                  <a:pt x="121340" y="140287"/>
                  <a:pt x="100047" y="143565"/>
                  <a:pt x="77304" y="143565"/>
                </a:cubicBezTo>
                <a:cubicBezTo>
                  <a:pt x="54562" y="143565"/>
                  <a:pt x="33268" y="140287"/>
                  <a:pt x="17083" y="134523"/>
                </a:cubicBezTo>
                <a:cubicBezTo>
                  <a:pt x="11009" y="132349"/>
                  <a:pt x="5108" y="129623"/>
                  <a:pt x="0" y="126241"/>
                </a:cubicBezTo>
                <a:lnTo>
                  <a:pt x="0" y="149087"/>
                </a:lnTo>
                <a:cubicBezTo>
                  <a:pt x="0" y="164341"/>
                  <a:pt x="34614" y="176696"/>
                  <a:pt x="77304" y="176696"/>
                </a:cubicBezTo>
                <a:cubicBezTo>
                  <a:pt x="119994" y="176696"/>
                  <a:pt x="154609" y="164341"/>
                  <a:pt x="154609" y="149087"/>
                </a:cubicBezTo>
                <a:lnTo>
                  <a:pt x="154609" y="126241"/>
                </a:lnTo>
                <a:cubicBezTo>
                  <a:pt x="149501" y="129623"/>
                  <a:pt x="143634" y="132349"/>
                  <a:pt x="137526" y="134523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8" name="Text 36"/>
          <p:cNvSpPr/>
          <p:nvPr/>
        </p:nvSpPr>
        <p:spPr>
          <a:xfrm>
            <a:off x="6774254" y="3463235"/>
            <a:ext cx="1175026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Standardization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47367" y="3745948"/>
            <a:ext cx="5212522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Digital data storage enables easy statistics and priority sorting.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82713" y="4205357"/>
            <a:ext cx="11485217" cy="2668104"/>
          </a:xfrm>
          <a:custGeom>
            <a:avLst/>
            <a:gdLst/>
            <a:ahLst/>
            <a:cxnLst/>
            <a:rect l="l" t="t" r="r" b="b"/>
            <a:pathLst>
              <a:path w="11485217" h="2668104">
                <a:moveTo>
                  <a:pt x="35339" y="0"/>
                </a:moveTo>
                <a:lnTo>
                  <a:pt x="11449878" y="0"/>
                </a:lnTo>
                <a:cubicBezTo>
                  <a:pt x="11469396" y="0"/>
                  <a:pt x="11485217" y="15822"/>
                  <a:pt x="11485217" y="35339"/>
                </a:cubicBezTo>
                <a:lnTo>
                  <a:pt x="11485217" y="2597426"/>
                </a:lnTo>
                <a:cubicBezTo>
                  <a:pt x="11485217" y="2636461"/>
                  <a:pt x="11453574" y="2668104"/>
                  <a:pt x="11414539" y="2668104"/>
                </a:cubicBezTo>
                <a:lnTo>
                  <a:pt x="70678" y="2668104"/>
                </a:lnTo>
                <a:cubicBezTo>
                  <a:pt x="31644" y="2668104"/>
                  <a:pt x="0" y="2636461"/>
                  <a:pt x="0" y="2597426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00344D">
              <a:alpha val="1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353391" y="4242257"/>
            <a:ext cx="11485217" cy="35339"/>
          </a:xfrm>
          <a:custGeom>
            <a:avLst/>
            <a:gdLst/>
            <a:ahLst/>
            <a:cxnLst/>
            <a:rect l="l" t="t" r="r" b="b"/>
            <a:pathLst>
              <a:path w="11485217" h="35339">
                <a:moveTo>
                  <a:pt x="35339" y="0"/>
                </a:moveTo>
                <a:lnTo>
                  <a:pt x="11449878" y="0"/>
                </a:lnTo>
                <a:cubicBezTo>
                  <a:pt x="11469396" y="0"/>
                  <a:pt x="11485217" y="15822"/>
                  <a:pt x="11485217" y="35339"/>
                </a:cubicBezTo>
                <a:lnTo>
                  <a:pt x="11485217" y="35339"/>
                </a:lnTo>
                <a:lnTo>
                  <a:pt x="0" y="35339"/>
                </a:ln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42" name="Shape 40"/>
          <p:cNvSpPr/>
          <p:nvPr/>
        </p:nvSpPr>
        <p:spPr>
          <a:xfrm>
            <a:off x="494748" y="4541078"/>
            <a:ext cx="265043" cy="212035"/>
          </a:xfrm>
          <a:custGeom>
            <a:avLst/>
            <a:gdLst/>
            <a:ahLst/>
            <a:cxnLst/>
            <a:rect l="l" t="t" r="r" b="b"/>
            <a:pathLst>
              <a:path w="265043" h="212035">
                <a:moveTo>
                  <a:pt x="132522" y="6626"/>
                </a:moveTo>
                <a:cubicBezTo>
                  <a:pt x="156292" y="6626"/>
                  <a:pt x="175591" y="25925"/>
                  <a:pt x="175591" y="49696"/>
                </a:cubicBezTo>
                <a:cubicBezTo>
                  <a:pt x="175591" y="73466"/>
                  <a:pt x="156292" y="92765"/>
                  <a:pt x="132522" y="92765"/>
                </a:cubicBezTo>
                <a:cubicBezTo>
                  <a:pt x="108751" y="92765"/>
                  <a:pt x="89452" y="73466"/>
                  <a:pt x="89452" y="49696"/>
                </a:cubicBezTo>
                <a:cubicBezTo>
                  <a:pt x="89452" y="25925"/>
                  <a:pt x="108751" y="6626"/>
                  <a:pt x="132522" y="6626"/>
                </a:cubicBezTo>
                <a:close/>
                <a:moveTo>
                  <a:pt x="39757" y="36443"/>
                </a:moveTo>
                <a:cubicBezTo>
                  <a:pt x="56213" y="36443"/>
                  <a:pt x="69574" y="49804"/>
                  <a:pt x="69574" y="66261"/>
                </a:cubicBezTo>
                <a:cubicBezTo>
                  <a:pt x="69574" y="82718"/>
                  <a:pt x="56213" y="96078"/>
                  <a:pt x="39757" y="96078"/>
                </a:cubicBezTo>
                <a:cubicBezTo>
                  <a:pt x="23300" y="96078"/>
                  <a:pt x="9939" y="82718"/>
                  <a:pt x="9939" y="66261"/>
                </a:cubicBezTo>
                <a:cubicBezTo>
                  <a:pt x="9939" y="49804"/>
                  <a:pt x="23300" y="36443"/>
                  <a:pt x="39757" y="36443"/>
                </a:cubicBezTo>
                <a:close/>
                <a:moveTo>
                  <a:pt x="0" y="172278"/>
                </a:moveTo>
                <a:cubicBezTo>
                  <a:pt x="0" y="142999"/>
                  <a:pt x="23730" y="119270"/>
                  <a:pt x="53009" y="119270"/>
                </a:cubicBezTo>
                <a:cubicBezTo>
                  <a:pt x="58310" y="119270"/>
                  <a:pt x="63445" y="120056"/>
                  <a:pt x="68290" y="121506"/>
                </a:cubicBezTo>
                <a:cubicBezTo>
                  <a:pt x="54665" y="136746"/>
                  <a:pt x="46383" y="156873"/>
                  <a:pt x="46383" y="178904"/>
                </a:cubicBezTo>
                <a:lnTo>
                  <a:pt x="46383" y="185530"/>
                </a:lnTo>
                <a:cubicBezTo>
                  <a:pt x="46383" y="190252"/>
                  <a:pt x="47377" y="194724"/>
                  <a:pt x="49157" y="198783"/>
                </a:cubicBezTo>
                <a:lnTo>
                  <a:pt x="13252" y="198783"/>
                </a:lnTo>
                <a:cubicBezTo>
                  <a:pt x="5922" y="198783"/>
                  <a:pt x="0" y="192861"/>
                  <a:pt x="0" y="185530"/>
                </a:cubicBezTo>
                <a:lnTo>
                  <a:pt x="0" y="172278"/>
                </a:lnTo>
                <a:close/>
                <a:moveTo>
                  <a:pt x="215886" y="198783"/>
                </a:moveTo>
                <a:cubicBezTo>
                  <a:pt x="217667" y="194724"/>
                  <a:pt x="218661" y="190252"/>
                  <a:pt x="218661" y="185530"/>
                </a:cubicBezTo>
                <a:lnTo>
                  <a:pt x="218661" y="178904"/>
                </a:lnTo>
                <a:cubicBezTo>
                  <a:pt x="218661" y="156873"/>
                  <a:pt x="210378" y="136746"/>
                  <a:pt x="196753" y="121506"/>
                </a:cubicBezTo>
                <a:cubicBezTo>
                  <a:pt x="201599" y="120056"/>
                  <a:pt x="206734" y="119270"/>
                  <a:pt x="212035" y="119270"/>
                </a:cubicBezTo>
                <a:cubicBezTo>
                  <a:pt x="241314" y="119270"/>
                  <a:pt x="265043" y="142999"/>
                  <a:pt x="265043" y="172278"/>
                </a:cubicBezTo>
                <a:lnTo>
                  <a:pt x="265043" y="185530"/>
                </a:lnTo>
                <a:cubicBezTo>
                  <a:pt x="265043" y="192861"/>
                  <a:pt x="259121" y="198783"/>
                  <a:pt x="251791" y="198783"/>
                </a:cubicBezTo>
                <a:lnTo>
                  <a:pt x="215886" y="198783"/>
                </a:lnTo>
                <a:close/>
                <a:moveTo>
                  <a:pt x="195470" y="66261"/>
                </a:moveTo>
                <a:cubicBezTo>
                  <a:pt x="195470" y="49804"/>
                  <a:pt x="208830" y="36443"/>
                  <a:pt x="225287" y="36443"/>
                </a:cubicBezTo>
                <a:cubicBezTo>
                  <a:pt x="241744" y="36443"/>
                  <a:pt x="255104" y="49804"/>
                  <a:pt x="255104" y="66261"/>
                </a:cubicBezTo>
                <a:cubicBezTo>
                  <a:pt x="255104" y="82718"/>
                  <a:pt x="241744" y="96078"/>
                  <a:pt x="225287" y="96078"/>
                </a:cubicBezTo>
                <a:cubicBezTo>
                  <a:pt x="208830" y="96078"/>
                  <a:pt x="195470" y="82718"/>
                  <a:pt x="195470" y="66261"/>
                </a:cubicBezTo>
                <a:close/>
                <a:moveTo>
                  <a:pt x="66261" y="178904"/>
                </a:moveTo>
                <a:cubicBezTo>
                  <a:pt x="66261" y="142295"/>
                  <a:pt x="95913" y="112643"/>
                  <a:pt x="132522" y="112643"/>
                </a:cubicBezTo>
                <a:cubicBezTo>
                  <a:pt x="169131" y="112643"/>
                  <a:pt x="198783" y="142295"/>
                  <a:pt x="198783" y="178904"/>
                </a:cubicBezTo>
                <a:lnTo>
                  <a:pt x="198783" y="185530"/>
                </a:lnTo>
                <a:cubicBezTo>
                  <a:pt x="198783" y="192861"/>
                  <a:pt x="192861" y="198783"/>
                  <a:pt x="185530" y="198783"/>
                </a:cubicBezTo>
                <a:lnTo>
                  <a:pt x="79513" y="198783"/>
                </a:lnTo>
                <a:cubicBezTo>
                  <a:pt x="72183" y="198783"/>
                  <a:pt x="66261" y="192861"/>
                  <a:pt x="66261" y="185530"/>
                </a:cubicBezTo>
                <a:lnTo>
                  <a:pt x="66261" y="178904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43" name="Text 41"/>
          <p:cNvSpPr/>
          <p:nvPr/>
        </p:nvSpPr>
        <p:spPr>
          <a:xfrm>
            <a:off x="865809" y="4541078"/>
            <a:ext cx="2261704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Team Collaboration Insights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12417" y="4862830"/>
            <a:ext cx="35339" cy="2014330"/>
          </a:xfrm>
          <a:custGeom>
            <a:avLst/>
            <a:gdLst/>
            <a:ahLst/>
            <a:cxnLst/>
            <a:rect l="l" t="t" r="r" b="b"/>
            <a:pathLst>
              <a:path w="35339" h="2014330">
                <a:moveTo>
                  <a:pt x="0" y="0"/>
                </a:moveTo>
                <a:lnTo>
                  <a:pt x="35339" y="0"/>
                </a:lnTo>
                <a:lnTo>
                  <a:pt x="35339" y="2014330"/>
                </a:lnTo>
                <a:lnTo>
                  <a:pt x="0" y="2014330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45" name="Text 43"/>
          <p:cNvSpPr/>
          <p:nvPr/>
        </p:nvSpPr>
        <p:spPr>
          <a:xfrm>
            <a:off x="742122" y="4876800"/>
            <a:ext cx="5459896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kern="0" spc="28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Challenge: Initial Disagreement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7270" y="5088835"/>
            <a:ext cx="5468730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Web-based System vs. Mobile App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7270" y="5336209"/>
            <a:ext cx="5459896" cy="4594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members had differing opinions on the optimal platform for BMMS implementation.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6104" y="5883965"/>
            <a:ext cx="5389217" cy="742122"/>
          </a:xfrm>
          <a:custGeom>
            <a:avLst/>
            <a:gdLst/>
            <a:ahLst/>
            <a:cxnLst/>
            <a:rect l="l" t="t" r="r" b="b"/>
            <a:pathLst>
              <a:path w="5389217" h="742122">
                <a:moveTo>
                  <a:pt x="70680" y="0"/>
                </a:moveTo>
                <a:lnTo>
                  <a:pt x="5318538" y="0"/>
                </a:lnTo>
                <a:cubicBezTo>
                  <a:pt x="5357573" y="0"/>
                  <a:pt x="5389217" y="31644"/>
                  <a:pt x="5389217" y="70680"/>
                </a:cubicBezTo>
                <a:lnTo>
                  <a:pt x="5389217" y="671442"/>
                </a:lnTo>
                <a:cubicBezTo>
                  <a:pt x="5389217" y="710451"/>
                  <a:pt x="5357547" y="742122"/>
                  <a:pt x="5318538" y="742122"/>
                </a:cubicBezTo>
                <a:lnTo>
                  <a:pt x="70680" y="742122"/>
                </a:lnTo>
                <a:cubicBezTo>
                  <a:pt x="31644" y="742122"/>
                  <a:pt x="0" y="710477"/>
                  <a:pt x="0" y="671442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715617" y="5883965"/>
            <a:ext cx="5309704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Resolution Process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26661" y="6240575"/>
            <a:ext cx="92765" cy="106017"/>
          </a:xfrm>
          <a:custGeom>
            <a:avLst/>
            <a:gdLst/>
            <a:ahLst/>
            <a:cxnLst/>
            <a:rect l="l" t="t" r="r" b="b"/>
            <a:pathLst>
              <a:path w="92765" h="106017">
                <a:moveTo>
                  <a:pt x="90032" y="14515"/>
                </a:moveTo>
                <a:cubicBezTo>
                  <a:pt x="92993" y="16669"/>
                  <a:pt x="93656" y="20810"/>
                  <a:pt x="91502" y="23771"/>
                </a:cubicBezTo>
                <a:lnTo>
                  <a:pt x="38493" y="96658"/>
                </a:lnTo>
                <a:cubicBezTo>
                  <a:pt x="37355" y="98232"/>
                  <a:pt x="35595" y="99205"/>
                  <a:pt x="33648" y="99371"/>
                </a:cubicBezTo>
                <a:cubicBezTo>
                  <a:pt x="31702" y="99536"/>
                  <a:pt x="29817" y="98812"/>
                  <a:pt x="28451" y="97445"/>
                </a:cubicBezTo>
                <a:lnTo>
                  <a:pt x="1946" y="70941"/>
                </a:lnTo>
                <a:cubicBezTo>
                  <a:pt x="-642" y="68352"/>
                  <a:pt x="-642" y="64149"/>
                  <a:pt x="1946" y="61560"/>
                </a:cubicBezTo>
                <a:cubicBezTo>
                  <a:pt x="4535" y="58972"/>
                  <a:pt x="8738" y="58972"/>
                  <a:pt x="11326" y="61560"/>
                </a:cubicBezTo>
                <a:lnTo>
                  <a:pt x="32344" y="82578"/>
                </a:lnTo>
                <a:lnTo>
                  <a:pt x="80797" y="15965"/>
                </a:lnTo>
                <a:cubicBezTo>
                  <a:pt x="82950" y="13004"/>
                  <a:pt x="87092" y="12341"/>
                  <a:pt x="90053" y="14495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1" name="Text 49"/>
          <p:cNvSpPr/>
          <p:nvPr/>
        </p:nvSpPr>
        <p:spPr>
          <a:xfrm>
            <a:off x="909983" y="6166678"/>
            <a:ext cx="2959652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Conducted team vote for democratic decision-making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26661" y="6389109"/>
            <a:ext cx="92765" cy="106017"/>
          </a:xfrm>
          <a:custGeom>
            <a:avLst/>
            <a:gdLst/>
            <a:ahLst/>
            <a:cxnLst/>
            <a:rect l="l" t="t" r="r" b="b"/>
            <a:pathLst>
              <a:path w="92765" h="106017">
                <a:moveTo>
                  <a:pt x="90032" y="14515"/>
                </a:moveTo>
                <a:cubicBezTo>
                  <a:pt x="92993" y="16669"/>
                  <a:pt x="93656" y="20810"/>
                  <a:pt x="91502" y="23771"/>
                </a:cubicBezTo>
                <a:lnTo>
                  <a:pt x="38493" y="96658"/>
                </a:lnTo>
                <a:cubicBezTo>
                  <a:pt x="37355" y="98232"/>
                  <a:pt x="35595" y="99205"/>
                  <a:pt x="33648" y="99371"/>
                </a:cubicBezTo>
                <a:cubicBezTo>
                  <a:pt x="31702" y="99536"/>
                  <a:pt x="29817" y="98812"/>
                  <a:pt x="28451" y="97445"/>
                </a:cubicBezTo>
                <a:lnTo>
                  <a:pt x="1946" y="70941"/>
                </a:lnTo>
                <a:cubicBezTo>
                  <a:pt x="-642" y="68352"/>
                  <a:pt x="-642" y="64149"/>
                  <a:pt x="1946" y="61560"/>
                </a:cubicBezTo>
                <a:cubicBezTo>
                  <a:pt x="4535" y="58972"/>
                  <a:pt x="8738" y="58972"/>
                  <a:pt x="11326" y="61560"/>
                </a:cubicBezTo>
                <a:lnTo>
                  <a:pt x="32344" y="82578"/>
                </a:lnTo>
                <a:lnTo>
                  <a:pt x="80797" y="15965"/>
                </a:lnTo>
                <a:cubicBezTo>
                  <a:pt x="82950" y="13004"/>
                  <a:pt x="87092" y="12341"/>
                  <a:pt x="90053" y="14495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53" name="Text 51"/>
          <p:cNvSpPr/>
          <p:nvPr/>
        </p:nvSpPr>
        <p:spPr>
          <a:xfrm>
            <a:off x="865809" y="6361043"/>
            <a:ext cx="2482574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Referenced user persona needs for alignment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82324" y="4841875"/>
            <a:ext cx="35339" cy="2014330"/>
          </a:xfrm>
          <a:custGeom>
            <a:avLst/>
            <a:gdLst/>
            <a:ahLst/>
            <a:cxnLst/>
            <a:rect l="l" t="t" r="r" b="b"/>
            <a:pathLst>
              <a:path w="35339" h="2014330">
                <a:moveTo>
                  <a:pt x="0" y="0"/>
                </a:moveTo>
                <a:lnTo>
                  <a:pt x="35339" y="0"/>
                </a:lnTo>
                <a:lnTo>
                  <a:pt x="35339" y="2014330"/>
                </a:lnTo>
                <a:lnTo>
                  <a:pt x="0" y="2014330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55" name="Text 53"/>
          <p:cNvSpPr/>
          <p:nvPr/>
        </p:nvSpPr>
        <p:spPr>
          <a:xfrm>
            <a:off x="6376689" y="4982817"/>
            <a:ext cx="5459896" cy="212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kern="0" spc="28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Success: Task Division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67854" y="5088835"/>
            <a:ext cx="5468730" cy="2473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Strength-Based Assignment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76689" y="5496796"/>
            <a:ext cx="5459896" cy="2297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Leveraged individual team member strengths for optimal project execution.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06011" y="5883965"/>
            <a:ext cx="5389217" cy="742122"/>
          </a:xfrm>
          <a:custGeom>
            <a:avLst/>
            <a:gdLst/>
            <a:ahLst/>
            <a:cxnLst/>
            <a:rect l="l" t="t" r="r" b="b"/>
            <a:pathLst>
              <a:path w="5389217" h="742122">
                <a:moveTo>
                  <a:pt x="70680" y="0"/>
                </a:moveTo>
                <a:lnTo>
                  <a:pt x="5318538" y="0"/>
                </a:lnTo>
                <a:cubicBezTo>
                  <a:pt x="5357573" y="0"/>
                  <a:pt x="5389217" y="31644"/>
                  <a:pt x="5389217" y="70680"/>
                </a:cubicBezTo>
                <a:lnTo>
                  <a:pt x="5389217" y="671442"/>
                </a:lnTo>
                <a:cubicBezTo>
                  <a:pt x="5389217" y="710451"/>
                  <a:pt x="5357547" y="742122"/>
                  <a:pt x="5318538" y="742122"/>
                </a:cubicBezTo>
                <a:lnTo>
                  <a:pt x="70680" y="742122"/>
                </a:lnTo>
                <a:cubicBezTo>
                  <a:pt x="31644" y="742122"/>
                  <a:pt x="0" y="710477"/>
                  <a:pt x="0" y="671442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6438532" y="5883965"/>
            <a:ext cx="5309704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Assignment Strategy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96015" y="6223457"/>
            <a:ext cx="92765" cy="106017"/>
          </a:xfrm>
          <a:custGeom>
            <a:avLst/>
            <a:gdLst/>
            <a:ahLst/>
            <a:cxnLst/>
            <a:rect l="l" t="t" r="r" b="b"/>
            <a:pathLst>
              <a:path w="92765" h="106017">
                <a:moveTo>
                  <a:pt x="46383" y="51352"/>
                </a:moveTo>
                <a:cubicBezTo>
                  <a:pt x="60096" y="51352"/>
                  <a:pt x="71230" y="40218"/>
                  <a:pt x="71230" y="26504"/>
                </a:cubicBezTo>
                <a:cubicBezTo>
                  <a:pt x="71230" y="12790"/>
                  <a:pt x="60096" y="1657"/>
                  <a:pt x="46383" y="1657"/>
                </a:cubicBezTo>
                <a:cubicBezTo>
                  <a:pt x="32669" y="1657"/>
                  <a:pt x="21535" y="12790"/>
                  <a:pt x="21535" y="26504"/>
                </a:cubicBezTo>
                <a:cubicBezTo>
                  <a:pt x="21535" y="40218"/>
                  <a:pt x="32669" y="51352"/>
                  <a:pt x="46383" y="51352"/>
                </a:cubicBezTo>
                <a:close/>
                <a:moveTo>
                  <a:pt x="40233" y="62948"/>
                </a:moveTo>
                <a:cubicBezTo>
                  <a:pt x="19837" y="62948"/>
                  <a:pt x="3313" y="79472"/>
                  <a:pt x="3313" y="99868"/>
                </a:cubicBezTo>
                <a:cubicBezTo>
                  <a:pt x="3313" y="103263"/>
                  <a:pt x="6067" y="106017"/>
                  <a:pt x="9463" y="106017"/>
                </a:cubicBezTo>
                <a:lnTo>
                  <a:pt x="83302" y="106017"/>
                </a:lnTo>
                <a:cubicBezTo>
                  <a:pt x="86698" y="106017"/>
                  <a:pt x="89452" y="103263"/>
                  <a:pt x="89452" y="99868"/>
                </a:cubicBezTo>
                <a:cubicBezTo>
                  <a:pt x="89452" y="79472"/>
                  <a:pt x="72928" y="62948"/>
                  <a:pt x="52532" y="62948"/>
                </a:cubicBezTo>
                <a:lnTo>
                  <a:pt x="40233" y="62948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61" name="Text 59"/>
          <p:cNvSpPr/>
          <p:nvPr/>
        </p:nvSpPr>
        <p:spPr>
          <a:xfrm>
            <a:off x="6544550" y="6166678"/>
            <a:ext cx="2950817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Design-focused member:</a:t>
            </a:r>
            <a:r>
              <a:rPr lang="en-US" sz="97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Led prototype development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96567" y="6413957"/>
            <a:ext cx="92765" cy="106017"/>
          </a:xfrm>
          <a:custGeom>
            <a:avLst/>
            <a:gdLst/>
            <a:ahLst/>
            <a:cxnLst/>
            <a:rect l="l" t="t" r="r" b="b"/>
            <a:pathLst>
              <a:path w="92765" h="106017">
                <a:moveTo>
                  <a:pt x="46383" y="51352"/>
                </a:moveTo>
                <a:cubicBezTo>
                  <a:pt x="60096" y="51352"/>
                  <a:pt x="71230" y="40218"/>
                  <a:pt x="71230" y="26504"/>
                </a:cubicBezTo>
                <a:cubicBezTo>
                  <a:pt x="71230" y="12790"/>
                  <a:pt x="60096" y="1657"/>
                  <a:pt x="46383" y="1657"/>
                </a:cubicBezTo>
                <a:cubicBezTo>
                  <a:pt x="32669" y="1657"/>
                  <a:pt x="21535" y="12790"/>
                  <a:pt x="21535" y="26504"/>
                </a:cubicBezTo>
                <a:cubicBezTo>
                  <a:pt x="21535" y="40218"/>
                  <a:pt x="32669" y="51352"/>
                  <a:pt x="46383" y="51352"/>
                </a:cubicBezTo>
                <a:close/>
                <a:moveTo>
                  <a:pt x="40233" y="62948"/>
                </a:moveTo>
                <a:cubicBezTo>
                  <a:pt x="19837" y="62948"/>
                  <a:pt x="3313" y="79472"/>
                  <a:pt x="3313" y="99868"/>
                </a:cubicBezTo>
                <a:cubicBezTo>
                  <a:pt x="3313" y="103263"/>
                  <a:pt x="6067" y="106017"/>
                  <a:pt x="9463" y="106017"/>
                </a:cubicBezTo>
                <a:lnTo>
                  <a:pt x="83302" y="106017"/>
                </a:lnTo>
                <a:cubicBezTo>
                  <a:pt x="86698" y="106017"/>
                  <a:pt x="89452" y="103263"/>
                  <a:pt x="89452" y="99868"/>
                </a:cubicBezTo>
                <a:cubicBezTo>
                  <a:pt x="89452" y="79472"/>
                  <a:pt x="72928" y="62948"/>
                  <a:pt x="52532" y="62948"/>
                </a:cubicBezTo>
                <a:lnTo>
                  <a:pt x="40233" y="62948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63" name="Text 61"/>
          <p:cNvSpPr/>
          <p:nvPr/>
        </p:nvSpPr>
        <p:spPr>
          <a:xfrm>
            <a:off x="6544550" y="6361043"/>
            <a:ext cx="3039165" cy="1766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Research-oriented member:</a:t>
            </a:r>
            <a:r>
              <a:rPr lang="en-US" sz="975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Conducted user interviews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644" y="326644"/>
            <a:ext cx="1404571" cy="228651"/>
          </a:xfrm>
          <a:custGeom>
            <a:avLst/>
            <a:gdLst/>
            <a:ahLst/>
            <a:cxnLst/>
            <a:rect l="l" t="t" r="r" b="b"/>
            <a:pathLst>
              <a:path w="1404571" h="228651">
                <a:moveTo>
                  <a:pt x="114326" y="0"/>
                </a:moveTo>
                <a:lnTo>
                  <a:pt x="1290245" y="0"/>
                </a:lnTo>
                <a:cubicBezTo>
                  <a:pt x="1353385" y="0"/>
                  <a:pt x="1404571" y="51185"/>
                  <a:pt x="1404571" y="114326"/>
                </a:cubicBezTo>
                <a:lnTo>
                  <a:pt x="1404571" y="114326"/>
                </a:lnTo>
                <a:cubicBezTo>
                  <a:pt x="1404571" y="177466"/>
                  <a:pt x="1353385" y="228651"/>
                  <a:pt x="1290245" y="228651"/>
                </a:cubicBezTo>
                <a:lnTo>
                  <a:pt x="114326" y="228651"/>
                </a:lnTo>
                <a:cubicBezTo>
                  <a:pt x="51228" y="228651"/>
                  <a:pt x="0" y="177423"/>
                  <a:pt x="0" y="114326"/>
                </a:cubicBezTo>
                <a:lnTo>
                  <a:pt x="0" y="114326"/>
                </a:lnTo>
                <a:cubicBezTo>
                  <a:pt x="0" y="51228"/>
                  <a:pt x="51228" y="0"/>
                  <a:pt x="114326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26644" y="326644"/>
            <a:ext cx="1461733" cy="228651"/>
          </a:xfrm>
          <a:prstGeom prst="rect">
            <a:avLst/>
          </a:prstGeom>
          <a:noFill/>
        </p:spPr>
        <p:txBody>
          <a:bodyPr wrap="square" lIns="130658" tIns="32664" rIns="130658" bIns="32664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EVALUATION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6644" y="683489"/>
            <a:ext cx="11734698" cy="3919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85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Design Thinking Assessment Points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17395" y="1184275"/>
            <a:ext cx="8633460" cy="3004820"/>
          </a:xfrm>
          <a:custGeom>
            <a:avLst/>
            <a:gdLst/>
            <a:ahLst/>
            <a:cxnLst/>
            <a:rect l="l" t="t" r="r" b="b"/>
            <a:pathLst>
              <a:path w="5708110" h="3043146">
                <a:moveTo>
                  <a:pt x="97996" y="0"/>
                </a:moveTo>
                <a:lnTo>
                  <a:pt x="5610114" y="0"/>
                </a:lnTo>
                <a:cubicBezTo>
                  <a:pt x="5664236" y="0"/>
                  <a:pt x="5708110" y="41923"/>
                  <a:pt x="5708110" y="93638"/>
                </a:cubicBezTo>
                <a:lnTo>
                  <a:pt x="5708110" y="2949508"/>
                </a:lnTo>
                <a:cubicBezTo>
                  <a:pt x="5708110" y="3001223"/>
                  <a:pt x="5664236" y="3043146"/>
                  <a:pt x="5610114" y="3043146"/>
                </a:cubicBezTo>
                <a:lnTo>
                  <a:pt x="97996" y="3043146"/>
                </a:lnTo>
                <a:cubicBezTo>
                  <a:pt x="43874" y="3043146"/>
                  <a:pt x="0" y="3001223"/>
                  <a:pt x="0" y="2949508"/>
                </a:cubicBezTo>
                <a:lnTo>
                  <a:pt x="0" y="93638"/>
                </a:lnTo>
                <a:cubicBezTo>
                  <a:pt x="0" y="41923"/>
                  <a:pt x="43874" y="0"/>
                  <a:pt x="97996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05127" y="1339318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7" name="Shape 5"/>
          <p:cNvSpPr/>
          <p:nvPr/>
        </p:nvSpPr>
        <p:spPr>
          <a:xfrm>
            <a:off x="2230978" y="1437768"/>
            <a:ext cx="122492" cy="163322"/>
          </a:xfrm>
          <a:custGeom>
            <a:avLst/>
            <a:gdLst/>
            <a:ahLst/>
            <a:cxnLst/>
            <a:rect l="l" t="t" r="r" b="b"/>
            <a:pathLst>
              <a:path w="122492" h="163322">
                <a:moveTo>
                  <a:pt x="99333" y="10208"/>
                </a:moveTo>
                <a:lnTo>
                  <a:pt x="102076" y="10208"/>
                </a:lnTo>
                <a:cubicBezTo>
                  <a:pt x="113337" y="10208"/>
                  <a:pt x="122492" y="19363"/>
                  <a:pt x="122492" y="30623"/>
                </a:cubicBezTo>
                <a:lnTo>
                  <a:pt x="122492" y="142907"/>
                </a:lnTo>
                <a:cubicBezTo>
                  <a:pt x="122492" y="154167"/>
                  <a:pt x="113337" y="163322"/>
                  <a:pt x="102076" y="163322"/>
                </a:cubicBezTo>
                <a:lnTo>
                  <a:pt x="20415" y="163322"/>
                </a:lnTo>
                <a:cubicBezTo>
                  <a:pt x="9155" y="163322"/>
                  <a:pt x="0" y="154167"/>
                  <a:pt x="0" y="142907"/>
                </a:cubicBezTo>
                <a:lnTo>
                  <a:pt x="0" y="30623"/>
                </a:lnTo>
                <a:cubicBezTo>
                  <a:pt x="0" y="19363"/>
                  <a:pt x="9155" y="10208"/>
                  <a:pt x="20415" y="10208"/>
                </a:cubicBezTo>
                <a:lnTo>
                  <a:pt x="23159" y="10208"/>
                </a:lnTo>
                <a:cubicBezTo>
                  <a:pt x="26667" y="4115"/>
                  <a:pt x="33271" y="0"/>
                  <a:pt x="40831" y="0"/>
                </a:cubicBezTo>
                <a:lnTo>
                  <a:pt x="81661" y="0"/>
                </a:lnTo>
                <a:cubicBezTo>
                  <a:pt x="89221" y="0"/>
                  <a:pt x="95824" y="4115"/>
                  <a:pt x="99333" y="10208"/>
                </a:cubicBezTo>
                <a:close/>
                <a:moveTo>
                  <a:pt x="79109" y="35727"/>
                </a:moveTo>
                <a:cubicBezTo>
                  <a:pt x="83352" y="35727"/>
                  <a:pt x="86765" y="32314"/>
                  <a:pt x="86765" y="28071"/>
                </a:cubicBezTo>
                <a:cubicBezTo>
                  <a:pt x="86765" y="23828"/>
                  <a:pt x="83352" y="20415"/>
                  <a:pt x="79109" y="20415"/>
                </a:cubicBezTo>
                <a:lnTo>
                  <a:pt x="43382" y="20415"/>
                </a:lnTo>
                <a:cubicBezTo>
                  <a:pt x="39140" y="20415"/>
                  <a:pt x="35727" y="23828"/>
                  <a:pt x="35727" y="28071"/>
                </a:cubicBezTo>
                <a:cubicBezTo>
                  <a:pt x="35727" y="32314"/>
                  <a:pt x="39140" y="35727"/>
                  <a:pt x="43382" y="35727"/>
                </a:cubicBezTo>
                <a:lnTo>
                  <a:pt x="79109" y="35727"/>
                </a:lnTo>
                <a:close/>
                <a:moveTo>
                  <a:pt x="88168" y="83160"/>
                </a:moveTo>
                <a:cubicBezTo>
                  <a:pt x="90401" y="79588"/>
                  <a:pt x="89317" y="74867"/>
                  <a:pt x="85744" y="72602"/>
                </a:cubicBezTo>
                <a:cubicBezTo>
                  <a:pt x="82171" y="70337"/>
                  <a:pt x="77450" y="71453"/>
                  <a:pt x="75186" y="75026"/>
                </a:cubicBezTo>
                <a:lnTo>
                  <a:pt x="55600" y="106383"/>
                </a:lnTo>
                <a:lnTo>
                  <a:pt x="46987" y="94899"/>
                </a:lnTo>
                <a:cubicBezTo>
                  <a:pt x="44435" y="91518"/>
                  <a:pt x="39650" y="90816"/>
                  <a:pt x="36269" y="93368"/>
                </a:cubicBezTo>
                <a:cubicBezTo>
                  <a:pt x="32888" y="95920"/>
                  <a:pt x="32186" y="100705"/>
                  <a:pt x="34738" y="104086"/>
                </a:cubicBezTo>
                <a:lnTo>
                  <a:pt x="50049" y="124501"/>
                </a:lnTo>
                <a:cubicBezTo>
                  <a:pt x="51549" y="126511"/>
                  <a:pt x="53973" y="127659"/>
                  <a:pt x="56493" y="127564"/>
                </a:cubicBezTo>
                <a:cubicBezTo>
                  <a:pt x="59013" y="127468"/>
                  <a:pt x="61310" y="126128"/>
                  <a:pt x="62649" y="123959"/>
                </a:cubicBezTo>
                <a:lnTo>
                  <a:pt x="88168" y="83128"/>
                </a:lnTo>
                <a:close/>
              </a:path>
            </a:pathLst>
          </a:custGeom>
          <a:solidFill>
            <a:srgbClr val="F8F8F7"/>
          </a:solidFill>
        </p:spPr>
      </p:sp>
      <p:sp>
        <p:nvSpPr>
          <p:cNvPr id="8" name="Text 6"/>
          <p:cNvSpPr/>
          <p:nvPr/>
        </p:nvSpPr>
        <p:spPr>
          <a:xfrm>
            <a:off x="2761464" y="1339242"/>
            <a:ext cx="1788378" cy="261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Assessment Node 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89937" y="1763879"/>
            <a:ext cx="5446794" cy="620624"/>
          </a:xfrm>
          <a:custGeom>
            <a:avLst/>
            <a:gdLst/>
            <a:ahLst/>
            <a:cxnLst/>
            <a:rect l="l" t="t" r="r" b="b"/>
            <a:pathLst>
              <a:path w="5446794" h="620624">
                <a:moveTo>
                  <a:pt x="65327" y="0"/>
                </a:moveTo>
                <a:lnTo>
                  <a:pt x="5381467" y="0"/>
                </a:lnTo>
                <a:cubicBezTo>
                  <a:pt x="5417547" y="0"/>
                  <a:pt x="5446794" y="29248"/>
                  <a:pt x="5446794" y="65327"/>
                </a:cubicBezTo>
                <a:lnTo>
                  <a:pt x="5446794" y="555297"/>
                </a:lnTo>
                <a:cubicBezTo>
                  <a:pt x="5446794" y="591376"/>
                  <a:pt x="5417547" y="620624"/>
                  <a:pt x="5381467" y="620624"/>
                </a:cubicBezTo>
                <a:lnTo>
                  <a:pt x="65327" y="620624"/>
                </a:lnTo>
                <a:cubicBezTo>
                  <a:pt x="29248" y="620624"/>
                  <a:pt x="0" y="591376"/>
                  <a:pt x="0" y="555297"/>
                </a:cubicBez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629205" y="1861873"/>
            <a:ext cx="5307971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Phase Transition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4135" y="2058035"/>
            <a:ext cx="5332730" cy="307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Define → Ideate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53234" y="2654265"/>
            <a:ext cx="32664" cy="653289"/>
          </a:xfrm>
          <a:custGeom>
            <a:avLst/>
            <a:gdLst/>
            <a:ahLst/>
            <a:cxnLst/>
            <a:rect l="l" t="t" r="r" b="b"/>
            <a:pathLst>
              <a:path w="32664" h="653289">
                <a:moveTo>
                  <a:pt x="0" y="0"/>
                </a:moveTo>
                <a:lnTo>
                  <a:pt x="32664" y="0"/>
                </a:lnTo>
                <a:lnTo>
                  <a:pt x="32664" y="653289"/>
                </a:lnTo>
                <a:lnTo>
                  <a:pt x="0" y="653289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13" name="Text 11"/>
          <p:cNvSpPr/>
          <p:nvPr/>
        </p:nvSpPr>
        <p:spPr>
          <a:xfrm>
            <a:off x="2489785" y="2686650"/>
            <a:ext cx="5381466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Verification Objective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89835" y="2882900"/>
            <a:ext cx="6290310" cy="424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Ensure the problem statement aligns with real-world observations to solve the "right problem."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53234" y="3468132"/>
            <a:ext cx="32664" cy="587960"/>
          </a:xfrm>
          <a:custGeom>
            <a:avLst/>
            <a:gdLst/>
            <a:ahLst/>
            <a:cxnLst/>
            <a:rect l="l" t="t" r="r" b="b"/>
            <a:pathLst>
              <a:path w="32664" h="587960">
                <a:moveTo>
                  <a:pt x="0" y="0"/>
                </a:moveTo>
                <a:lnTo>
                  <a:pt x="32664" y="0"/>
                </a:lnTo>
                <a:lnTo>
                  <a:pt x="32664" y="587960"/>
                </a:lnTo>
                <a:lnTo>
                  <a:pt x="0" y="587960"/>
                </a:lnTo>
                <a:lnTo>
                  <a:pt x="0" y="0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16" name="Text 14"/>
          <p:cNvSpPr/>
          <p:nvPr/>
        </p:nvSpPr>
        <p:spPr>
          <a:xfrm>
            <a:off x="2489785" y="3405267"/>
            <a:ext cx="5381466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Assessment Criteria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96729" y="3708493"/>
            <a:ext cx="85744" cy="97993"/>
          </a:xfrm>
          <a:custGeom>
            <a:avLst/>
            <a:gdLst/>
            <a:ahLst/>
            <a:cxnLst/>
            <a:rect l="l" t="t" r="r" b="b"/>
            <a:pathLst>
              <a:path w="85744" h="97993">
                <a:moveTo>
                  <a:pt x="83218" y="13417"/>
                </a:moveTo>
                <a:cubicBezTo>
                  <a:pt x="85955" y="15407"/>
                  <a:pt x="86567" y="19235"/>
                  <a:pt x="84577" y="21972"/>
                </a:cubicBezTo>
                <a:lnTo>
                  <a:pt x="35580" y="89342"/>
                </a:lnTo>
                <a:cubicBezTo>
                  <a:pt x="34527" y="90797"/>
                  <a:pt x="32900" y="91696"/>
                  <a:pt x="31101" y="91850"/>
                </a:cubicBezTo>
                <a:cubicBezTo>
                  <a:pt x="29302" y="92003"/>
                  <a:pt x="27561" y="91333"/>
                  <a:pt x="26297" y="90070"/>
                </a:cubicBezTo>
                <a:lnTo>
                  <a:pt x="1799" y="65571"/>
                </a:lnTo>
                <a:cubicBezTo>
                  <a:pt x="-593" y="63179"/>
                  <a:pt x="-593" y="59294"/>
                  <a:pt x="1799" y="56901"/>
                </a:cubicBezTo>
                <a:cubicBezTo>
                  <a:pt x="4192" y="54509"/>
                  <a:pt x="8077" y="54509"/>
                  <a:pt x="10469" y="56901"/>
                </a:cubicBezTo>
                <a:lnTo>
                  <a:pt x="29896" y="76328"/>
                </a:lnTo>
                <a:lnTo>
                  <a:pt x="74682" y="14756"/>
                </a:lnTo>
                <a:cubicBezTo>
                  <a:pt x="76672" y="12019"/>
                  <a:pt x="80500" y="11407"/>
                  <a:pt x="83237" y="13398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8" name="Text 16"/>
          <p:cNvSpPr/>
          <p:nvPr/>
        </p:nvSpPr>
        <p:spPr>
          <a:xfrm>
            <a:off x="2717165" y="3664585"/>
            <a:ext cx="3579495" cy="163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Does the problem statement accurately reflect user pain points?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496729" y="3928609"/>
            <a:ext cx="85744" cy="97993"/>
          </a:xfrm>
          <a:custGeom>
            <a:avLst/>
            <a:gdLst/>
            <a:ahLst/>
            <a:cxnLst/>
            <a:rect l="l" t="t" r="r" b="b"/>
            <a:pathLst>
              <a:path w="85744" h="97993">
                <a:moveTo>
                  <a:pt x="83218" y="13417"/>
                </a:moveTo>
                <a:cubicBezTo>
                  <a:pt x="85955" y="15407"/>
                  <a:pt x="86567" y="19235"/>
                  <a:pt x="84577" y="21972"/>
                </a:cubicBezTo>
                <a:lnTo>
                  <a:pt x="35580" y="89342"/>
                </a:lnTo>
                <a:cubicBezTo>
                  <a:pt x="34527" y="90797"/>
                  <a:pt x="32900" y="91696"/>
                  <a:pt x="31101" y="91850"/>
                </a:cubicBezTo>
                <a:cubicBezTo>
                  <a:pt x="29302" y="92003"/>
                  <a:pt x="27561" y="91333"/>
                  <a:pt x="26297" y="90070"/>
                </a:cubicBezTo>
                <a:lnTo>
                  <a:pt x="1799" y="65571"/>
                </a:lnTo>
                <a:cubicBezTo>
                  <a:pt x="-593" y="63179"/>
                  <a:pt x="-593" y="59294"/>
                  <a:pt x="1799" y="56901"/>
                </a:cubicBezTo>
                <a:cubicBezTo>
                  <a:pt x="4192" y="54509"/>
                  <a:pt x="8077" y="54509"/>
                  <a:pt x="10469" y="56901"/>
                </a:cubicBezTo>
                <a:lnTo>
                  <a:pt x="29896" y="76328"/>
                </a:lnTo>
                <a:lnTo>
                  <a:pt x="74682" y="14756"/>
                </a:lnTo>
                <a:cubicBezTo>
                  <a:pt x="76672" y="12019"/>
                  <a:pt x="80500" y="11407"/>
                  <a:pt x="83237" y="13398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0" name="Text 18"/>
          <p:cNvSpPr/>
          <p:nvPr/>
        </p:nvSpPr>
        <p:spPr>
          <a:xfrm>
            <a:off x="2724150" y="3863340"/>
            <a:ext cx="2633345" cy="163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Are user needs clearly defined and actionable?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6390" y="4316095"/>
            <a:ext cx="5708015" cy="2529840"/>
          </a:xfrm>
          <a:custGeom>
            <a:avLst/>
            <a:gdLst/>
            <a:ahLst/>
            <a:cxnLst/>
            <a:rect l="l" t="t" r="r" b="b"/>
            <a:pathLst>
              <a:path w="5708110" h="2568241">
                <a:moveTo>
                  <a:pt x="32664" y="0"/>
                </a:moveTo>
                <a:lnTo>
                  <a:pt x="5675445" y="0"/>
                </a:lnTo>
                <a:cubicBezTo>
                  <a:pt x="5693485" y="0"/>
                  <a:pt x="5708110" y="11733"/>
                  <a:pt x="5708110" y="26207"/>
                </a:cubicBezTo>
                <a:lnTo>
                  <a:pt x="5708110" y="2489627"/>
                </a:lnTo>
                <a:cubicBezTo>
                  <a:pt x="5708110" y="2533044"/>
                  <a:pt x="5664240" y="2568241"/>
                  <a:pt x="5610124" y="2568241"/>
                </a:cubicBezTo>
                <a:lnTo>
                  <a:pt x="97986" y="2568241"/>
                </a:lnTo>
                <a:cubicBezTo>
                  <a:pt x="43870" y="2568241"/>
                  <a:pt x="0" y="2533045"/>
                  <a:pt x="0" y="2489627"/>
                </a:cubicBezTo>
                <a:lnTo>
                  <a:pt x="0" y="26207"/>
                </a:lnTo>
                <a:cubicBezTo>
                  <a:pt x="0" y="11743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7279" y="4316277"/>
            <a:ext cx="5708110" cy="32664"/>
          </a:xfrm>
          <a:custGeom>
            <a:avLst/>
            <a:gdLst/>
            <a:ahLst/>
            <a:cxnLst/>
            <a:rect l="l" t="t" r="r" b="b"/>
            <a:pathLst>
              <a:path w="5708110" h="32664">
                <a:moveTo>
                  <a:pt x="32664" y="0"/>
                </a:moveTo>
                <a:lnTo>
                  <a:pt x="5675445" y="0"/>
                </a:lnTo>
                <a:cubicBezTo>
                  <a:pt x="5693485" y="0"/>
                  <a:pt x="5708110" y="14624"/>
                  <a:pt x="5708110" y="32664"/>
                </a:cubicBezTo>
                <a:lnTo>
                  <a:pt x="5708110" y="32664"/>
                </a:lnTo>
                <a:lnTo>
                  <a:pt x="0" y="32664"/>
                </a:ln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23" name="Shape 21"/>
          <p:cNvSpPr/>
          <p:nvPr/>
        </p:nvSpPr>
        <p:spPr>
          <a:xfrm>
            <a:off x="457302" y="4622017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195987" y="0"/>
                </a:moveTo>
                <a:lnTo>
                  <a:pt x="195987" y="0"/>
                </a:lnTo>
                <a:cubicBezTo>
                  <a:pt x="304155" y="0"/>
                  <a:pt x="391973" y="87819"/>
                  <a:pt x="391973" y="195987"/>
                </a:cubicBezTo>
                <a:lnTo>
                  <a:pt x="391973" y="195987"/>
                </a:lnTo>
                <a:cubicBezTo>
                  <a:pt x="391973" y="304155"/>
                  <a:pt x="304155" y="391973"/>
                  <a:pt x="195987" y="391973"/>
                </a:cubicBezTo>
                <a:lnTo>
                  <a:pt x="195987" y="391973"/>
                </a:lnTo>
                <a:cubicBezTo>
                  <a:pt x="87819" y="391973"/>
                  <a:pt x="0" y="304155"/>
                  <a:pt x="0" y="195987"/>
                </a:cubicBezTo>
                <a:lnTo>
                  <a:pt x="0" y="195987"/>
                </a:lnTo>
                <a:cubicBezTo>
                  <a:pt x="0" y="87819"/>
                  <a:pt x="87819" y="0"/>
                  <a:pt x="195987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24" name="Shape 22"/>
          <p:cNvSpPr/>
          <p:nvPr/>
        </p:nvSpPr>
        <p:spPr>
          <a:xfrm>
            <a:off x="581835" y="4736343"/>
            <a:ext cx="142907" cy="163322"/>
          </a:xfrm>
          <a:custGeom>
            <a:avLst/>
            <a:gdLst/>
            <a:ahLst/>
            <a:cxnLst/>
            <a:rect l="l" t="t" r="r" b="b"/>
            <a:pathLst>
              <a:path w="142907" h="163322">
                <a:moveTo>
                  <a:pt x="10208" y="0"/>
                </a:moveTo>
                <a:cubicBezTo>
                  <a:pt x="15854" y="0"/>
                  <a:pt x="20415" y="4562"/>
                  <a:pt x="20415" y="10208"/>
                </a:cubicBezTo>
                <a:lnTo>
                  <a:pt x="20415" y="15311"/>
                </a:lnTo>
                <a:lnTo>
                  <a:pt x="42425" y="9825"/>
                </a:lnTo>
                <a:cubicBezTo>
                  <a:pt x="54579" y="6794"/>
                  <a:pt x="67402" y="8198"/>
                  <a:pt x="78631" y="13812"/>
                </a:cubicBezTo>
                <a:cubicBezTo>
                  <a:pt x="93400" y="21213"/>
                  <a:pt x="110785" y="21213"/>
                  <a:pt x="125554" y="13812"/>
                </a:cubicBezTo>
                <a:lnTo>
                  <a:pt x="128616" y="12281"/>
                </a:lnTo>
                <a:cubicBezTo>
                  <a:pt x="135187" y="8964"/>
                  <a:pt x="142907" y="13748"/>
                  <a:pt x="142907" y="21085"/>
                </a:cubicBezTo>
                <a:lnTo>
                  <a:pt x="142907" y="110306"/>
                </a:lnTo>
                <a:cubicBezTo>
                  <a:pt x="142907" y="114549"/>
                  <a:pt x="140259" y="118377"/>
                  <a:pt x="136272" y="119876"/>
                </a:cubicBezTo>
                <a:lnTo>
                  <a:pt x="125203" y="124023"/>
                </a:lnTo>
                <a:cubicBezTo>
                  <a:pt x="110466" y="129541"/>
                  <a:pt x="94070" y="128680"/>
                  <a:pt x="80002" y="121662"/>
                </a:cubicBezTo>
                <a:cubicBezTo>
                  <a:pt x="67913" y="115601"/>
                  <a:pt x="54037" y="114102"/>
                  <a:pt x="40926" y="117388"/>
                </a:cubicBezTo>
                <a:lnTo>
                  <a:pt x="20415" y="122492"/>
                </a:lnTo>
                <a:lnTo>
                  <a:pt x="20415" y="153115"/>
                </a:lnTo>
                <a:cubicBezTo>
                  <a:pt x="20415" y="158761"/>
                  <a:pt x="15854" y="163322"/>
                  <a:pt x="10208" y="163322"/>
                </a:cubicBezTo>
                <a:cubicBezTo>
                  <a:pt x="4562" y="163322"/>
                  <a:pt x="0" y="158761"/>
                  <a:pt x="0" y="153115"/>
                </a:cubicBezTo>
                <a:lnTo>
                  <a:pt x="0" y="10208"/>
                </a:lnTo>
                <a:cubicBezTo>
                  <a:pt x="0" y="4562"/>
                  <a:pt x="4562" y="0"/>
                  <a:pt x="10208" y="0"/>
                </a:cubicBezTo>
                <a:close/>
                <a:moveTo>
                  <a:pt x="20415" y="59683"/>
                </a:moveTo>
                <a:lnTo>
                  <a:pt x="40831" y="55249"/>
                </a:lnTo>
                <a:lnTo>
                  <a:pt x="40831" y="76143"/>
                </a:lnTo>
                <a:lnTo>
                  <a:pt x="20415" y="80577"/>
                </a:lnTo>
                <a:lnTo>
                  <a:pt x="20415" y="101470"/>
                </a:lnTo>
                <a:lnTo>
                  <a:pt x="35982" y="97579"/>
                </a:lnTo>
                <a:cubicBezTo>
                  <a:pt x="37609" y="97164"/>
                  <a:pt x="39204" y="96813"/>
                  <a:pt x="40831" y="96526"/>
                </a:cubicBezTo>
                <a:lnTo>
                  <a:pt x="40831" y="76143"/>
                </a:lnTo>
                <a:lnTo>
                  <a:pt x="53239" y="73463"/>
                </a:lnTo>
                <a:cubicBezTo>
                  <a:pt x="55887" y="72889"/>
                  <a:pt x="58566" y="72666"/>
                  <a:pt x="61246" y="72793"/>
                </a:cubicBezTo>
                <a:lnTo>
                  <a:pt x="61246" y="52378"/>
                </a:lnTo>
                <a:cubicBezTo>
                  <a:pt x="65584" y="52506"/>
                  <a:pt x="69922" y="53207"/>
                  <a:pt x="74133" y="54419"/>
                </a:cubicBezTo>
                <a:lnTo>
                  <a:pt x="81661" y="56620"/>
                </a:lnTo>
                <a:lnTo>
                  <a:pt x="81661" y="77897"/>
                </a:lnTo>
                <a:lnTo>
                  <a:pt x="68359" y="73973"/>
                </a:lnTo>
                <a:cubicBezTo>
                  <a:pt x="66031" y="73304"/>
                  <a:pt x="63638" y="72889"/>
                  <a:pt x="61246" y="72761"/>
                </a:cubicBezTo>
                <a:lnTo>
                  <a:pt x="61246" y="95537"/>
                </a:lnTo>
                <a:cubicBezTo>
                  <a:pt x="68200" y="96143"/>
                  <a:pt x="75058" y="97674"/>
                  <a:pt x="81661" y="100131"/>
                </a:cubicBezTo>
                <a:lnTo>
                  <a:pt x="81661" y="77865"/>
                </a:lnTo>
                <a:lnTo>
                  <a:pt x="88902" y="80002"/>
                </a:lnTo>
                <a:cubicBezTo>
                  <a:pt x="93208" y="81278"/>
                  <a:pt x="97611" y="82044"/>
                  <a:pt x="102076" y="82363"/>
                </a:cubicBezTo>
                <a:lnTo>
                  <a:pt x="102076" y="61884"/>
                </a:lnTo>
                <a:cubicBezTo>
                  <a:pt x="99588" y="61629"/>
                  <a:pt x="97100" y="61150"/>
                  <a:pt x="94676" y="60448"/>
                </a:cubicBezTo>
                <a:lnTo>
                  <a:pt x="81661" y="56620"/>
                </a:lnTo>
                <a:lnTo>
                  <a:pt x="81661" y="36843"/>
                </a:lnTo>
                <a:cubicBezTo>
                  <a:pt x="77514" y="35631"/>
                  <a:pt x="73431" y="34036"/>
                  <a:pt x="69476" y="32058"/>
                </a:cubicBezTo>
                <a:cubicBezTo>
                  <a:pt x="66860" y="30751"/>
                  <a:pt x="64085" y="29825"/>
                  <a:pt x="61246" y="29251"/>
                </a:cubicBezTo>
                <a:lnTo>
                  <a:pt x="61246" y="52346"/>
                </a:lnTo>
                <a:cubicBezTo>
                  <a:pt x="57099" y="52218"/>
                  <a:pt x="52952" y="52601"/>
                  <a:pt x="48901" y="53494"/>
                </a:cubicBezTo>
                <a:lnTo>
                  <a:pt x="40831" y="55249"/>
                </a:lnTo>
                <a:lnTo>
                  <a:pt x="40831" y="31261"/>
                </a:lnTo>
                <a:lnTo>
                  <a:pt x="20415" y="36365"/>
                </a:lnTo>
                <a:lnTo>
                  <a:pt x="20415" y="59683"/>
                </a:lnTo>
                <a:close/>
                <a:moveTo>
                  <a:pt x="102076" y="107084"/>
                </a:moveTo>
                <a:cubicBezTo>
                  <a:pt x="107435" y="107563"/>
                  <a:pt x="112890" y="106861"/>
                  <a:pt x="118026" y="104915"/>
                </a:cubicBezTo>
                <a:lnTo>
                  <a:pt x="122492" y="103257"/>
                </a:lnTo>
                <a:lnTo>
                  <a:pt x="122492" y="80385"/>
                </a:lnTo>
                <a:lnTo>
                  <a:pt x="119972" y="80959"/>
                </a:lnTo>
                <a:cubicBezTo>
                  <a:pt x="114102" y="82331"/>
                  <a:pt x="108073" y="82778"/>
                  <a:pt x="102076" y="82395"/>
                </a:cubicBezTo>
                <a:lnTo>
                  <a:pt x="102076" y="107084"/>
                </a:lnTo>
                <a:close/>
                <a:moveTo>
                  <a:pt x="122492" y="59428"/>
                </a:moveTo>
                <a:lnTo>
                  <a:pt x="122492" y="36843"/>
                </a:lnTo>
                <a:cubicBezTo>
                  <a:pt x="115825" y="38789"/>
                  <a:pt x="108967" y="39746"/>
                  <a:pt x="102076" y="39746"/>
                </a:cubicBezTo>
                <a:lnTo>
                  <a:pt x="102076" y="61884"/>
                </a:lnTo>
                <a:cubicBezTo>
                  <a:pt x="106510" y="62330"/>
                  <a:pt x="111008" y="62043"/>
                  <a:pt x="115378" y="61054"/>
                </a:cubicBezTo>
                <a:lnTo>
                  <a:pt x="122492" y="59396"/>
                </a:lnTo>
                <a:close/>
              </a:path>
            </a:pathLst>
          </a:custGeom>
          <a:solidFill>
            <a:srgbClr val="F8F8F7"/>
          </a:solidFill>
        </p:spPr>
      </p:sp>
      <p:sp>
        <p:nvSpPr>
          <p:cNvPr id="25" name="Text 23"/>
          <p:cNvSpPr/>
          <p:nvPr/>
        </p:nvSpPr>
        <p:spPr>
          <a:xfrm>
            <a:off x="947269" y="4687346"/>
            <a:ext cx="1821042" cy="261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Assessment Node 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302" y="5111984"/>
            <a:ext cx="5446794" cy="620624"/>
          </a:xfrm>
          <a:custGeom>
            <a:avLst/>
            <a:gdLst/>
            <a:ahLst/>
            <a:cxnLst/>
            <a:rect l="l" t="t" r="r" b="b"/>
            <a:pathLst>
              <a:path w="5446794" h="620624">
                <a:moveTo>
                  <a:pt x="65327" y="0"/>
                </a:moveTo>
                <a:lnTo>
                  <a:pt x="5381467" y="0"/>
                </a:lnTo>
                <a:cubicBezTo>
                  <a:pt x="5417547" y="0"/>
                  <a:pt x="5446794" y="29248"/>
                  <a:pt x="5446794" y="65327"/>
                </a:cubicBezTo>
                <a:lnTo>
                  <a:pt x="5446794" y="555297"/>
                </a:lnTo>
                <a:cubicBezTo>
                  <a:pt x="5446794" y="591376"/>
                  <a:pt x="5417547" y="620624"/>
                  <a:pt x="5381467" y="620624"/>
                </a:cubicBezTo>
                <a:lnTo>
                  <a:pt x="65327" y="620624"/>
                </a:lnTo>
                <a:cubicBezTo>
                  <a:pt x="29248" y="620624"/>
                  <a:pt x="0" y="591376"/>
                  <a:pt x="0" y="555297"/>
                </a:cubicBez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close/>
              </a:path>
            </a:pathLst>
          </a:custGeom>
          <a:solidFill>
            <a:srgbClr val="6A8A94">
              <a:alpha val="10196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555295" y="5184577"/>
            <a:ext cx="5307971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kern="0" spc="23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End of Project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5295" y="5405964"/>
            <a:ext cx="5332469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Post-Test Evaluation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302" y="5855100"/>
            <a:ext cx="32664" cy="440970"/>
          </a:xfrm>
          <a:custGeom>
            <a:avLst/>
            <a:gdLst/>
            <a:ahLst/>
            <a:cxnLst/>
            <a:rect l="l" t="t" r="r" b="b"/>
            <a:pathLst>
              <a:path w="32664" h="440970">
                <a:moveTo>
                  <a:pt x="0" y="0"/>
                </a:moveTo>
                <a:lnTo>
                  <a:pt x="32664" y="0"/>
                </a:lnTo>
                <a:lnTo>
                  <a:pt x="32664" y="440970"/>
                </a:lnTo>
                <a:lnTo>
                  <a:pt x="0" y="440970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30" name="Text 28"/>
          <p:cNvSpPr/>
          <p:nvPr/>
        </p:nvSpPr>
        <p:spPr>
          <a:xfrm>
            <a:off x="581660" y="5786120"/>
            <a:ext cx="5330825" cy="196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Evaluation Objective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1407" y="5982125"/>
            <a:ext cx="5381466" cy="212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25282A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Evaluate if the prototype meets core user needs and identify specific optimization areas.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302" y="6261145"/>
            <a:ext cx="32664" cy="587960"/>
          </a:xfrm>
          <a:custGeom>
            <a:avLst/>
            <a:gdLst/>
            <a:ahLst/>
            <a:cxnLst/>
            <a:rect l="l" t="t" r="r" b="b"/>
            <a:pathLst>
              <a:path w="32664" h="587960">
                <a:moveTo>
                  <a:pt x="0" y="0"/>
                </a:moveTo>
                <a:lnTo>
                  <a:pt x="32664" y="0"/>
                </a:lnTo>
                <a:lnTo>
                  <a:pt x="32664" y="587960"/>
                </a:lnTo>
                <a:lnTo>
                  <a:pt x="0" y="587960"/>
                </a:lnTo>
                <a:lnTo>
                  <a:pt x="0" y="0"/>
                </a:lnTo>
                <a:close/>
              </a:path>
            </a:pathLst>
          </a:custGeom>
          <a:solidFill>
            <a:srgbClr val="6A8A94"/>
          </a:solidFill>
        </p:spPr>
      </p:sp>
      <p:sp>
        <p:nvSpPr>
          <p:cNvPr id="33" name="Text 31"/>
          <p:cNvSpPr/>
          <p:nvPr/>
        </p:nvSpPr>
        <p:spPr>
          <a:xfrm>
            <a:off x="581660" y="6261100"/>
            <a:ext cx="5230495" cy="196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8234" y="6519908"/>
            <a:ext cx="85744" cy="97993"/>
          </a:xfrm>
          <a:custGeom>
            <a:avLst/>
            <a:gdLst/>
            <a:ahLst/>
            <a:cxnLst/>
            <a:rect l="l" t="t" r="r" b="b"/>
            <a:pathLst>
              <a:path w="85744" h="97993">
                <a:moveTo>
                  <a:pt x="83218" y="13417"/>
                </a:moveTo>
                <a:cubicBezTo>
                  <a:pt x="85955" y="15407"/>
                  <a:pt x="86567" y="19235"/>
                  <a:pt x="84577" y="21972"/>
                </a:cubicBezTo>
                <a:lnTo>
                  <a:pt x="35580" y="89342"/>
                </a:lnTo>
                <a:cubicBezTo>
                  <a:pt x="34527" y="90797"/>
                  <a:pt x="32900" y="91696"/>
                  <a:pt x="31101" y="91850"/>
                </a:cubicBezTo>
                <a:cubicBezTo>
                  <a:pt x="29302" y="92003"/>
                  <a:pt x="27561" y="91333"/>
                  <a:pt x="26297" y="90070"/>
                </a:cubicBezTo>
                <a:lnTo>
                  <a:pt x="1799" y="65571"/>
                </a:lnTo>
                <a:cubicBezTo>
                  <a:pt x="-593" y="63179"/>
                  <a:pt x="-593" y="59294"/>
                  <a:pt x="1799" y="56901"/>
                </a:cubicBezTo>
                <a:cubicBezTo>
                  <a:pt x="4192" y="54509"/>
                  <a:pt x="8077" y="54509"/>
                  <a:pt x="10469" y="56901"/>
                </a:cubicBezTo>
                <a:lnTo>
                  <a:pt x="29896" y="76328"/>
                </a:lnTo>
                <a:lnTo>
                  <a:pt x="74682" y="14756"/>
                </a:lnTo>
                <a:cubicBezTo>
                  <a:pt x="76672" y="12019"/>
                  <a:pt x="80500" y="11407"/>
                  <a:pt x="83237" y="13398"/>
                </a:cubicBezTo>
                <a:close/>
              </a:path>
            </a:pathLst>
          </a:custGeom>
          <a:solidFill>
            <a:srgbClr val="6A8A9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14534" y="6480448"/>
            <a:ext cx="1224916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satisfaction ratings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6964" y="6686049"/>
            <a:ext cx="85744" cy="97993"/>
          </a:xfrm>
          <a:custGeom>
            <a:avLst/>
            <a:gdLst/>
            <a:ahLst/>
            <a:cxnLst/>
            <a:rect l="l" t="t" r="r" b="b"/>
            <a:pathLst>
              <a:path w="85744" h="97993">
                <a:moveTo>
                  <a:pt x="83218" y="13417"/>
                </a:moveTo>
                <a:cubicBezTo>
                  <a:pt x="85955" y="15407"/>
                  <a:pt x="86567" y="19235"/>
                  <a:pt x="84577" y="21972"/>
                </a:cubicBezTo>
                <a:lnTo>
                  <a:pt x="35580" y="89342"/>
                </a:lnTo>
                <a:cubicBezTo>
                  <a:pt x="34527" y="90797"/>
                  <a:pt x="32900" y="91696"/>
                  <a:pt x="31101" y="91850"/>
                </a:cubicBezTo>
                <a:cubicBezTo>
                  <a:pt x="29302" y="92003"/>
                  <a:pt x="27561" y="91333"/>
                  <a:pt x="26297" y="90070"/>
                </a:cubicBezTo>
                <a:lnTo>
                  <a:pt x="1799" y="65571"/>
                </a:lnTo>
                <a:cubicBezTo>
                  <a:pt x="-593" y="63179"/>
                  <a:pt x="-593" y="59294"/>
                  <a:pt x="1799" y="56901"/>
                </a:cubicBezTo>
                <a:cubicBezTo>
                  <a:pt x="4192" y="54509"/>
                  <a:pt x="8077" y="54509"/>
                  <a:pt x="10469" y="56901"/>
                </a:cubicBezTo>
                <a:lnTo>
                  <a:pt x="29896" y="76328"/>
                </a:lnTo>
                <a:lnTo>
                  <a:pt x="74682" y="14756"/>
                </a:lnTo>
                <a:cubicBezTo>
                  <a:pt x="76672" y="12019"/>
                  <a:pt x="80500" y="11407"/>
                  <a:pt x="83237" y="13398"/>
                </a:cubicBezTo>
                <a:close/>
              </a:path>
            </a:pathLst>
          </a:custGeom>
          <a:solidFill>
            <a:srgbClr val="6A8A9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14534" y="6647682"/>
            <a:ext cx="1502564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Task completion success rate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193790" y="4316095"/>
            <a:ext cx="5708015" cy="2433955"/>
          </a:xfrm>
          <a:custGeom>
            <a:avLst/>
            <a:gdLst/>
            <a:ahLst/>
            <a:cxnLst/>
            <a:rect l="l" t="t" r="r" b="b"/>
            <a:pathLst>
              <a:path w="5708110" h="2568241">
                <a:moveTo>
                  <a:pt x="98003" y="0"/>
                </a:moveTo>
                <a:lnTo>
                  <a:pt x="5610107" y="0"/>
                </a:lnTo>
                <a:cubicBezTo>
                  <a:pt x="5664232" y="0"/>
                  <a:pt x="5708110" y="47258"/>
                  <a:pt x="5708110" y="105555"/>
                </a:cubicBezTo>
                <a:lnTo>
                  <a:pt x="5708110" y="2462686"/>
                </a:lnTo>
                <a:cubicBezTo>
                  <a:pt x="5708110" y="2520983"/>
                  <a:pt x="5664232" y="2568241"/>
                  <a:pt x="5610107" y="2568241"/>
                </a:cubicBezTo>
                <a:lnTo>
                  <a:pt x="98003" y="2568241"/>
                </a:lnTo>
                <a:cubicBezTo>
                  <a:pt x="43877" y="2568241"/>
                  <a:pt x="0" y="2520983"/>
                  <a:pt x="0" y="2462686"/>
                </a:cubicBezTo>
                <a:lnTo>
                  <a:pt x="0" y="105555"/>
                </a:lnTo>
                <a:cubicBezTo>
                  <a:pt x="0" y="47297"/>
                  <a:pt x="43914" y="0"/>
                  <a:pt x="98003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374765" y="4735830"/>
            <a:ext cx="139065" cy="196215"/>
          </a:xfrm>
          <a:custGeom>
            <a:avLst/>
            <a:gdLst/>
            <a:ahLst/>
            <a:cxnLst/>
            <a:rect l="l" t="t" r="r" b="b"/>
            <a:pathLst>
              <a:path w="146990" h="195987">
                <a:moveTo>
                  <a:pt x="112118" y="146990"/>
                </a:moveTo>
                <a:cubicBezTo>
                  <a:pt x="114912" y="138454"/>
                  <a:pt x="120501" y="130722"/>
                  <a:pt x="126817" y="124061"/>
                </a:cubicBezTo>
                <a:cubicBezTo>
                  <a:pt x="139334" y="110893"/>
                  <a:pt x="146990" y="93094"/>
                  <a:pt x="146990" y="73495"/>
                </a:cubicBezTo>
                <a:cubicBezTo>
                  <a:pt x="146990" y="32920"/>
                  <a:pt x="114070" y="0"/>
                  <a:pt x="73495" y="0"/>
                </a:cubicBezTo>
                <a:cubicBezTo>
                  <a:pt x="32920" y="0"/>
                  <a:pt x="0" y="32920"/>
                  <a:pt x="0" y="73495"/>
                </a:cubicBezTo>
                <a:cubicBezTo>
                  <a:pt x="0" y="93094"/>
                  <a:pt x="7656" y="110893"/>
                  <a:pt x="20173" y="124061"/>
                </a:cubicBezTo>
                <a:cubicBezTo>
                  <a:pt x="26489" y="130722"/>
                  <a:pt x="32116" y="138454"/>
                  <a:pt x="34872" y="146990"/>
                </a:cubicBezTo>
                <a:lnTo>
                  <a:pt x="112080" y="146990"/>
                </a:lnTo>
                <a:close/>
                <a:moveTo>
                  <a:pt x="110242" y="165364"/>
                </a:moveTo>
                <a:lnTo>
                  <a:pt x="36747" y="165364"/>
                </a:lnTo>
                <a:lnTo>
                  <a:pt x="36747" y="171488"/>
                </a:lnTo>
                <a:cubicBezTo>
                  <a:pt x="36747" y="188407"/>
                  <a:pt x="50451" y="202111"/>
                  <a:pt x="67370" y="202111"/>
                </a:cubicBezTo>
                <a:lnTo>
                  <a:pt x="79620" y="202111"/>
                </a:lnTo>
                <a:cubicBezTo>
                  <a:pt x="96539" y="202111"/>
                  <a:pt x="110242" y="188407"/>
                  <a:pt x="110242" y="171488"/>
                </a:cubicBezTo>
                <a:lnTo>
                  <a:pt x="110242" y="165364"/>
                </a:lnTo>
                <a:close/>
                <a:moveTo>
                  <a:pt x="70433" y="42872"/>
                </a:moveTo>
                <a:cubicBezTo>
                  <a:pt x="55198" y="42872"/>
                  <a:pt x="42872" y="55198"/>
                  <a:pt x="42872" y="70433"/>
                </a:cubicBezTo>
                <a:cubicBezTo>
                  <a:pt x="42872" y="75524"/>
                  <a:pt x="38776" y="79620"/>
                  <a:pt x="33685" y="79620"/>
                </a:cubicBezTo>
                <a:cubicBezTo>
                  <a:pt x="28594" y="79620"/>
                  <a:pt x="24498" y="75524"/>
                  <a:pt x="24498" y="70433"/>
                </a:cubicBezTo>
                <a:cubicBezTo>
                  <a:pt x="24498" y="45054"/>
                  <a:pt x="45054" y="24498"/>
                  <a:pt x="70433" y="24498"/>
                </a:cubicBezTo>
                <a:cubicBezTo>
                  <a:pt x="75524" y="24498"/>
                  <a:pt x="79620" y="28594"/>
                  <a:pt x="79620" y="33685"/>
                </a:cubicBezTo>
                <a:cubicBezTo>
                  <a:pt x="79620" y="38776"/>
                  <a:pt x="75524" y="42872"/>
                  <a:pt x="70433" y="42872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6" name="Text 43"/>
          <p:cNvSpPr/>
          <p:nvPr/>
        </p:nvSpPr>
        <p:spPr>
          <a:xfrm>
            <a:off x="6636324" y="4703678"/>
            <a:ext cx="1004431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17846" y="5307971"/>
            <a:ext cx="5430462" cy="849275"/>
          </a:xfrm>
          <a:custGeom>
            <a:avLst/>
            <a:gdLst/>
            <a:ahLst/>
            <a:cxnLst/>
            <a:rect l="l" t="t" r="r" b="b"/>
            <a:pathLst>
              <a:path w="5430462" h="849275">
                <a:moveTo>
                  <a:pt x="32664" y="0"/>
                </a:moveTo>
                <a:lnTo>
                  <a:pt x="5365136" y="0"/>
                </a:lnTo>
                <a:cubicBezTo>
                  <a:pt x="5401215" y="0"/>
                  <a:pt x="5430462" y="29248"/>
                  <a:pt x="5430462" y="65326"/>
                </a:cubicBezTo>
                <a:lnTo>
                  <a:pt x="5430462" y="783949"/>
                </a:lnTo>
                <a:cubicBezTo>
                  <a:pt x="5430462" y="820028"/>
                  <a:pt x="5401215" y="849275"/>
                  <a:pt x="5365136" y="849275"/>
                </a:cubicBezTo>
                <a:lnTo>
                  <a:pt x="32664" y="849275"/>
                </a:lnTo>
                <a:cubicBezTo>
                  <a:pt x="14624" y="849275"/>
                  <a:pt x="0" y="834651"/>
                  <a:pt x="0" y="816611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48" name="Shape 45"/>
          <p:cNvSpPr/>
          <p:nvPr/>
        </p:nvSpPr>
        <p:spPr>
          <a:xfrm>
            <a:off x="6317846" y="5307971"/>
            <a:ext cx="32664" cy="849275"/>
          </a:xfrm>
          <a:custGeom>
            <a:avLst/>
            <a:gdLst/>
            <a:ahLst/>
            <a:cxnLst/>
            <a:rect l="l" t="t" r="r" b="b"/>
            <a:pathLst>
              <a:path w="32664" h="849275">
                <a:moveTo>
                  <a:pt x="32664" y="0"/>
                </a:moveTo>
                <a:lnTo>
                  <a:pt x="32664" y="0"/>
                </a:lnTo>
                <a:lnTo>
                  <a:pt x="32664" y="849275"/>
                </a:lnTo>
                <a:lnTo>
                  <a:pt x="32664" y="849275"/>
                </a:lnTo>
                <a:cubicBezTo>
                  <a:pt x="14624" y="849275"/>
                  <a:pt x="0" y="834651"/>
                  <a:pt x="0" y="816611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49" name="Text 46"/>
          <p:cNvSpPr/>
          <p:nvPr/>
        </p:nvSpPr>
        <p:spPr>
          <a:xfrm>
            <a:off x="6375009" y="5324303"/>
            <a:ext cx="5283472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415839" y="5599909"/>
            <a:ext cx="5373299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The prototype addresses core pain points with a clean interface, high usability, and clear value for both students and staff.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424006" y="7022853"/>
            <a:ext cx="5283472" cy="4246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Requires additional features (email notifications, multi-language) to adapt to a wider user base and ensure accessibility.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45215" y="7115335"/>
            <a:ext cx="2116544" cy="177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027" y="334027"/>
            <a:ext cx="1127342" cy="233819"/>
          </a:xfrm>
          <a:custGeom>
            <a:avLst/>
            <a:gdLst/>
            <a:ahLst/>
            <a:cxnLst/>
            <a:rect l="l" t="t" r="r" b="b"/>
            <a:pathLst>
              <a:path w="1127342" h="233819">
                <a:moveTo>
                  <a:pt x="116910" y="0"/>
                </a:moveTo>
                <a:lnTo>
                  <a:pt x="1010433" y="0"/>
                </a:lnTo>
                <a:cubicBezTo>
                  <a:pt x="1075000" y="0"/>
                  <a:pt x="1127342" y="52342"/>
                  <a:pt x="1127342" y="116910"/>
                </a:cubicBezTo>
                <a:lnTo>
                  <a:pt x="1127342" y="116910"/>
                </a:lnTo>
                <a:cubicBezTo>
                  <a:pt x="1127342" y="181477"/>
                  <a:pt x="1075000" y="233819"/>
                  <a:pt x="1010433" y="233819"/>
                </a:cubicBezTo>
                <a:lnTo>
                  <a:pt x="116910" y="233819"/>
                </a:lnTo>
                <a:cubicBezTo>
                  <a:pt x="52385" y="233819"/>
                  <a:pt x="0" y="181434"/>
                  <a:pt x="0" y="116910"/>
                </a:cubicBezTo>
                <a:lnTo>
                  <a:pt x="0" y="116910"/>
                </a:lnTo>
                <a:cubicBezTo>
                  <a:pt x="0" y="52385"/>
                  <a:pt x="52385" y="0"/>
                  <a:pt x="11691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34027" y="217118"/>
            <a:ext cx="1185797" cy="233819"/>
          </a:xfrm>
          <a:prstGeom prst="rect">
            <a:avLst/>
          </a:prstGeom>
          <a:noFill/>
        </p:spPr>
        <p:txBody>
          <a:bodyPr wrap="square" lIns="133611" tIns="33403" rIns="133611" bIns="33403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4027" y="697517"/>
            <a:ext cx="11724362" cy="4008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5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Individual Reflections &amp; Growth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027" y="1169100"/>
            <a:ext cx="5695167" cy="2973344"/>
          </a:xfrm>
          <a:custGeom>
            <a:avLst/>
            <a:gdLst/>
            <a:ahLst/>
            <a:cxnLst/>
            <a:rect l="l" t="t" r="r" b="b"/>
            <a:pathLst>
              <a:path w="5695167" h="2973344">
                <a:moveTo>
                  <a:pt x="66800" y="0"/>
                </a:moveTo>
                <a:lnTo>
                  <a:pt x="5628367" y="0"/>
                </a:lnTo>
                <a:cubicBezTo>
                  <a:pt x="5665260" y="0"/>
                  <a:pt x="5695167" y="28781"/>
                  <a:pt x="5695167" y="64284"/>
                </a:cubicBezTo>
                <a:lnTo>
                  <a:pt x="5695167" y="2909060"/>
                </a:lnTo>
                <a:cubicBezTo>
                  <a:pt x="5695167" y="2944563"/>
                  <a:pt x="5665260" y="2973344"/>
                  <a:pt x="5628367" y="2973344"/>
                </a:cubicBezTo>
                <a:lnTo>
                  <a:pt x="66800" y="2973344"/>
                </a:lnTo>
                <a:cubicBezTo>
                  <a:pt x="29908" y="2973344"/>
                  <a:pt x="0" y="2944563"/>
                  <a:pt x="0" y="2909060"/>
                </a:cubicBezTo>
                <a:lnTo>
                  <a:pt x="0" y="64284"/>
                </a:lnTo>
                <a:cubicBezTo>
                  <a:pt x="0" y="28805"/>
                  <a:pt x="29932" y="0"/>
                  <a:pt x="66800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25260" dist="835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7638" y="1302711"/>
            <a:ext cx="467638" cy="467638"/>
          </a:xfrm>
          <a:custGeom>
            <a:avLst/>
            <a:gdLst/>
            <a:ahLst/>
            <a:cxnLst/>
            <a:rect l="l" t="t" r="r" b="b"/>
            <a:pathLst>
              <a:path w="467638" h="467638">
                <a:moveTo>
                  <a:pt x="233819" y="0"/>
                </a:moveTo>
                <a:lnTo>
                  <a:pt x="233819" y="0"/>
                </a:lnTo>
                <a:cubicBezTo>
                  <a:pt x="362867" y="0"/>
                  <a:pt x="467638" y="104771"/>
                  <a:pt x="467638" y="233819"/>
                </a:cubicBezTo>
                <a:lnTo>
                  <a:pt x="467638" y="233819"/>
                </a:lnTo>
                <a:cubicBezTo>
                  <a:pt x="467638" y="362867"/>
                  <a:pt x="362867" y="467638"/>
                  <a:pt x="233819" y="467638"/>
                </a:cubicBezTo>
                <a:lnTo>
                  <a:pt x="233819" y="467638"/>
                </a:lnTo>
                <a:cubicBezTo>
                  <a:pt x="104771" y="467638"/>
                  <a:pt x="0" y="362867"/>
                  <a:pt x="0" y="233819"/>
                </a:cubicBezTo>
                <a:lnTo>
                  <a:pt x="0" y="233819"/>
                </a:lnTo>
                <a:cubicBezTo>
                  <a:pt x="0" y="104771"/>
                  <a:pt x="104771" y="0"/>
                  <a:pt x="23381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7" name="Shape 5"/>
          <p:cNvSpPr/>
          <p:nvPr/>
        </p:nvSpPr>
        <p:spPr>
          <a:xfrm>
            <a:off x="601249" y="1436322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00208" y="200416"/>
                </a:moveTo>
                <a:cubicBezTo>
                  <a:pt x="155515" y="200416"/>
                  <a:pt x="200416" y="155515"/>
                  <a:pt x="200416" y="100208"/>
                </a:cubicBezTo>
                <a:cubicBezTo>
                  <a:pt x="200416" y="44902"/>
                  <a:pt x="155515" y="0"/>
                  <a:pt x="100208" y="0"/>
                </a:cubicBezTo>
                <a:cubicBezTo>
                  <a:pt x="44902" y="0"/>
                  <a:pt x="0" y="44902"/>
                  <a:pt x="0" y="100208"/>
                </a:cubicBezTo>
                <a:cubicBezTo>
                  <a:pt x="0" y="155515"/>
                  <a:pt x="44902" y="200416"/>
                  <a:pt x="100208" y="200416"/>
                </a:cubicBezTo>
                <a:close/>
                <a:moveTo>
                  <a:pt x="120054" y="127257"/>
                </a:moveTo>
                <a:lnTo>
                  <a:pt x="63570" y="148981"/>
                </a:lnTo>
                <a:cubicBezTo>
                  <a:pt x="55976" y="151917"/>
                  <a:pt x="48499" y="144441"/>
                  <a:pt x="51435" y="136847"/>
                </a:cubicBezTo>
                <a:lnTo>
                  <a:pt x="73160" y="80362"/>
                </a:lnTo>
                <a:cubicBezTo>
                  <a:pt x="74452" y="77035"/>
                  <a:pt x="77035" y="74452"/>
                  <a:pt x="80362" y="73160"/>
                </a:cubicBezTo>
                <a:lnTo>
                  <a:pt x="136847" y="51435"/>
                </a:lnTo>
                <a:cubicBezTo>
                  <a:pt x="144441" y="48499"/>
                  <a:pt x="151917" y="55976"/>
                  <a:pt x="148981" y="63570"/>
                </a:cubicBezTo>
                <a:lnTo>
                  <a:pt x="127257" y="120054"/>
                </a:lnTo>
                <a:cubicBezTo>
                  <a:pt x="126004" y="123381"/>
                  <a:pt x="123381" y="125965"/>
                  <a:pt x="120054" y="127257"/>
                </a:cubicBezTo>
                <a:close/>
                <a:moveTo>
                  <a:pt x="112734" y="100208"/>
                </a:moveTo>
                <a:cubicBezTo>
                  <a:pt x="112734" y="93295"/>
                  <a:pt x="107122" y="87682"/>
                  <a:pt x="100208" y="87682"/>
                </a:cubicBezTo>
                <a:cubicBezTo>
                  <a:pt x="93295" y="87682"/>
                  <a:pt x="87682" y="93295"/>
                  <a:pt x="87682" y="100208"/>
                </a:cubicBezTo>
                <a:cubicBezTo>
                  <a:pt x="87682" y="107122"/>
                  <a:pt x="93295" y="112734"/>
                  <a:pt x="100208" y="112734"/>
                </a:cubicBezTo>
                <a:cubicBezTo>
                  <a:pt x="107122" y="112734"/>
                  <a:pt x="112734" y="107122"/>
                  <a:pt x="112734" y="100208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8" name="Text 6"/>
          <p:cNvSpPr/>
          <p:nvPr/>
        </p:nvSpPr>
        <p:spPr>
          <a:xfrm>
            <a:off x="1035485" y="1336114"/>
            <a:ext cx="926926" cy="2338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XU HAOJIE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5485" y="1569933"/>
            <a:ext cx="901874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Leader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340" y="1928751"/>
            <a:ext cx="5411244" cy="534444"/>
          </a:xfrm>
          <a:custGeom>
            <a:avLst/>
            <a:gdLst/>
            <a:ahLst/>
            <a:cxnLst/>
            <a:rect l="l" t="t" r="r" b="b"/>
            <a:pathLst>
              <a:path w="5411244" h="534444">
                <a:moveTo>
                  <a:pt x="33403" y="0"/>
                </a:moveTo>
                <a:lnTo>
                  <a:pt x="5344438" y="0"/>
                </a:lnTo>
                <a:cubicBezTo>
                  <a:pt x="5381334" y="0"/>
                  <a:pt x="5411244" y="29910"/>
                  <a:pt x="5411244" y="66805"/>
                </a:cubicBezTo>
                <a:lnTo>
                  <a:pt x="5411244" y="467638"/>
                </a:lnTo>
                <a:cubicBezTo>
                  <a:pt x="5411244" y="504534"/>
                  <a:pt x="5381334" y="534444"/>
                  <a:pt x="5344438" y="534444"/>
                </a:cubicBez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484340" y="1928751"/>
            <a:ext cx="33403" cy="534444"/>
          </a:xfrm>
          <a:custGeom>
            <a:avLst/>
            <a:gdLst/>
            <a:ahLst/>
            <a:cxnLst/>
            <a:rect l="l" t="t" r="r" b="b"/>
            <a:pathLst>
              <a:path w="33403" h="534444">
                <a:moveTo>
                  <a:pt x="33403" y="0"/>
                </a:moveTo>
                <a:lnTo>
                  <a:pt x="33403" y="0"/>
                </a:lnTo>
                <a:lnTo>
                  <a:pt x="33403" y="534444"/>
                </a:ln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2" name="Text 10"/>
          <p:cNvSpPr/>
          <p:nvPr/>
        </p:nvSpPr>
        <p:spPr>
          <a:xfrm>
            <a:off x="567847" y="1995557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Career Goal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7847" y="2195973"/>
            <a:ext cx="5327737" cy="200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Become a successful systems analyst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340" y="2646388"/>
            <a:ext cx="5411244" cy="718159"/>
          </a:xfrm>
          <a:custGeom>
            <a:avLst/>
            <a:gdLst/>
            <a:ahLst/>
            <a:cxnLst/>
            <a:rect l="l" t="t" r="r" b="b"/>
            <a:pathLst>
              <a:path w="5411244" h="718159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651356"/>
                </a:lnTo>
                <a:cubicBezTo>
                  <a:pt x="5411244" y="688250"/>
                  <a:pt x="5381335" y="718159"/>
                  <a:pt x="5344441" y="718159"/>
                </a:cubicBezTo>
                <a:lnTo>
                  <a:pt x="33403" y="718159"/>
                </a:lnTo>
                <a:cubicBezTo>
                  <a:pt x="14955" y="718159"/>
                  <a:pt x="0" y="703204"/>
                  <a:pt x="0" y="684756"/>
                </a:cubicBezTo>
                <a:lnTo>
                  <a:pt x="0" y="33403"/>
                </a:lnTo>
                <a:cubicBezTo>
                  <a:pt x="0" y="14967"/>
                  <a:pt x="14967" y="0"/>
                  <a:pt x="3340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84340" y="2646388"/>
            <a:ext cx="33403" cy="718159"/>
          </a:xfrm>
          <a:custGeom>
            <a:avLst/>
            <a:gdLst/>
            <a:ahLst/>
            <a:cxnLst/>
            <a:rect l="l" t="t" r="r" b="b"/>
            <a:pathLst>
              <a:path w="33403" h="718159">
                <a:moveTo>
                  <a:pt x="33403" y="0"/>
                </a:moveTo>
                <a:lnTo>
                  <a:pt x="33403" y="0"/>
                </a:lnTo>
                <a:lnTo>
                  <a:pt x="33403" y="718159"/>
                </a:lnTo>
                <a:lnTo>
                  <a:pt x="33403" y="718159"/>
                </a:lnTo>
                <a:cubicBezTo>
                  <a:pt x="14955" y="718159"/>
                  <a:pt x="0" y="703204"/>
                  <a:pt x="0" y="684756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6" name="Text 14"/>
          <p:cNvSpPr/>
          <p:nvPr/>
        </p:nvSpPr>
        <p:spPr>
          <a:xfrm>
            <a:off x="567847" y="2713194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7847" y="2913610"/>
            <a:ext cx="5319386" cy="38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Learned that technical skills alone are insufficient; </a:t>
            </a:r>
            <a:r>
              <a:rPr lang="en-US" sz="92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user empathy</a:t>
            </a:r>
            <a:r>
              <a:rPr lang="en-US" sz="92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is critical for effective system development.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340" y="3543565"/>
            <a:ext cx="5411244" cy="526093"/>
          </a:xfrm>
          <a:custGeom>
            <a:avLst/>
            <a:gdLst/>
            <a:ahLst/>
            <a:cxnLst/>
            <a:rect l="l" t="t" r="r" b="b"/>
            <a:pathLst>
              <a:path w="5411244" h="526093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459290"/>
                </a:lnTo>
                <a:cubicBezTo>
                  <a:pt x="5411244" y="496184"/>
                  <a:pt x="5381335" y="526093"/>
                  <a:pt x="5344441" y="526093"/>
                </a:cubicBez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484340" y="3543565"/>
            <a:ext cx="33403" cy="526093"/>
          </a:xfrm>
          <a:custGeom>
            <a:avLst/>
            <a:gdLst/>
            <a:ahLst/>
            <a:cxnLst/>
            <a:rect l="l" t="t" r="r" b="b"/>
            <a:pathLst>
              <a:path w="33403" h="526093">
                <a:moveTo>
                  <a:pt x="33403" y="0"/>
                </a:moveTo>
                <a:lnTo>
                  <a:pt x="33403" y="0"/>
                </a:lnTo>
                <a:lnTo>
                  <a:pt x="33403" y="526093"/>
                </a:ln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0" name="Text 18"/>
          <p:cNvSpPr/>
          <p:nvPr/>
        </p:nvSpPr>
        <p:spPr>
          <a:xfrm>
            <a:off x="567847" y="3597671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7847" y="3798087"/>
            <a:ext cx="5319386" cy="1920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Improve communication skills and learn more about User Experience (UX) design.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6208" y="1169100"/>
            <a:ext cx="5695167" cy="2956642"/>
          </a:xfrm>
          <a:custGeom>
            <a:avLst/>
            <a:gdLst/>
            <a:ahLst/>
            <a:cxnLst/>
            <a:rect l="l" t="t" r="r" b="b"/>
            <a:pathLst>
              <a:path w="5695167" h="2956642">
                <a:moveTo>
                  <a:pt x="33403" y="0"/>
                </a:moveTo>
                <a:lnTo>
                  <a:pt x="5661764" y="0"/>
                </a:lnTo>
                <a:cubicBezTo>
                  <a:pt x="5680212" y="0"/>
                  <a:pt x="5695167" y="14388"/>
                  <a:pt x="5695167" y="32137"/>
                </a:cubicBezTo>
                <a:lnTo>
                  <a:pt x="5695167" y="2892365"/>
                </a:lnTo>
                <a:cubicBezTo>
                  <a:pt x="5695167" y="2927864"/>
                  <a:pt x="5665256" y="2956642"/>
                  <a:pt x="5628359" y="2956642"/>
                </a:cubicBezTo>
                <a:lnTo>
                  <a:pt x="66808" y="2956642"/>
                </a:lnTo>
                <a:cubicBezTo>
                  <a:pt x="29911" y="2956642"/>
                  <a:pt x="0" y="2927864"/>
                  <a:pt x="0" y="2892365"/>
                </a:cubicBezTo>
                <a:lnTo>
                  <a:pt x="0" y="32137"/>
                </a:lnTo>
                <a:cubicBezTo>
                  <a:pt x="0" y="14400"/>
                  <a:pt x="14967" y="0"/>
                  <a:pt x="334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5260" dist="835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0892" y="1185801"/>
            <a:ext cx="5695167" cy="33403"/>
          </a:xfrm>
          <a:custGeom>
            <a:avLst/>
            <a:gdLst/>
            <a:ahLst/>
            <a:cxnLst/>
            <a:rect l="l" t="t" r="r" b="b"/>
            <a:pathLst>
              <a:path w="5695167" h="33403">
                <a:moveTo>
                  <a:pt x="33403" y="0"/>
                </a:moveTo>
                <a:lnTo>
                  <a:pt x="5661764" y="0"/>
                </a:lnTo>
                <a:cubicBezTo>
                  <a:pt x="5680212" y="0"/>
                  <a:pt x="5695167" y="14955"/>
                  <a:pt x="5695167" y="33403"/>
                </a:cubicBezTo>
                <a:lnTo>
                  <a:pt x="5695167" y="33403"/>
                </a:lnTo>
                <a:lnTo>
                  <a:pt x="0" y="33403"/>
                </a:ln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4" name="Shape 22"/>
          <p:cNvSpPr/>
          <p:nvPr/>
        </p:nvSpPr>
        <p:spPr>
          <a:xfrm>
            <a:off x="6294503" y="1336114"/>
            <a:ext cx="467638" cy="467638"/>
          </a:xfrm>
          <a:custGeom>
            <a:avLst/>
            <a:gdLst/>
            <a:ahLst/>
            <a:cxnLst/>
            <a:rect l="l" t="t" r="r" b="b"/>
            <a:pathLst>
              <a:path w="467638" h="467638">
                <a:moveTo>
                  <a:pt x="233819" y="0"/>
                </a:moveTo>
                <a:lnTo>
                  <a:pt x="233819" y="0"/>
                </a:lnTo>
                <a:cubicBezTo>
                  <a:pt x="362867" y="0"/>
                  <a:pt x="467638" y="104771"/>
                  <a:pt x="467638" y="233819"/>
                </a:cubicBezTo>
                <a:lnTo>
                  <a:pt x="467638" y="233819"/>
                </a:lnTo>
                <a:cubicBezTo>
                  <a:pt x="467638" y="362867"/>
                  <a:pt x="362867" y="467638"/>
                  <a:pt x="233819" y="467638"/>
                </a:cubicBezTo>
                <a:lnTo>
                  <a:pt x="233819" y="467638"/>
                </a:lnTo>
                <a:cubicBezTo>
                  <a:pt x="104771" y="467638"/>
                  <a:pt x="0" y="362867"/>
                  <a:pt x="0" y="233819"/>
                </a:cubicBezTo>
                <a:lnTo>
                  <a:pt x="0" y="233819"/>
                </a:lnTo>
                <a:cubicBezTo>
                  <a:pt x="0" y="104771"/>
                  <a:pt x="104771" y="0"/>
                  <a:pt x="233819" y="0"/>
                </a:cubicBezTo>
                <a:close/>
              </a:path>
            </a:pathLst>
          </a:custGeom>
          <a:solidFill>
            <a:srgbClr val="C87D55">
              <a:alpha val="20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6428114" y="1469725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4248" y="138256"/>
                </a:moveTo>
                <a:cubicBezTo>
                  <a:pt x="15853" y="132541"/>
                  <a:pt x="18867" y="127335"/>
                  <a:pt x="23095" y="123107"/>
                </a:cubicBezTo>
                <a:lnTo>
                  <a:pt x="94023" y="52179"/>
                </a:lnTo>
                <a:lnTo>
                  <a:pt x="107293" y="38909"/>
                </a:lnTo>
                <a:cubicBezTo>
                  <a:pt x="113791" y="45407"/>
                  <a:pt x="127374" y="58990"/>
                  <a:pt x="148003" y="79619"/>
                </a:cubicBezTo>
                <a:lnTo>
                  <a:pt x="161273" y="92888"/>
                </a:lnTo>
                <a:lnTo>
                  <a:pt x="148003" y="106158"/>
                </a:lnTo>
                <a:lnTo>
                  <a:pt x="77074" y="177087"/>
                </a:lnTo>
                <a:cubicBezTo>
                  <a:pt x="72886" y="181275"/>
                  <a:pt x="67641" y="184328"/>
                  <a:pt x="61926" y="185933"/>
                </a:cubicBezTo>
                <a:lnTo>
                  <a:pt x="11900" y="199868"/>
                </a:lnTo>
                <a:cubicBezTo>
                  <a:pt x="8651" y="200769"/>
                  <a:pt x="5128" y="199868"/>
                  <a:pt x="2740" y="197442"/>
                </a:cubicBezTo>
                <a:cubicBezTo>
                  <a:pt x="352" y="195015"/>
                  <a:pt x="-548" y="191531"/>
                  <a:pt x="352" y="188282"/>
                </a:cubicBezTo>
                <a:lnTo>
                  <a:pt x="14248" y="138256"/>
                </a:lnTo>
                <a:close/>
                <a:moveTo>
                  <a:pt x="36012" y="136808"/>
                </a:moveTo>
                <a:cubicBezTo>
                  <a:pt x="34290" y="138647"/>
                  <a:pt x="33037" y="140879"/>
                  <a:pt x="32372" y="143306"/>
                </a:cubicBezTo>
                <a:lnTo>
                  <a:pt x="22938" y="177322"/>
                </a:lnTo>
                <a:lnTo>
                  <a:pt x="56954" y="167888"/>
                </a:lnTo>
                <a:cubicBezTo>
                  <a:pt x="59459" y="167183"/>
                  <a:pt x="61730" y="165892"/>
                  <a:pt x="63609" y="164091"/>
                </a:cubicBezTo>
                <a:lnTo>
                  <a:pt x="35973" y="136808"/>
                </a:lnTo>
                <a:close/>
                <a:moveTo>
                  <a:pt x="174582" y="79619"/>
                </a:moveTo>
                <a:cubicBezTo>
                  <a:pt x="168084" y="73121"/>
                  <a:pt x="154501" y="59538"/>
                  <a:pt x="133872" y="38909"/>
                </a:cubicBezTo>
                <a:lnTo>
                  <a:pt x="120563" y="25639"/>
                </a:lnTo>
                <a:cubicBezTo>
                  <a:pt x="130936" y="15266"/>
                  <a:pt x="136769" y="9434"/>
                  <a:pt x="138139" y="8064"/>
                </a:cubicBezTo>
                <a:cubicBezTo>
                  <a:pt x="143423" y="2740"/>
                  <a:pt x="150625" y="-235"/>
                  <a:pt x="158141" y="-235"/>
                </a:cubicBezTo>
                <a:cubicBezTo>
                  <a:pt x="165657" y="-235"/>
                  <a:pt x="172859" y="2740"/>
                  <a:pt x="178144" y="8064"/>
                </a:cubicBezTo>
                <a:lnTo>
                  <a:pt x="192118" y="22038"/>
                </a:lnTo>
                <a:cubicBezTo>
                  <a:pt x="197442" y="27362"/>
                  <a:pt x="200416" y="34564"/>
                  <a:pt x="200416" y="42040"/>
                </a:cubicBezTo>
                <a:cubicBezTo>
                  <a:pt x="200416" y="49517"/>
                  <a:pt x="197442" y="56759"/>
                  <a:pt x="192118" y="62043"/>
                </a:cubicBezTo>
                <a:cubicBezTo>
                  <a:pt x="190748" y="63413"/>
                  <a:pt x="184915" y="69245"/>
                  <a:pt x="174542" y="79619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6" name="Text 24"/>
          <p:cNvSpPr/>
          <p:nvPr/>
        </p:nvSpPr>
        <p:spPr>
          <a:xfrm>
            <a:off x="6862350" y="1369516"/>
            <a:ext cx="960329" cy="2338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 HONGYU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62350" y="1603336"/>
            <a:ext cx="935277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11204" y="1956584"/>
            <a:ext cx="5411244" cy="534444"/>
          </a:xfrm>
          <a:custGeom>
            <a:avLst/>
            <a:gdLst/>
            <a:ahLst/>
            <a:cxnLst/>
            <a:rect l="l" t="t" r="r" b="b"/>
            <a:pathLst>
              <a:path w="5411244" h="534444">
                <a:moveTo>
                  <a:pt x="33403" y="0"/>
                </a:moveTo>
                <a:lnTo>
                  <a:pt x="5344438" y="0"/>
                </a:lnTo>
                <a:cubicBezTo>
                  <a:pt x="5381334" y="0"/>
                  <a:pt x="5411244" y="29910"/>
                  <a:pt x="5411244" y="66805"/>
                </a:cubicBezTo>
                <a:lnTo>
                  <a:pt x="5411244" y="467638"/>
                </a:lnTo>
                <a:cubicBezTo>
                  <a:pt x="5411244" y="504534"/>
                  <a:pt x="5381334" y="534444"/>
                  <a:pt x="5344438" y="534444"/>
                </a:cubicBez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311204" y="1956584"/>
            <a:ext cx="33403" cy="534444"/>
          </a:xfrm>
          <a:custGeom>
            <a:avLst/>
            <a:gdLst/>
            <a:ahLst/>
            <a:cxnLst/>
            <a:rect l="l" t="t" r="r" b="b"/>
            <a:pathLst>
              <a:path w="33403" h="534444">
                <a:moveTo>
                  <a:pt x="33403" y="0"/>
                </a:moveTo>
                <a:lnTo>
                  <a:pt x="33403" y="0"/>
                </a:lnTo>
                <a:lnTo>
                  <a:pt x="33403" y="534444"/>
                </a:ln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0" name="Text 28"/>
          <p:cNvSpPr/>
          <p:nvPr/>
        </p:nvSpPr>
        <p:spPr>
          <a:xfrm>
            <a:off x="6394711" y="2023390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Career Goal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94711" y="2223806"/>
            <a:ext cx="5327737" cy="200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Become a project manager in a tech company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11204" y="2663090"/>
            <a:ext cx="5411244" cy="718159"/>
          </a:xfrm>
          <a:custGeom>
            <a:avLst/>
            <a:gdLst/>
            <a:ahLst/>
            <a:cxnLst/>
            <a:rect l="l" t="t" r="r" b="b"/>
            <a:pathLst>
              <a:path w="5411244" h="718159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651356"/>
                </a:lnTo>
                <a:cubicBezTo>
                  <a:pt x="5411244" y="688250"/>
                  <a:pt x="5381335" y="718159"/>
                  <a:pt x="5344441" y="718159"/>
                </a:cubicBezTo>
                <a:lnTo>
                  <a:pt x="33403" y="718159"/>
                </a:lnTo>
                <a:cubicBezTo>
                  <a:pt x="14955" y="718159"/>
                  <a:pt x="0" y="703204"/>
                  <a:pt x="0" y="684756"/>
                </a:cubicBezTo>
                <a:lnTo>
                  <a:pt x="0" y="33403"/>
                </a:lnTo>
                <a:cubicBezTo>
                  <a:pt x="0" y="14967"/>
                  <a:pt x="14967" y="0"/>
                  <a:pt x="33403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6311204" y="2663090"/>
            <a:ext cx="33403" cy="718159"/>
          </a:xfrm>
          <a:custGeom>
            <a:avLst/>
            <a:gdLst/>
            <a:ahLst/>
            <a:cxnLst/>
            <a:rect l="l" t="t" r="r" b="b"/>
            <a:pathLst>
              <a:path w="33403" h="718159">
                <a:moveTo>
                  <a:pt x="33403" y="0"/>
                </a:moveTo>
                <a:lnTo>
                  <a:pt x="33403" y="0"/>
                </a:lnTo>
                <a:lnTo>
                  <a:pt x="33403" y="718159"/>
                </a:lnTo>
                <a:lnTo>
                  <a:pt x="33403" y="718159"/>
                </a:lnTo>
                <a:cubicBezTo>
                  <a:pt x="14955" y="718159"/>
                  <a:pt x="0" y="703204"/>
                  <a:pt x="0" y="684756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4" name="Text 32"/>
          <p:cNvSpPr/>
          <p:nvPr/>
        </p:nvSpPr>
        <p:spPr>
          <a:xfrm>
            <a:off x="6394711" y="2729895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94711" y="2930312"/>
            <a:ext cx="5319386" cy="38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Gained insights into managing team conflicts and transitioning from ideas to products via </a:t>
            </a:r>
            <a:r>
              <a:rPr lang="en-US" sz="92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structured processes</a:t>
            </a:r>
            <a:r>
              <a:rPr lang="en-US" sz="92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11204" y="3549127"/>
            <a:ext cx="5411244" cy="526093"/>
          </a:xfrm>
          <a:custGeom>
            <a:avLst/>
            <a:gdLst/>
            <a:ahLst/>
            <a:cxnLst/>
            <a:rect l="l" t="t" r="r" b="b"/>
            <a:pathLst>
              <a:path w="5411244" h="526093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459290"/>
                </a:lnTo>
                <a:cubicBezTo>
                  <a:pt x="5411244" y="496184"/>
                  <a:pt x="5381335" y="526093"/>
                  <a:pt x="5344441" y="526093"/>
                </a:cubicBez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311204" y="3549127"/>
            <a:ext cx="33403" cy="526093"/>
          </a:xfrm>
          <a:custGeom>
            <a:avLst/>
            <a:gdLst/>
            <a:ahLst/>
            <a:cxnLst/>
            <a:rect l="l" t="t" r="r" b="b"/>
            <a:pathLst>
              <a:path w="33403" h="526093">
                <a:moveTo>
                  <a:pt x="33403" y="0"/>
                </a:moveTo>
                <a:lnTo>
                  <a:pt x="33403" y="0"/>
                </a:lnTo>
                <a:lnTo>
                  <a:pt x="33403" y="526093"/>
                </a:ln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8" name="Text 36"/>
          <p:cNvSpPr/>
          <p:nvPr/>
        </p:nvSpPr>
        <p:spPr>
          <a:xfrm>
            <a:off x="6394711" y="3615932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94711" y="3816349"/>
            <a:ext cx="5319386" cy="1920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Participate in more hackathons to practice teamwork and leadership.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34027" y="4201962"/>
            <a:ext cx="5695167" cy="2578709"/>
          </a:xfrm>
          <a:custGeom>
            <a:avLst/>
            <a:gdLst/>
            <a:ahLst/>
            <a:cxnLst/>
            <a:rect l="l" t="t" r="r" b="b"/>
            <a:pathLst>
              <a:path w="5695167" h="2578709">
                <a:moveTo>
                  <a:pt x="33403" y="0"/>
                </a:moveTo>
                <a:lnTo>
                  <a:pt x="5661764" y="0"/>
                </a:lnTo>
                <a:cubicBezTo>
                  <a:pt x="5680212" y="0"/>
                  <a:pt x="5695167" y="12549"/>
                  <a:pt x="5695167" y="28029"/>
                </a:cubicBezTo>
                <a:lnTo>
                  <a:pt x="5695167" y="2522648"/>
                </a:lnTo>
                <a:cubicBezTo>
                  <a:pt x="5695167" y="2553609"/>
                  <a:pt x="5665256" y="2578709"/>
                  <a:pt x="5628359" y="2578709"/>
                </a:cubicBezTo>
                <a:lnTo>
                  <a:pt x="66808" y="2578709"/>
                </a:lnTo>
                <a:cubicBezTo>
                  <a:pt x="29911" y="2578709"/>
                  <a:pt x="0" y="2553609"/>
                  <a:pt x="0" y="2522648"/>
                </a:cubicBezTo>
                <a:lnTo>
                  <a:pt x="0" y="28029"/>
                </a:lnTo>
                <a:cubicBezTo>
                  <a:pt x="0" y="12560"/>
                  <a:pt x="14967" y="0"/>
                  <a:pt x="3340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5260" dist="835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4027" y="4168559"/>
            <a:ext cx="5695167" cy="33403"/>
          </a:xfrm>
          <a:custGeom>
            <a:avLst/>
            <a:gdLst/>
            <a:ahLst/>
            <a:cxnLst/>
            <a:rect l="l" t="t" r="r" b="b"/>
            <a:pathLst>
              <a:path w="5695167" h="33403">
                <a:moveTo>
                  <a:pt x="33403" y="0"/>
                </a:moveTo>
                <a:lnTo>
                  <a:pt x="5661764" y="0"/>
                </a:lnTo>
                <a:cubicBezTo>
                  <a:pt x="5680212" y="0"/>
                  <a:pt x="5695167" y="14955"/>
                  <a:pt x="5695167" y="33403"/>
                </a:cubicBezTo>
                <a:lnTo>
                  <a:pt x="5695167" y="33403"/>
                </a:lnTo>
                <a:lnTo>
                  <a:pt x="0" y="33403"/>
                </a:ln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42" name="Shape 40"/>
          <p:cNvSpPr/>
          <p:nvPr/>
        </p:nvSpPr>
        <p:spPr>
          <a:xfrm>
            <a:off x="467638" y="4344271"/>
            <a:ext cx="467638" cy="467638"/>
          </a:xfrm>
          <a:custGeom>
            <a:avLst/>
            <a:gdLst/>
            <a:ahLst/>
            <a:cxnLst/>
            <a:rect l="l" t="t" r="r" b="b"/>
            <a:pathLst>
              <a:path w="467638" h="467638">
                <a:moveTo>
                  <a:pt x="233819" y="0"/>
                </a:moveTo>
                <a:lnTo>
                  <a:pt x="233819" y="0"/>
                </a:lnTo>
                <a:cubicBezTo>
                  <a:pt x="362867" y="0"/>
                  <a:pt x="467638" y="104771"/>
                  <a:pt x="467638" y="233819"/>
                </a:cubicBezTo>
                <a:lnTo>
                  <a:pt x="467638" y="233819"/>
                </a:lnTo>
                <a:cubicBezTo>
                  <a:pt x="467638" y="362867"/>
                  <a:pt x="362867" y="467638"/>
                  <a:pt x="233819" y="467638"/>
                </a:cubicBezTo>
                <a:lnTo>
                  <a:pt x="233819" y="467638"/>
                </a:lnTo>
                <a:cubicBezTo>
                  <a:pt x="104771" y="467638"/>
                  <a:pt x="0" y="362867"/>
                  <a:pt x="0" y="233819"/>
                </a:cubicBezTo>
                <a:lnTo>
                  <a:pt x="0" y="233819"/>
                </a:lnTo>
                <a:cubicBezTo>
                  <a:pt x="0" y="104771"/>
                  <a:pt x="104771" y="0"/>
                  <a:pt x="233819" y="0"/>
                </a:cubicBezTo>
                <a:close/>
              </a:path>
            </a:pathLst>
          </a:custGeom>
          <a:solidFill>
            <a:srgbClr val="6A8A94">
              <a:alpha val="2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01249" y="4477882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62838" y="81419"/>
                </a:moveTo>
                <a:cubicBezTo>
                  <a:pt x="162838" y="99386"/>
                  <a:pt x="157006" y="115983"/>
                  <a:pt x="147181" y="129449"/>
                </a:cubicBezTo>
                <a:lnTo>
                  <a:pt x="196737" y="179044"/>
                </a:lnTo>
                <a:cubicBezTo>
                  <a:pt x="201630" y="183937"/>
                  <a:pt x="201630" y="191883"/>
                  <a:pt x="196737" y="196776"/>
                </a:cubicBezTo>
                <a:cubicBezTo>
                  <a:pt x="191844" y="201669"/>
                  <a:pt x="183898" y="201669"/>
                  <a:pt x="179005" y="196776"/>
                </a:cubicBezTo>
                <a:lnTo>
                  <a:pt x="129449" y="147181"/>
                </a:lnTo>
                <a:cubicBezTo>
                  <a:pt x="115983" y="157006"/>
                  <a:pt x="99386" y="162838"/>
                  <a:pt x="81419" y="162838"/>
                </a:cubicBezTo>
                <a:cubicBezTo>
                  <a:pt x="36443" y="162838"/>
                  <a:pt x="0" y="126395"/>
                  <a:pt x="0" y="81419"/>
                </a:cubicBezTo>
                <a:cubicBezTo>
                  <a:pt x="0" y="36443"/>
                  <a:pt x="36443" y="0"/>
                  <a:pt x="81419" y="0"/>
                </a:cubicBezTo>
                <a:cubicBezTo>
                  <a:pt x="126395" y="0"/>
                  <a:pt x="162838" y="36443"/>
                  <a:pt x="162838" y="81419"/>
                </a:cubicBezTo>
                <a:close/>
                <a:moveTo>
                  <a:pt x="81419" y="137786"/>
                </a:moveTo>
                <a:cubicBezTo>
                  <a:pt x="112529" y="137786"/>
                  <a:pt x="137786" y="112529"/>
                  <a:pt x="137786" y="81419"/>
                </a:cubicBezTo>
                <a:cubicBezTo>
                  <a:pt x="137786" y="50309"/>
                  <a:pt x="112529" y="25052"/>
                  <a:pt x="81419" y="25052"/>
                </a:cubicBezTo>
                <a:cubicBezTo>
                  <a:pt x="50309" y="25052"/>
                  <a:pt x="25052" y="50309"/>
                  <a:pt x="25052" y="81419"/>
                </a:cubicBezTo>
                <a:cubicBezTo>
                  <a:pt x="25052" y="112529"/>
                  <a:pt x="50309" y="137786"/>
                  <a:pt x="81419" y="137786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44" name="Text 42"/>
          <p:cNvSpPr/>
          <p:nvPr/>
        </p:nvSpPr>
        <p:spPr>
          <a:xfrm>
            <a:off x="1031310" y="4326352"/>
            <a:ext cx="860121" cy="2338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LI WENBO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43836" y="4578090"/>
            <a:ext cx="835068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Researcher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75989" y="4913420"/>
            <a:ext cx="5411244" cy="534444"/>
          </a:xfrm>
          <a:custGeom>
            <a:avLst/>
            <a:gdLst/>
            <a:ahLst/>
            <a:cxnLst/>
            <a:rect l="l" t="t" r="r" b="b"/>
            <a:pathLst>
              <a:path w="5411244" h="534444">
                <a:moveTo>
                  <a:pt x="33403" y="0"/>
                </a:moveTo>
                <a:lnTo>
                  <a:pt x="5344438" y="0"/>
                </a:lnTo>
                <a:cubicBezTo>
                  <a:pt x="5381334" y="0"/>
                  <a:pt x="5411244" y="29910"/>
                  <a:pt x="5411244" y="66805"/>
                </a:cubicBezTo>
                <a:lnTo>
                  <a:pt x="5411244" y="467638"/>
                </a:lnTo>
                <a:cubicBezTo>
                  <a:pt x="5411244" y="504534"/>
                  <a:pt x="5381334" y="534444"/>
                  <a:pt x="5344438" y="534444"/>
                </a:cubicBez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6A8A94">
              <a:alpha val="10196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467638" y="4913420"/>
            <a:ext cx="33403" cy="534444"/>
          </a:xfrm>
          <a:custGeom>
            <a:avLst/>
            <a:gdLst/>
            <a:ahLst/>
            <a:cxnLst/>
            <a:rect l="l" t="t" r="r" b="b"/>
            <a:pathLst>
              <a:path w="33403" h="534444">
                <a:moveTo>
                  <a:pt x="33403" y="0"/>
                </a:moveTo>
                <a:lnTo>
                  <a:pt x="33403" y="0"/>
                </a:lnTo>
                <a:lnTo>
                  <a:pt x="33403" y="534444"/>
                </a:ln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48" name="Text 46"/>
          <p:cNvSpPr/>
          <p:nvPr/>
        </p:nvSpPr>
        <p:spPr>
          <a:xfrm>
            <a:off x="534618" y="4924728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Career Goal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17742" y="5133147"/>
            <a:ext cx="5327737" cy="200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Become a software developer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84340" y="5556947"/>
            <a:ext cx="5411244" cy="718159"/>
          </a:xfrm>
          <a:custGeom>
            <a:avLst/>
            <a:gdLst/>
            <a:ahLst/>
            <a:cxnLst/>
            <a:rect l="l" t="t" r="r" b="b"/>
            <a:pathLst>
              <a:path w="5411244" h="718159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651356"/>
                </a:lnTo>
                <a:cubicBezTo>
                  <a:pt x="5411244" y="688250"/>
                  <a:pt x="5381335" y="718159"/>
                  <a:pt x="5344441" y="718159"/>
                </a:cubicBezTo>
                <a:lnTo>
                  <a:pt x="33403" y="718159"/>
                </a:lnTo>
                <a:cubicBezTo>
                  <a:pt x="14955" y="718159"/>
                  <a:pt x="0" y="703204"/>
                  <a:pt x="0" y="684756"/>
                </a:cubicBezTo>
                <a:lnTo>
                  <a:pt x="0" y="33403"/>
                </a:lnTo>
                <a:cubicBezTo>
                  <a:pt x="0" y="14967"/>
                  <a:pt x="14967" y="0"/>
                  <a:pt x="33403" y="0"/>
                </a:cubicBezTo>
                <a:close/>
              </a:path>
            </a:pathLst>
          </a:custGeom>
          <a:solidFill>
            <a:srgbClr val="6A8A94">
              <a:alpha val="1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467638" y="5556947"/>
            <a:ext cx="33403" cy="718159"/>
          </a:xfrm>
          <a:custGeom>
            <a:avLst/>
            <a:gdLst/>
            <a:ahLst/>
            <a:cxnLst/>
            <a:rect l="l" t="t" r="r" b="b"/>
            <a:pathLst>
              <a:path w="33403" h="718159">
                <a:moveTo>
                  <a:pt x="33403" y="0"/>
                </a:moveTo>
                <a:lnTo>
                  <a:pt x="33403" y="0"/>
                </a:lnTo>
                <a:lnTo>
                  <a:pt x="33403" y="718159"/>
                </a:lnTo>
                <a:lnTo>
                  <a:pt x="33403" y="718159"/>
                </a:lnTo>
                <a:cubicBezTo>
                  <a:pt x="14955" y="718159"/>
                  <a:pt x="0" y="703204"/>
                  <a:pt x="0" y="684756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52" name="Text 50"/>
          <p:cNvSpPr/>
          <p:nvPr/>
        </p:nvSpPr>
        <p:spPr>
          <a:xfrm>
            <a:off x="521918" y="5571474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21918" y="5801988"/>
            <a:ext cx="5507277" cy="38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92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Recognized that coding is only one part of development; the </a:t>
            </a:r>
            <a:r>
              <a:rPr lang="en-US" sz="920" b="1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testing phase</a:t>
            </a:r>
            <a:r>
              <a:rPr lang="en-US" sz="92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is crucial for bug detection and mprovement.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75989" y="6307291"/>
            <a:ext cx="5411244" cy="526093"/>
          </a:xfrm>
          <a:custGeom>
            <a:avLst/>
            <a:gdLst/>
            <a:ahLst/>
            <a:cxnLst/>
            <a:rect l="l" t="t" r="r" b="b"/>
            <a:pathLst>
              <a:path w="5411244" h="526093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459290"/>
                </a:lnTo>
                <a:cubicBezTo>
                  <a:pt x="5411244" y="496184"/>
                  <a:pt x="5381335" y="526093"/>
                  <a:pt x="5344441" y="526093"/>
                </a:cubicBez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6A8A94">
              <a:alpha val="10196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467638" y="6307291"/>
            <a:ext cx="33403" cy="473379"/>
          </a:xfrm>
          <a:custGeom>
            <a:avLst/>
            <a:gdLst/>
            <a:ahLst/>
            <a:cxnLst/>
            <a:rect l="l" t="t" r="r" b="b"/>
            <a:pathLst>
              <a:path w="33403" h="473379">
                <a:moveTo>
                  <a:pt x="33403" y="0"/>
                </a:moveTo>
                <a:lnTo>
                  <a:pt x="33403" y="0"/>
                </a:lnTo>
                <a:lnTo>
                  <a:pt x="33403" y="473379"/>
                </a:lnTo>
                <a:lnTo>
                  <a:pt x="33403" y="473379"/>
                </a:lnTo>
                <a:cubicBezTo>
                  <a:pt x="14955" y="473379"/>
                  <a:pt x="0" y="459923"/>
                  <a:pt x="0" y="443324"/>
                </a:cubicBezTo>
                <a:lnTo>
                  <a:pt x="0" y="30056"/>
                </a:lnTo>
                <a:cubicBezTo>
                  <a:pt x="0" y="13456"/>
                  <a:pt x="14955" y="0"/>
                  <a:pt x="33403" y="0"/>
                </a:cubicBezTo>
                <a:close/>
              </a:path>
            </a:pathLst>
          </a:custGeom>
          <a:solidFill>
            <a:srgbClr val="6A8A94"/>
          </a:solidFill>
        </p:spPr>
      </p:sp>
      <p:sp>
        <p:nvSpPr>
          <p:cNvPr id="56" name="Text 54"/>
          <p:cNvSpPr/>
          <p:nvPr/>
        </p:nvSpPr>
        <p:spPr>
          <a:xfrm>
            <a:off x="521918" y="6312684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6A8A94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21918" y="6525105"/>
            <a:ext cx="5319386" cy="1920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Study additional programming languages (e.g., C++, Java) to build better prototypes.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96208" y="4142443"/>
            <a:ext cx="5695167" cy="2690941"/>
          </a:xfrm>
          <a:custGeom>
            <a:avLst/>
            <a:gdLst/>
            <a:ahLst/>
            <a:cxnLst/>
            <a:rect l="l" t="t" r="r" b="b"/>
            <a:pathLst>
              <a:path w="5695167" h="2690941">
                <a:moveTo>
                  <a:pt x="66800" y="0"/>
                </a:moveTo>
                <a:lnTo>
                  <a:pt x="5628367" y="0"/>
                </a:lnTo>
                <a:cubicBezTo>
                  <a:pt x="5665260" y="0"/>
                  <a:pt x="5695167" y="26047"/>
                  <a:pt x="5695167" y="58178"/>
                </a:cubicBezTo>
                <a:lnTo>
                  <a:pt x="5695167" y="2632763"/>
                </a:lnTo>
                <a:cubicBezTo>
                  <a:pt x="5695167" y="2664894"/>
                  <a:pt x="5665260" y="2690941"/>
                  <a:pt x="5628367" y="2690941"/>
                </a:cubicBezTo>
                <a:lnTo>
                  <a:pt x="66800" y="2690941"/>
                </a:lnTo>
                <a:cubicBezTo>
                  <a:pt x="29908" y="2690941"/>
                  <a:pt x="0" y="2664894"/>
                  <a:pt x="0" y="2632763"/>
                </a:cubicBezTo>
                <a:lnTo>
                  <a:pt x="0" y="58178"/>
                </a:lnTo>
                <a:cubicBezTo>
                  <a:pt x="0" y="26069"/>
                  <a:pt x="29932" y="0"/>
                  <a:pt x="66800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25260" dist="835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94503" y="4344271"/>
            <a:ext cx="467638" cy="467638"/>
          </a:xfrm>
          <a:custGeom>
            <a:avLst/>
            <a:gdLst/>
            <a:ahLst/>
            <a:cxnLst/>
            <a:rect l="l" t="t" r="r" b="b"/>
            <a:pathLst>
              <a:path w="467638" h="467638">
                <a:moveTo>
                  <a:pt x="233819" y="0"/>
                </a:moveTo>
                <a:lnTo>
                  <a:pt x="233819" y="0"/>
                </a:lnTo>
                <a:cubicBezTo>
                  <a:pt x="362867" y="0"/>
                  <a:pt x="467638" y="104771"/>
                  <a:pt x="467638" y="233819"/>
                </a:cubicBezTo>
                <a:lnTo>
                  <a:pt x="467638" y="233819"/>
                </a:lnTo>
                <a:cubicBezTo>
                  <a:pt x="467638" y="362867"/>
                  <a:pt x="362867" y="467638"/>
                  <a:pt x="233819" y="467638"/>
                </a:cubicBezTo>
                <a:lnTo>
                  <a:pt x="233819" y="467638"/>
                </a:lnTo>
                <a:cubicBezTo>
                  <a:pt x="104771" y="467638"/>
                  <a:pt x="0" y="362867"/>
                  <a:pt x="0" y="233819"/>
                </a:cubicBezTo>
                <a:lnTo>
                  <a:pt x="0" y="233819"/>
                </a:lnTo>
                <a:cubicBezTo>
                  <a:pt x="0" y="104771"/>
                  <a:pt x="104771" y="0"/>
                  <a:pt x="233819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60" name="Shape 58"/>
          <p:cNvSpPr/>
          <p:nvPr/>
        </p:nvSpPr>
        <p:spPr>
          <a:xfrm>
            <a:off x="6428114" y="4471271"/>
            <a:ext cx="200416" cy="200416"/>
          </a:xfrm>
          <a:custGeom>
            <a:avLst/>
            <a:gdLst/>
            <a:ahLst/>
            <a:cxnLst/>
            <a:rect l="l" t="t" r="r" b="b"/>
            <a:pathLst>
              <a:path w="200416" h="200416">
                <a:moveTo>
                  <a:pt x="12526" y="12526"/>
                </a:moveTo>
                <a:cubicBezTo>
                  <a:pt x="19454" y="12526"/>
                  <a:pt x="25052" y="18124"/>
                  <a:pt x="25052" y="25052"/>
                </a:cubicBezTo>
                <a:lnTo>
                  <a:pt x="25052" y="156575"/>
                </a:lnTo>
                <a:cubicBezTo>
                  <a:pt x="25052" y="160020"/>
                  <a:pt x="27870" y="162838"/>
                  <a:pt x="31315" y="162838"/>
                </a:cubicBezTo>
                <a:lnTo>
                  <a:pt x="187890" y="162838"/>
                </a:lnTo>
                <a:cubicBezTo>
                  <a:pt x="194819" y="162838"/>
                  <a:pt x="200416" y="168436"/>
                  <a:pt x="200416" y="175364"/>
                </a:cubicBezTo>
                <a:cubicBezTo>
                  <a:pt x="200416" y="182293"/>
                  <a:pt x="194819" y="187890"/>
                  <a:pt x="187890" y="187890"/>
                </a:cubicBezTo>
                <a:lnTo>
                  <a:pt x="31315" y="187890"/>
                </a:lnTo>
                <a:cubicBezTo>
                  <a:pt x="14013" y="187890"/>
                  <a:pt x="0" y="173877"/>
                  <a:pt x="0" y="156575"/>
                </a:cubicBezTo>
                <a:lnTo>
                  <a:pt x="0" y="25052"/>
                </a:lnTo>
                <a:cubicBezTo>
                  <a:pt x="0" y="18124"/>
                  <a:pt x="5598" y="12526"/>
                  <a:pt x="12526" y="12526"/>
                </a:cubicBezTo>
                <a:close/>
                <a:moveTo>
                  <a:pt x="50104" y="37578"/>
                </a:moveTo>
                <a:cubicBezTo>
                  <a:pt x="50104" y="30650"/>
                  <a:pt x="55702" y="25052"/>
                  <a:pt x="62630" y="25052"/>
                </a:cubicBezTo>
                <a:lnTo>
                  <a:pt x="137786" y="25052"/>
                </a:lnTo>
                <a:cubicBezTo>
                  <a:pt x="144715" y="25052"/>
                  <a:pt x="150312" y="30650"/>
                  <a:pt x="150312" y="37578"/>
                </a:cubicBezTo>
                <a:cubicBezTo>
                  <a:pt x="150312" y="44507"/>
                  <a:pt x="144715" y="50104"/>
                  <a:pt x="137786" y="50104"/>
                </a:cubicBezTo>
                <a:lnTo>
                  <a:pt x="62630" y="50104"/>
                </a:lnTo>
                <a:cubicBezTo>
                  <a:pt x="55702" y="50104"/>
                  <a:pt x="50104" y="44507"/>
                  <a:pt x="50104" y="37578"/>
                </a:cubicBezTo>
                <a:close/>
                <a:moveTo>
                  <a:pt x="62630" y="68893"/>
                </a:moveTo>
                <a:lnTo>
                  <a:pt x="112734" y="68893"/>
                </a:lnTo>
                <a:cubicBezTo>
                  <a:pt x="119663" y="68893"/>
                  <a:pt x="125260" y="74491"/>
                  <a:pt x="125260" y="81419"/>
                </a:cubicBezTo>
                <a:cubicBezTo>
                  <a:pt x="125260" y="88348"/>
                  <a:pt x="119663" y="93945"/>
                  <a:pt x="112734" y="93945"/>
                </a:cubicBezTo>
                <a:lnTo>
                  <a:pt x="62630" y="93945"/>
                </a:lnTo>
                <a:cubicBezTo>
                  <a:pt x="55702" y="93945"/>
                  <a:pt x="50104" y="88348"/>
                  <a:pt x="50104" y="81419"/>
                </a:cubicBezTo>
                <a:cubicBezTo>
                  <a:pt x="50104" y="74491"/>
                  <a:pt x="55702" y="68893"/>
                  <a:pt x="62630" y="68893"/>
                </a:cubicBezTo>
                <a:close/>
                <a:moveTo>
                  <a:pt x="62630" y="112734"/>
                </a:moveTo>
                <a:lnTo>
                  <a:pt x="162838" y="112734"/>
                </a:lnTo>
                <a:cubicBezTo>
                  <a:pt x="169767" y="112734"/>
                  <a:pt x="175364" y="118332"/>
                  <a:pt x="175364" y="125260"/>
                </a:cubicBezTo>
                <a:cubicBezTo>
                  <a:pt x="175364" y="132189"/>
                  <a:pt x="169767" y="137786"/>
                  <a:pt x="162838" y="137786"/>
                </a:cubicBezTo>
                <a:lnTo>
                  <a:pt x="62630" y="137786"/>
                </a:lnTo>
                <a:cubicBezTo>
                  <a:pt x="55702" y="137786"/>
                  <a:pt x="50104" y="132189"/>
                  <a:pt x="50104" y="125260"/>
                </a:cubicBezTo>
                <a:cubicBezTo>
                  <a:pt x="50104" y="118332"/>
                  <a:pt x="55702" y="112734"/>
                  <a:pt x="62630" y="112734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61" name="Text 59"/>
          <p:cNvSpPr/>
          <p:nvPr/>
        </p:nvSpPr>
        <p:spPr>
          <a:xfrm>
            <a:off x="6862350" y="4344271"/>
            <a:ext cx="1878904" cy="2338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Mohamed Brahim Khairy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62350" y="4644896"/>
            <a:ext cx="1853852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Editor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38170" y="4956872"/>
            <a:ext cx="5411244" cy="534444"/>
          </a:xfrm>
          <a:custGeom>
            <a:avLst/>
            <a:gdLst/>
            <a:ahLst/>
            <a:cxnLst/>
            <a:rect l="l" t="t" r="r" b="b"/>
            <a:pathLst>
              <a:path w="5411244" h="534444">
                <a:moveTo>
                  <a:pt x="33403" y="0"/>
                </a:moveTo>
                <a:lnTo>
                  <a:pt x="5344438" y="0"/>
                </a:lnTo>
                <a:cubicBezTo>
                  <a:pt x="5381334" y="0"/>
                  <a:pt x="5411244" y="29910"/>
                  <a:pt x="5411244" y="66805"/>
                </a:cubicBezTo>
                <a:lnTo>
                  <a:pt x="5411244" y="467638"/>
                </a:lnTo>
                <a:cubicBezTo>
                  <a:pt x="5411244" y="504534"/>
                  <a:pt x="5381334" y="534444"/>
                  <a:pt x="5344438" y="534444"/>
                </a:cubicBez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6294503" y="4956872"/>
            <a:ext cx="33403" cy="534444"/>
          </a:xfrm>
          <a:custGeom>
            <a:avLst/>
            <a:gdLst/>
            <a:ahLst/>
            <a:cxnLst/>
            <a:rect l="l" t="t" r="r" b="b"/>
            <a:pathLst>
              <a:path w="33403" h="534444">
                <a:moveTo>
                  <a:pt x="33403" y="0"/>
                </a:moveTo>
                <a:lnTo>
                  <a:pt x="33403" y="0"/>
                </a:lnTo>
                <a:lnTo>
                  <a:pt x="33403" y="534444"/>
                </a:lnTo>
                <a:lnTo>
                  <a:pt x="33403" y="534444"/>
                </a:lnTo>
                <a:cubicBezTo>
                  <a:pt x="14955" y="534444"/>
                  <a:pt x="0" y="519489"/>
                  <a:pt x="0" y="501041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65" name="Text 63"/>
          <p:cNvSpPr/>
          <p:nvPr/>
        </p:nvSpPr>
        <p:spPr>
          <a:xfrm>
            <a:off x="6384099" y="4976920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Career Goal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79923" y="5180642"/>
            <a:ext cx="5327737" cy="200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Work in data science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38170" y="5556947"/>
            <a:ext cx="5411244" cy="629172"/>
          </a:xfrm>
          <a:custGeom>
            <a:avLst/>
            <a:gdLst/>
            <a:ahLst/>
            <a:cxnLst/>
            <a:rect l="l" t="t" r="r" b="b"/>
            <a:pathLst>
              <a:path w="5411244" h="629172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6203"/>
                  <a:pt x="5411244" y="58526"/>
                </a:cubicBezTo>
                <a:lnTo>
                  <a:pt x="5411244" y="570646"/>
                </a:lnTo>
                <a:cubicBezTo>
                  <a:pt x="5411244" y="602969"/>
                  <a:pt x="5381335" y="629172"/>
                  <a:pt x="5344441" y="629172"/>
                </a:cubicBezTo>
                <a:lnTo>
                  <a:pt x="33403" y="629172"/>
                </a:lnTo>
                <a:cubicBezTo>
                  <a:pt x="14955" y="629172"/>
                  <a:pt x="0" y="616070"/>
                  <a:pt x="0" y="599908"/>
                </a:cubicBezTo>
                <a:lnTo>
                  <a:pt x="0" y="29264"/>
                </a:lnTo>
                <a:cubicBezTo>
                  <a:pt x="0" y="13113"/>
                  <a:pt x="14967" y="0"/>
                  <a:pt x="3340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68" name="Shape 66"/>
          <p:cNvSpPr/>
          <p:nvPr/>
        </p:nvSpPr>
        <p:spPr>
          <a:xfrm>
            <a:off x="6294503" y="5556947"/>
            <a:ext cx="33403" cy="629172"/>
          </a:xfrm>
          <a:custGeom>
            <a:avLst/>
            <a:gdLst/>
            <a:ahLst/>
            <a:cxnLst/>
            <a:rect l="l" t="t" r="r" b="b"/>
            <a:pathLst>
              <a:path w="33403" h="629172">
                <a:moveTo>
                  <a:pt x="33403" y="0"/>
                </a:moveTo>
                <a:lnTo>
                  <a:pt x="33403" y="0"/>
                </a:lnTo>
                <a:lnTo>
                  <a:pt x="33403" y="629172"/>
                </a:lnTo>
                <a:lnTo>
                  <a:pt x="33403" y="629172"/>
                </a:lnTo>
                <a:cubicBezTo>
                  <a:pt x="14955" y="629172"/>
                  <a:pt x="0" y="616070"/>
                  <a:pt x="0" y="599908"/>
                </a:cubicBezTo>
                <a:lnTo>
                  <a:pt x="0" y="29264"/>
                </a:lnTo>
                <a:cubicBezTo>
                  <a:pt x="0" y="13102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69" name="Text 67"/>
          <p:cNvSpPr/>
          <p:nvPr/>
        </p:nvSpPr>
        <p:spPr>
          <a:xfrm>
            <a:off x="6384099" y="5571474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84099" y="5738488"/>
            <a:ext cx="5319386" cy="3841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92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Learned to analyze complex problems by extracting </a:t>
            </a:r>
            <a:r>
              <a:rPr lang="en-US" sz="92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patterns and insights</a:t>
            </a:r>
            <a:r>
              <a:rPr lang="en-US" sz="92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from user behavior and observations.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38170" y="6254577"/>
            <a:ext cx="5411244" cy="526093"/>
          </a:xfrm>
          <a:custGeom>
            <a:avLst/>
            <a:gdLst/>
            <a:ahLst/>
            <a:cxnLst/>
            <a:rect l="l" t="t" r="r" b="b"/>
            <a:pathLst>
              <a:path w="5411244" h="526093">
                <a:moveTo>
                  <a:pt x="33403" y="0"/>
                </a:moveTo>
                <a:lnTo>
                  <a:pt x="5344441" y="0"/>
                </a:lnTo>
                <a:cubicBezTo>
                  <a:pt x="5381335" y="0"/>
                  <a:pt x="5411244" y="29909"/>
                  <a:pt x="5411244" y="66803"/>
                </a:cubicBezTo>
                <a:lnTo>
                  <a:pt x="5411244" y="459290"/>
                </a:lnTo>
                <a:cubicBezTo>
                  <a:pt x="5411244" y="496184"/>
                  <a:pt x="5381335" y="526093"/>
                  <a:pt x="5344441" y="526093"/>
                </a:cubicBez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72" name="Shape 70"/>
          <p:cNvSpPr/>
          <p:nvPr/>
        </p:nvSpPr>
        <p:spPr>
          <a:xfrm>
            <a:off x="6294503" y="6254577"/>
            <a:ext cx="33403" cy="526093"/>
          </a:xfrm>
          <a:custGeom>
            <a:avLst/>
            <a:gdLst/>
            <a:ahLst/>
            <a:cxnLst/>
            <a:rect l="l" t="t" r="r" b="b"/>
            <a:pathLst>
              <a:path w="33403" h="526093">
                <a:moveTo>
                  <a:pt x="33403" y="0"/>
                </a:moveTo>
                <a:lnTo>
                  <a:pt x="33403" y="0"/>
                </a:lnTo>
                <a:lnTo>
                  <a:pt x="33403" y="526093"/>
                </a:lnTo>
                <a:lnTo>
                  <a:pt x="33403" y="526093"/>
                </a:lnTo>
                <a:cubicBezTo>
                  <a:pt x="14955" y="526093"/>
                  <a:pt x="0" y="511138"/>
                  <a:pt x="0" y="492690"/>
                </a:cubicBezTo>
                <a:lnTo>
                  <a:pt x="0" y="33403"/>
                </a:lnTo>
                <a:cubicBezTo>
                  <a:pt x="0" y="14955"/>
                  <a:pt x="14955" y="0"/>
                  <a:pt x="3340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73" name="Text 71"/>
          <p:cNvSpPr/>
          <p:nvPr/>
        </p:nvSpPr>
        <p:spPr>
          <a:xfrm>
            <a:off x="6428114" y="6307291"/>
            <a:ext cx="5319386" cy="167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23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84099" y="6474305"/>
            <a:ext cx="5319386" cy="1920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2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Enhance analytical thinking and learn to present data clearly using tables and charts.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2434" y="332434"/>
            <a:ext cx="1994601" cy="232703"/>
          </a:xfrm>
          <a:custGeom>
            <a:avLst/>
            <a:gdLst/>
            <a:ahLst/>
            <a:cxnLst/>
            <a:rect l="l" t="t" r="r" b="b"/>
            <a:pathLst>
              <a:path w="1994601" h="232703">
                <a:moveTo>
                  <a:pt x="116352" y="0"/>
                </a:moveTo>
                <a:lnTo>
                  <a:pt x="1878249" y="0"/>
                </a:lnTo>
                <a:cubicBezTo>
                  <a:pt x="1942509" y="0"/>
                  <a:pt x="1994601" y="52092"/>
                  <a:pt x="1994601" y="116352"/>
                </a:cubicBezTo>
                <a:lnTo>
                  <a:pt x="1994601" y="116352"/>
                </a:lnTo>
                <a:cubicBezTo>
                  <a:pt x="1994601" y="180611"/>
                  <a:pt x="1942509" y="232703"/>
                  <a:pt x="1878249" y="232703"/>
                </a:cubicBezTo>
                <a:lnTo>
                  <a:pt x="116352" y="232703"/>
                </a:lnTo>
                <a:cubicBezTo>
                  <a:pt x="52135" y="232703"/>
                  <a:pt x="0" y="180568"/>
                  <a:pt x="0" y="116352"/>
                </a:cubicBezTo>
                <a:lnTo>
                  <a:pt x="0" y="116352"/>
                </a:lnTo>
                <a:cubicBezTo>
                  <a:pt x="0" y="52135"/>
                  <a:pt x="52135" y="0"/>
                  <a:pt x="116352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32434" y="332434"/>
            <a:ext cx="2052777" cy="232703"/>
          </a:xfrm>
          <a:prstGeom prst="rect">
            <a:avLst/>
          </a:prstGeom>
          <a:noFill/>
        </p:spPr>
        <p:txBody>
          <a:bodyPr wrap="square" lIns="132973" tIns="33243" rIns="132973" bIns="33243" rtlCol="0" anchor="ctr"/>
          <a:lstStyle/>
          <a:p>
            <a:pPr>
              <a:lnSpc>
                <a:spcPct val="120000"/>
              </a:lnSpc>
            </a:pPr>
            <a:r>
              <a:rPr lang="en-US" sz="91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TEAM ROLES &amp; RESPONSIBILITIES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2434" y="680519"/>
            <a:ext cx="11726593" cy="398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4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Task Distribution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055" y="1163517"/>
            <a:ext cx="11510511" cy="506961"/>
          </a:xfrm>
          <a:custGeom>
            <a:avLst/>
            <a:gdLst/>
            <a:ahLst/>
            <a:cxnLst/>
            <a:rect l="l" t="t" r="r" b="b"/>
            <a:pathLst>
              <a:path w="11510511" h="506961">
                <a:moveTo>
                  <a:pt x="33243" y="0"/>
                </a:moveTo>
                <a:lnTo>
                  <a:pt x="11444023" y="0"/>
                </a:lnTo>
                <a:cubicBezTo>
                  <a:pt x="11480744" y="0"/>
                  <a:pt x="11510511" y="29768"/>
                  <a:pt x="11510511" y="66488"/>
                </a:cubicBezTo>
                <a:lnTo>
                  <a:pt x="11510511" y="440473"/>
                </a:lnTo>
                <a:cubicBezTo>
                  <a:pt x="11510511" y="477193"/>
                  <a:pt x="11480744" y="506961"/>
                  <a:pt x="11444023" y="506961"/>
                </a:cubicBezTo>
                <a:lnTo>
                  <a:pt x="33243" y="506961"/>
                </a:lnTo>
                <a:cubicBezTo>
                  <a:pt x="14884" y="506961"/>
                  <a:pt x="0" y="492078"/>
                  <a:pt x="0" y="473718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00344D">
              <a:alpha val="10196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349055" y="1163517"/>
            <a:ext cx="33243" cy="506961"/>
          </a:xfrm>
          <a:custGeom>
            <a:avLst/>
            <a:gdLst/>
            <a:ahLst/>
            <a:cxnLst/>
            <a:rect l="l" t="t" r="r" b="b"/>
            <a:pathLst>
              <a:path w="33243" h="506961">
                <a:moveTo>
                  <a:pt x="33243" y="0"/>
                </a:moveTo>
                <a:lnTo>
                  <a:pt x="33243" y="0"/>
                </a:lnTo>
                <a:lnTo>
                  <a:pt x="33243" y="506961"/>
                </a:lnTo>
                <a:lnTo>
                  <a:pt x="33243" y="506961"/>
                </a:lnTo>
                <a:cubicBezTo>
                  <a:pt x="14884" y="506961"/>
                  <a:pt x="0" y="492078"/>
                  <a:pt x="0" y="473718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7" name="Shape 5"/>
          <p:cNvSpPr/>
          <p:nvPr/>
        </p:nvSpPr>
        <p:spPr>
          <a:xfrm>
            <a:off x="523583" y="1318307"/>
            <a:ext cx="199460" cy="199460"/>
          </a:xfrm>
          <a:custGeom>
            <a:avLst/>
            <a:gdLst/>
            <a:ahLst/>
            <a:cxnLst/>
            <a:rect l="l" t="t" r="r" b="b"/>
            <a:pathLst>
              <a:path w="199460" h="199460">
                <a:moveTo>
                  <a:pt x="99730" y="199460"/>
                </a:moveTo>
                <a:cubicBezTo>
                  <a:pt x="154773" y="199460"/>
                  <a:pt x="199460" y="154773"/>
                  <a:pt x="199460" y="99730"/>
                </a:cubicBezTo>
                <a:cubicBezTo>
                  <a:pt x="199460" y="44688"/>
                  <a:pt x="154773" y="0"/>
                  <a:pt x="99730" y="0"/>
                </a:cubicBezTo>
                <a:cubicBezTo>
                  <a:pt x="44688" y="0"/>
                  <a:pt x="0" y="44688"/>
                  <a:pt x="0" y="99730"/>
                </a:cubicBezTo>
                <a:cubicBezTo>
                  <a:pt x="0" y="154773"/>
                  <a:pt x="44688" y="199460"/>
                  <a:pt x="99730" y="199460"/>
                </a:cubicBezTo>
                <a:close/>
                <a:moveTo>
                  <a:pt x="87264" y="62331"/>
                </a:moveTo>
                <a:cubicBezTo>
                  <a:pt x="87264" y="55451"/>
                  <a:pt x="92850" y="49865"/>
                  <a:pt x="99730" y="49865"/>
                </a:cubicBezTo>
                <a:cubicBezTo>
                  <a:pt x="106610" y="49865"/>
                  <a:pt x="112196" y="55451"/>
                  <a:pt x="112196" y="62331"/>
                </a:cubicBezTo>
                <a:cubicBezTo>
                  <a:pt x="112196" y="69212"/>
                  <a:pt x="106610" y="74798"/>
                  <a:pt x="99730" y="74798"/>
                </a:cubicBezTo>
                <a:cubicBezTo>
                  <a:pt x="92850" y="74798"/>
                  <a:pt x="87264" y="69212"/>
                  <a:pt x="87264" y="62331"/>
                </a:cubicBezTo>
                <a:close/>
                <a:moveTo>
                  <a:pt x="84147" y="87264"/>
                </a:moveTo>
                <a:lnTo>
                  <a:pt x="102847" y="87264"/>
                </a:lnTo>
                <a:cubicBezTo>
                  <a:pt x="108028" y="87264"/>
                  <a:pt x="112196" y="91432"/>
                  <a:pt x="112196" y="96613"/>
                </a:cubicBezTo>
                <a:lnTo>
                  <a:pt x="112196" y="130896"/>
                </a:lnTo>
                <a:lnTo>
                  <a:pt x="115313" y="130896"/>
                </a:lnTo>
                <a:cubicBezTo>
                  <a:pt x="120494" y="130896"/>
                  <a:pt x="124663" y="135064"/>
                  <a:pt x="124663" y="140245"/>
                </a:cubicBezTo>
                <a:cubicBezTo>
                  <a:pt x="124663" y="145427"/>
                  <a:pt x="120494" y="149595"/>
                  <a:pt x="115313" y="149595"/>
                </a:cubicBezTo>
                <a:lnTo>
                  <a:pt x="84147" y="149595"/>
                </a:lnTo>
                <a:cubicBezTo>
                  <a:pt x="78966" y="149595"/>
                  <a:pt x="74798" y="145427"/>
                  <a:pt x="74798" y="140245"/>
                </a:cubicBezTo>
                <a:cubicBezTo>
                  <a:pt x="74798" y="135064"/>
                  <a:pt x="78966" y="130896"/>
                  <a:pt x="84147" y="130896"/>
                </a:cubicBezTo>
                <a:lnTo>
                  <a:pt x="93497" y="130896"/>
                </a:lnTo>
                <a:lnTo>
                  <a:pt x="93497" y="105963"/>
                </a:lnTo>
                <a:lnTo>
                  <a:pt x="84147" y="105963"/>
                </a:lnTo>
                <a:cubicBezTo>
                  <a:pt x="78966" y="105963"/>
                  <a:pt x="74798" y="101795"/>
                  <a:pt x="74798" y="96613"/>
                </a:cubicBezTo>
                <a:cubicBezTo>
                  <a:pt x="74798" y="91432"/>
                  <a:pt x="78966" y="87264"/>
                  <a:pt x="84147" y="87264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8" name="Text 6"/>
          <p:cNvSpPr/>
          <p:nvPr/>
        </p:nvSpPr>
        <p:spPr>
          <a:xfrm>
            <a:off x="847706" y="1296491"/>
            <a:ext cx="10139223" cy="241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Assignment Strategy:</a:t>
            </a:r>
            <a:r>
              <a:rPr lang="en-US" sz="1180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Tasks were assigned based on individual strengths, skills, and career aspirations, ensuring optimal project execution and team learning.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2434" y="1805530"/>
            <a:ext cx="11527133" cy="4586029"/>
          </a:xfrm>
          <a:custGeom>
            <a:avLst/>
            <a:gdLst/>
            <a:ahLst/>
            <a:cxnLst/>
            <a:rect l="l" t="t" r="r" b="b"/>
            <a:pathLst>
              <a:path w="11527133" h="4586029">
                <a:moveTo>
                  <a:pt x="66464" y="0"/>
                </a:moveTo>
                <a:lnTo>
                  <a:pt x="11460669" y="0"/>
                </a:lnTo>
                <a:cubicBezTo>
                  <a:pt x="11497376" y="0"/>
                  <a:pt x="11527133" y="29218"/>
                  <a:pt x="11527133" y="65259"/>
                </a:cubicBezTo>
                <a:lnTo>
                  <a:pt x="11527133" y="4520770"/>
                </a:lnTo>
                <a:cubicBezTo>
                  <a:pt x="11527133" y="4556812"/>
                  <a:pt x="11497376" y="4586029"/>
                  <a:pt x="11460669" y="4586029"/>
                </a:cubicBezTo>
                <a:lnTo>
                  <a:pt x="66464" y="4586029"/>
                </a:lnTo>
                <a:cubicBezTo>
                  <a:pt x="29757" y="4586029"/>
                  <a:pt x="0" y="4556812"/>
                  <a:pt x="0" y="4520770"/>
                </a:cubicBezTo>
                <a:lnTo>
                  <a:pt x="0" y="65259"/>
                </a:lnTo>
                <a:cubicBezTo>
                  <a:pt x="0" y="29242"/>
                  <a:pt x="29781" y="0"/>
                  <a:pt x="6646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4663" dist="83108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332740" y="1695450"/>
          <a:ext cx="11527155" cy="4826635"/>
        </p:xfrm>
        <a:graphic>
          <a:graphicData uri="http://schemas.openxmlformats.org/drawingml/2006/table">
            <a:tbl>
              <a:tblPr/>
              <a:tblGrid>
                <a:gridCol w="234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5670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8F8F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Team Member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4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8F8F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Primary Role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4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8F8F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Key Responsibilities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4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8F8F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Contributions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4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XU HAOJIE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D55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Team Leader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Project coordination &amp;amp; decision-making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Coordinated team meetings and workflow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Led problem statement formulation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Facilitated conflict resolution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Established project timeline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Managed team communication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Compiled final presentation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LI HONGYU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D55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UI/UX Designer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Prototype design &amp;amp; user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interface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Created wireframes and mockups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Designed user interface components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Developed interactive prototype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Designed all app interfaces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Created user flow diagrams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Conducted usability testing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726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LI WENBO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D55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Researcher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User research &amp;amp; data collection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Conducted user interviews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Documented observation logs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Analyzed pain points and needs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Created user personas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Compiled research findings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Supported prototype testing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79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Mohamed Brahim Khairy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87D55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Content Editor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Documentation &amp;amp; presentation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Documented team processes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Created presentation materials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Managed visual content and charts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Designed slide layouts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Created data visualizations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25282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Edited and proofread content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2973" marR="132973" marT="99730" marB="99730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32434" y="6476221"/>
            <a:ext cx="11510511" cy="398920"/>
          </a:xfrm>
          <a:custGeom>
            <a:avLst/>
            <a:gdLst/>
            <a:ahLst/>
            <a:cxnLst/>
            <a:rect l="l" t="t" r="r" b="b"/>
            <a:pathLst>
              <a:path w="11510511" h="398920">
                <a:moveTo>
                  <a:pt x="33243" y="0"/>
                </a:moveTo>
                <a:lnTo>
                  <a:pt x="11444023" y="0"/>
                </a:lnTo>
                <a:cubicBezTo>
                  <a:pt x="11480744" y="0"/>
                  <a:pt x="11510511" y="29768"/>
                  <a:pt x="11510511" y="66488"/>
                </a:cubicBezTo>
                <a:lnTo>
                  <a:pt x="11510511" y="332432"/>
                </a:lnTo>
                <a:cubicBezTo>
                  <a:pt x="11510511" y="369153"/>
                  <a:pt x="11480744" y="398920"/>
                  <a:pt x="11444023" y="398920"/>
                </a:cubicBezTo>
                <a:lnTo>
                  <a:pt x="33243" y="398920"/>
                </a:lnTo>
                <a:cubicBezTo>
                  <a:pt x="14884" y="398920"/>
                  <a:pt x="0" y="384037"/>
                  <a:pt x="0" y="365677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332434" y="6476221"/>
            <a:ext cx="33243" cy="398920"/>
          </a:xfrm>
          <a:custGeom>
            <a:avLst/>
            <a:gdLst/>
            <a:ahLst/>
            <a:cxnLst/>
            <a:rect l="l" t="t" r="r" b="b"/>
            <a:pathLst>
              <a:path w="33243" h="398920">
                <a:moveTo>
                  <a:pt x="33243" y="0"/>
                </a:moveTo>
                <a:lnTo>
                  <a:pt x="33243" y="0"/>
                </a:lnTo>
                <a:lnTo>
                  <a:pt x="33243" y="398920"/>
                </a:lnTo>
                <a:lnTo>
                  <a:pt x="33243" y="398920"/>
                </a:lnTo>
                <a:cubicBezTo>
                  <a:pt x="14884" y="398920"/>
                  <a:pt x="0" y="384037"/>
                  <a:pt x="0" y="365677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0" name="Shape 10"/>
          <p:cNvSpPr/>
          <p:nvPr/>
        </p:nvSpPr>
        <p:spPr>
          <a:xfrm>
            <a:off x="407699" y="6579873"/>
            <a:ext cx="207771" cy="166217"/>
          </a:xfrm>
          <a:custGeom>
            <a:avLst/>
            <a:gdLst/>
            <a:ahLst/>
            <a:cxnLst/>
            <a:rect l="l" t="t" r="r" b="b"/>
            <a:pathLst>
              <a:path w="207771" h="166217">
                <a:moveTo>
                  <a:pt x="124663" y="10389"/>
                </a:moveTo>
                <a:lnTo>
                  <a:pt x="166217" y="10389"/>
                </a:lnTo>
                <a:cubicBezTo>
                  <a:pt x="171963" y="10389"/>
                  <a:pt x="176605" y="15031"/>
                  <a:pt x="176605" y="20777"/>
                </a:cubicBezTo>
                <a:cubicBezTo>
                  <a:pt x="176605" y="26523"/>
                  <a:pt x="171963" y="31166"/>
                  <a:pt x="166217" y="31166"/>
                </a:cubicBezTo>
                <a:lnTo>
                  <a:pt x="129337" y="31166"/>
                </a:lnTo>
                <a:cubicBezTo>
                  <a:pt x="127649" y="39541"/>
                  <a:pt x="121903" y="46456"/>
                  <a:pt x="114274" y="49768"/>
                </a:cubicBezTo>
                <a:lnTo>
                  <a:pt x="114274" y="145440"/>
                </a:lnTo>
                <a:lnTo>
                  <a:pt x="166217" y="145440"/>
                </a:lnTo>
                <a:cubicBezTo>
                  <a:pt x="171963" y="145440"/>
                  <a:pt x="176605" y="150082"/>
                  <a:pt x="176605" y="155828"/>
                </a:cubicBezTo>
                <a:cubicBezTo>
                  <a:pt x="176605" y="161574"/>
                  <a:pt x="171963" y="166217"/>
                  <a:pt x="166217" y="166217"/>
                </a:cubicBezTo>
                <a:lnTo>
                  <a:pt x="41554" y="166217"/>
                </a:lnTo>
                <a:cubicBezTo>
                  <a:pt x="35808" y="166217"/>
                  <a:pt x="31166" y="161574"/>
                  <a:pt x="31166" y="155828"/>
                </a:cubicBezTo>
                <a:cubicBezTo>
                  <a:pt x="31166" y="150082"/>
                  <a:pt x="35808" y="145440"/>
                  <a:pt x="41554" y="145440"/>
                </a:cubicBezTo>
                <a:lnTo>
                  <a:pt x="93497" y="145440"/>
                </a:lnTo>
                <a:lnTo>
                  <a:pt x="93497" y="49768"/>
                </a:lnTo>
                <a:cubicBezTo>
                  <a:pt x="85868" y="46424"/>
                  <a:pt x="80122" y="39509"/>
                  <a:pt x="78434" y="31166"/>
                </a:cubicBezTo>
                <a:lnTo>
                  <a:pt x="41554" y="31166"/>
                </a:lnTo>
                <a:cubicBezTo>
                  <a:pt x="35808" y="31166"/>
                  <a:pt x="31166" y="26523"/>
                  <a:pt x="31166" y="20777"/>
                </a:cubicBezTo>
                <a:cubicBezTo>
                  <a:pt x="31166" y="15031"/>
                  <a:pt x="35808" y="10389"/>
                  <a:pt x="41554" y="10389"/>
                </a:cubicBezTo>
                <a:lnTo>
                  <a:pt x="83108" y="10389"/>
                </a:lnTo>
                <a:cubicBezTo>
                  <a:pt x="87848" y="4090"/>
                  <a:pt x="95380" y="0"/>
                  <a:pt x="103885" y="0"/>
                </a:cubicBezTo>
                <a:cubicBezTo>
                  <a:pt x="112391" y="0"/>
                  <a:pt x="119923" y="4090"/>
                  <a:pt x="124663" y="10389"/>
                </a:cubicBezTo>
                <a:close/>
                <a:moveTo>
                  <a:pt x="142713" y="103885"/>
                </a:moveTo>
                <a:lnTo>
                  <a:pt x="189721" y="103885"/>
                </a:lnTo>
                <a:lnTo>
                  <a:pt x="166217" y="63565"/>
                </a:lnTo>
                <a:lnTo>
                  <a:pt x="142713" y="103885"/>
                </a:lnTo>
                <a:close/>
                <a:moveTo>
                  <a:pt x="166217" y="135051"/>
                </a:moveTo>
                <a:cubicBezTo>
                  <a:pt x="145797" y="135051"/>
                  <a:pt x="128818" y="124013"/>
                  <a:pt x="125312" y="109437"/>
                </a:cubicBezTo>
                <a:cubicBezTo>
                  <a:pt x="124468" y="105866"/>
                  <a:pt x="125637" y="102197"/>
                  <a:pt x="127487" y="99016"/>
                </a:cubicBezTo>
                <a:lnTo>
                  <a:pt x="158393" y="46034"/>
                </a:lnTo>
                <a:cubicBezTo>
                  <a:pt x="160016" y="43242"/>
                  <a:pt x="163003" y="41554"/>
                  <a:pt x="166217" y="41554"/>
                </a:cubicBezTo>
                <a:cubicBezTo>
                  <a:pt x="169431" y="41554"/>
                  <a:pt x="172417" y="43275"/>
                  <a:pt x="174041" y="46034"/>
                </a:cubicBezTo>
                <a:lnTo>
                  <a:pt x="204947" y="99016"/>
                </a:lnTo>
                <a:cubicBezTo>
                  <a:pt x="206797" y="102197"/>
                  <a:pt x="207966" y="105866"/>
                  <a:pt x="207122" y="109437"/>
                </a:cubicBezTo>
                <a:cubicBezTo>
                  <a:pt x="203616" y="123981"/>
                  <a:pt x="186637" y="135051"/>
                  <a:pt x="166217" y="135051"/>
                </a:cubicBezTo>
                <a:close/>
                <a:moveTo>
                  <a:pt x="41165" y="63565"/>
                </a:moveTo>
                <a:lnTo>
                  <a:pt x="17661" y="103885"/>
                </a:lnTo>
                <a:lnTo>
                  <a:pt x="64701" y="103885"/>
                </a:lnTo>
                <a:lnTo>
                  <a:pt x="41165" y="63565"/>
                </a:lnTo>
                <a:close/>
                <a:moveTo>
                  <a:pt x="292" y="109437"/>
                </a:moveTo>
                <a:cubicBezTo>
                  <a:pt x="-552" y="105866"/>
                  <a:pt x="617" y="102197"/>
                  <a:pt x="2467" y="99016"/>
                </a:cubicBezTo>
                <a:lnTo>
                  <a:pt x="33373" y="46034"/>
                </a:lnTo>
                <a:cubicBezTo>
                  <a:pt x="34996" y="43242"/>
                  <a:pt x="37983" y="41554"/>
                  <a:pt x="41197" y="41554"/>
                </a:cubicBezTo>
                <a:cubicBezTo>
                  <a:pt x="44411" y="41554"/>
                  <a:pt x="47398" y="43275"/>
                  <a:pt x="49021" y="46034"/>
                </a:cubicBezTo>
                <a:lnTo>
                  <a:pt x="79927" y="99016"/>
                </a:lnTo>
                <a:cubicBezTo>
                  <a:pt x="81777" y="102197"/>
                  <a:pt x="82946" y="105866"/>
                  <a:pt x="82102" y="109437"/>
                </a:cubicBezTo>
                <a:cubicBezTo>
                  <a:pt x="78596" y="123981"/>
                  <a:pt x="61617" y="135051"/>
                  <a:pt x="41197" y="135051"/>
                </a:cubicBezTo>
                <a:cubicBezTo>
                  <a:pt x="20777" y="135051"/>
                  <a:pt x="3798" y="124013"/>
                  <a:pt x="292" y="10943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4" name="Text 11"/>
          <p:cNvSpPr/>
          <p:nvPr/>
        </p:nvSpPr>
        <p:spPr>
          <a:xfrm>
            <a:off x="723043" y="6537851"/>
            <a:ext cx="10172466" cy="199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Equal Participation:</a:t>
            </a:r>
            <a:r>
              <a:rPr lang="en-US" sz="1045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All team members contributed significantly to project success, with balanced workload distribution and collaborative decision-making throughout all phases.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850" y="374850"/>
            <a:ext cx="1461915" cy="262395"/>
          </a:xfrm>
          <a:custGeom>
            <a:avLst/>
            <a:gdLst/>
            <a:ahLst/>
            <a:cxnLst/>
            <a:rect l="l" t="t" r="r" b="b"/>
            <a:pathLst>
              <a:path w="1461915" h="262395">
                <a:moveTo>
                  <a:pt x="131198" y="0"/>
                </a:moveTo>
                <a:lnTo>
                  <a:pt x="1330718" y="0"/>
                </a:lnTo>
                <a:cubicBezTo>
                  <a:pt x="1403176" y="0"/>
                  <a:pt x="1461915" y="58739"/>
                  <a:pt x="1461915" y="131198"/>
                </a:cubicBezTo>
                <a:lnTo>
                  <a:pt x="1461915" y="131198"/>
                </a:lnTo>
                <a:cubicBezTo>
                  <a:pt x="1461915" y="203656"/>
                  <a:pt x="1403176" y="262395"/>
                  <a:pt x="1330718" y="262395"/>
                </a:cubicBezTo>
                <a:lnTo>
                  <a:pt x="131198" y="262395"/>
                </a:lnTo>
                <a:cubicBezTo>
                  <a:pt x="58788" y="262395"/>
                  <a:pt x="0" y="203607"/>
                  <a:pt x="0" y="131198"/>
                </a:cubicBezTo>
                <a:lnTo>
                  <a:pt x="0" y="131198"/>
                </a:lnTo>
                <a:cubicBezTo>
                  <a:pt x="0" y="58788"/>
                  <a:pt x="58788" y="0"/>
                  <a:pt x="131198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" name="Text 1"/>
          <p:cNvSpPr/>
          <p:nvPr/>
        </p:nvSpPr>
        <p:spPr>
          <a:xfrm>
            <a:off x="374850" y="374850"/>
            <a:ext cx="1527514" cy="262395"/>
          </a:xfrm>
          <a:prstGeom prst="rect">
            <a:avLst/>
          </a:prstGeom>
          <a:noFill/>
        </p:spPr>
        <p:txBody>
          <a:bodyPr wrap="square" lIns="149940" tIns="37485" rIns="149940" bIns="37485" rtlCol="0" anchor="ctr"/>
          <a:lstStyle/>
          <a:p>
            <a:pPr>
              <a:lnSpc>
                <a:spcPct val="120000"/>
              </a:lnSpc>
            </a:pPr>
            <a:r>
              <a:rPr lang="en-US" sz="1035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4850" y="768095"/>
            <a:ext cx="11667210" cy="449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0" b="1" dirty="0">
                <a:solidFill>
                  <a:srgbClr val="0034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Conclusion &amp; Future Outlook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4850" y="1311975"/>
            <a:ext cx="5650865" cy="5547782"/>
          </a:xfrm>
          <a:custGeom>
            <a:avLst/>
            <a:gdLst/>
            <a:ahLst/>
            <a:cxnLst/>
            <a:rect l="l" t="t" r="r" b="b"/>
            <a:pathLst>
              <a:path w="5650865" h="5547782">
                <a:moveTo>
                  <a:pt x="74951" y="0"/>
                </a:moveTo>
                <a:lnTo>
                  <a:pt x="5575915" y="0"/>
                </a:lnTo>
                <a:cubicBezTo>
                  <a:pt x="5617309" y="0"/>
                  <a:pt x="5650865" y="33556"/>
                  <a:pt x="5650865" y="74951"/>
                </a:cubicBezTo>
                <a:lnTo>
                  <a:pt x="5650865" y="5472831"/>
                </a:lnTo>
                <a:cubicBezTo>
                  <a:pt x="5650865" y="5514225"/>
                  <a:pt x="5617309" y="5547782"/>
                  <a:pt x="5575915" y="5547782"/>
                </a:cubicBezTo>
                <a:lnTo>
                  <a:pt x="74951" y="5547782"/>
                </a:lnTo>
                <a:cubicBezTo>
                  <a:pt x="33556" y="5547782"/>
                  <a:pt x="0" y="5514225"/>
                  <a:pt x="0" y="5472831"/>
                </a:cubicBezTo>
                <a:lnTo>
                  <a:pt x="0" y="74951"/>
                </a:lnTo>
                <a:cubicBezTo>
                  <a:pt x="0" y="33584"/>
                  <a:pt x="33584" y="0"/>
                  <a:pt x="74951" y="0"/>
                </a:cubicBezTo>
                <a:close/>
              </a:path>
            </a:pathLst>
          </a:custGeom>
          <a:solidFill>
            <a:srgbClr val="00344D"/>
          </a:solidFill>
          <a:effectLst>
            <a:outerShdw blurRad="140569" dist="9371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9760" y="1527514"/>
            <a:ext cx="281138" cy="281138"/>
          </a:xfrm>
          <a:custGeom>
            <a:avLst/>
            <a:gdLst/>
            <a:ahLst/>
            <a:cxnLst/>
            <a:rect l="l" t="t" r="r" b="b"/>
            <a:pathLst>
              <a:path w="281138" h="281138">
                <a:moveTo>
                  <a:pt x="140569" y="281138"/>
                </a:moveTo>
                <a:cubicBezTo>
                  <a:pt x="218151" y="281138"/>
                  <a:pt x="281138" y="218151"/>
                  <a:pt x="281138" y="140569"/>
                </a:cubicBezTo>
                <a:cubicBezTo>
                  <a:pt x="281138" y="62987"/>
                  <a:pt x="218151" y="0"/>
                  <a:pt x="140569" y="0"/>
                </a:cubicBezTo>
                <a:cubicBezTo>
                  <a:pt x="62987" y="0"/>
                  <a:pt x="0" y="62987"/>
                  <a:pt x="0" y="140569"/>
                </a:cubicBezTo>
                <a:cubicBezTo>
                  <a:pt x="0" y="218151"/>
                  <a:pt x="62987" y="281138"/>
                  <a:pt x="140569" y="281138"/>
                </a:cubicBezTo>
                <a:close/>
                <a:moveTo>
                  <a:pt x="186913" y="116793"/>
                </a:moveTo>
                <a:lnTo>
                  <a:pt x="142985" y="187077"/>
                </a:lnTo>
                <a:cubicBezTo>
                  <a:pt x="140679" y="190756"/>
                  <a:pt x="136725" y="193062"/>
                  <a:pt x="132387" y="193282"/>
                </a:cubicBezTo>
                <a:cubicBezTo>
                  <a:pt x="128049" y="193502"/>
                  <a:pt x="123876" y="191525"/>
                  <a:pt x="121295" y="188011"/>
                </a:cubicBezTo>
                <a:lnTo>
                  <a:pt x="94939" y="152869"/>
                </a:lnTo>
                <a:cubicBezTo>
                  <a:pt x="90546" y="147048"/>
                  <a:pt x="91754" y="138812"/>
                  <a:pt x="97575" y="134419"/>
                </a:cubicBezTo>
                <a:cubicBezTo>
                  <a:pt x="103395" y="130026"/>
                  <a:pt x="111631" y="131234"/>
                  <a:pt x="116024" y="137055"/>
                </a:cubicBezTo>
                <a:lnTo>
                  <a:pt x="130850" y="156822"/>
                </a:lnTo>
                <a:lnTo>
                  <a:pt x="164564" y="102846"/>
                </a:lnTo>
                <a:cubicBezTo>
                  <a:pt x="168408" y="96696"/>
                  <a:pt x="176535" y="94774"/>
                  <a:pt x="182739" y="98673"/>
                </a:cubicBezTo>
                <a:cubicBezTo>
                  <a:pt x="188944" y="102571"/>
                  <a:pt x="190811" y="110643"/>
                  <a:pt x="186913" y="116848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7" name="Text 5"/>
          <p:cNvSpPr/>
          <p:nvPr/>
        </p:nvSpPr>
        <p:spPr>
          <a:xfrm>
            <a:off x="1026152" y="1499400"/>
            <a:ext cx="1527514" cy="337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5" b="1" dirty="0">
                <a:solidFill>
                  <a:srgbClr val="F8F8F7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2275" y="1949221"/>
            <a:ext cx="5360357" cy="82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Through the </a:t>
            </a:r>
            <a:r>
              <a:rPr lang="en-US" sz="1330" b="1" dirty="0">
                <a:solidFill>
                  <a:srgbClr val="C87D5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five phases of design thinking</a:t>
            </a:r>
            <a:r>
              <a:rPr lang="en-US" sz="1330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we successfully developed the BMMS prototype, addressing core pain points of UTM's hostel maintenance reporting system.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1018" y="3325038"/>
            <a:ext cx="5257273" cy="1012095"/>
          </a:xfrm>
          <a:custGeom>
            <a:avLst/>
            <a:gdLst/>
            <a:ahLst/>
            <a:cxnLst/>
            <a:rect l="l" t="t" r="r" b="b"/>
            <a:pathLst>
              <a:path w="5257273" h="1012095">
                <a:moveTo>
                  <a:pt x="37485" y="0"/>
                </a:moveTo>
                <a:lnTo>
                  <a:pt x="5182307" y="0"/>
                </a:lnTo>
                <a:cubicBezTo>
                  <a:pt x="5223709" y="0"/>
                  <a:pt x="5257273" y="33563"/>
                  <a:pt x="5257273" y="74966"/>
                </a:cubicBezTo>
                <a:lnTo>
                  <a:pt x="5257273" y="937129"/>
                </a:lnTo>
                <a:cubicBezTo>
                  <a:pt x="5257273" y="978532"/>
                  <a:pt x="5223709" y="1012095"/>
                  <a:pt x="5182307" y="1012095"/>
                </a:cubicBezTo>
                <a:lnTo>
                  <a:pt x="37485" y="1012095"/>
                </a:lnTo>
                <a:cubicBezTo>
                  <a:pt x="16783" y="1012095"/>
                  <a:pt x="0" y="995313"/>
                  <a:pt x="0" y="97461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81018" y="3325038"/>
            <a:ext cx="37485" cy="1012095"/>
          </a:xfrm>
          <a:custGeom>
            <a:avLst/>
            <a:gdLst/>
            <a:ahLst/>
            <a:cxnLst/>
            <a:rect l="l" t="t" r="r" b="b"/>
            <a:pathLst>
              <a:path w="37485" h="1012095">
                <a:moveTo>
                  <a:pt x="37485" y="0"/>
                </a:moveTo>
                <a:lnTo>
                  <a:pt x="37485" y="0"/>
                </a:lnTo>
                <a:lnTo>
                  <a:pt x="37485" y="1012095"/>
                </a:lnTo>
                <a:lnTo>
                  <a:pt x="37485" y="1012095"/>
                </a:lnTo>
                <a:cubicBezTo>
                  <a:pt x="16783" y="1012095"/>
                  <a:pt x="0" y="995313"/>
                  <a:pt x="0" y="97461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1" name="Shape 9"/>
          <p:cNvSpPr/>
          <p:nvPr/>
        </p:nvSpPr>
        <p:spPr>
          <a:xfrm>
            <a:off x="712215" y="3493720"/>
            <a:ext cx="187425" cy="149940"/>
          </a:xfrm>
          <a:custGeom>
            <a:avLst/>
            <a:gdLst/>
            <a:ahLst/>
            <a:cxnLst/>
            <a:rect l="l" t="t" r="r" b="b"/>
            <a:pathLst>
              <a:path w="187425" h="149940">
                <a:moveTo>
                  <a:pt x="93713" y="4686"/>
                </a:moveTo>
                <a:cubicBezTo>
                  <a:pt x="110522" y="4686"/>
                  <a:pt x="124169" y="18333"/>
                  <a:pt x="124169" y="35142"/>
                </a:cubicBezTo>
                <a:cubicBezTo>
                  <a:pt x="124169" y="51952"/>
                  <a:pt x="110522" y="65599"/>
                  <a:pt x="93713" y="65599"/>
                </a:cubicBezTo>
                <a:cubicBezTo>
                  <a:pt x="76903" y="65599"/>
                  <a:pt x="63256" y="51952"/>
                  <a:pt x="63256" y="35142"/>
                </a:cubicBezTo>
                <a:cubicBezTo>
                  <a:pt x="63256" y="18333"/>
                  <a:pt x="76903" y="4686"/>
                  <a:pt x="93713" y="4686"/>
                </a:cubicBezTo>
                <a:close/>
                <a:moveTo>
                  <a:pt x="28114" y="25771"/>
                </a:moveTo>
                <a:cubicBezTo>
                  <a:pt x="39751" y="25771"/>
                  <a:pt x="49199" y="35219"/>
                  <a:pt x="49199" y="46856"/>
                </a:cubicBezTo>
                <a:cubicBezTo>
                  <a:pt x="49199" y="58494"/>
                  <a:pt x="39751" y="67942"/>
                  <a:pt x="28114" y="67942"/>
                </a:cubicBezTo>
                <a:cubicBezTo>
                  <a:pt x="16476" y="67942"/>
                  <a:pt x="7028" y="58494"/>
                  <a:pt x="7028" y="46856"/>
                </a:cubicBezTo>
                <a:cubicBezTo>
                  <a:pt x="7028" y="35219"/>
                  <a:pt x="16476" y="25771"/>
                  <a:pt x="28114" y="25771"/>
                </a:cubicBezTo>
                <a:close/>
                <a:moveTo>
                  <a:pt x="0" y="121826"/>
                </a:moveTo>
                <a:cubicBezTo>
                  <a:pt x="0" y="101122"/>
                  <a:pt x="16780" y="84341"/>
                  <a:pt x="37485" y="84341"/>
                </a:cubicBezTo>
                <a:cubicBezTo>
                  <a:pt x="41234" y="84341"/>
                  <a:pt x="44865" y="84898"/>
                  <a:pt x="48291" y="85923"/>
                </a:cubicBezTo>
                <a:cubicBezTo>
                  <a:pt x="38656" y="96700"/>
                  <a:pt x="32799" y="110932"/>
                  <a:pt x="32799" y="126512"/>
                </a:cubicBezTo>
                <a:lnTo>
                  <a:pt x="32799" y="131198"/>
                </a:lnTo>
                <a:cubicBezTo>
                  <a:pt x="32799" y="134536"/>
                  <a:pt x="33502" y="137699"/>
                  <a:pt x="34761" y="140569"/>
                </a:cubicBezTo>
                <a:lnTo>
                  <a:pt x="9371" y="140569"/>
                </a:lnTo>
                <a:cubicBezTo>
                  <a:pt x="4188" y="140569"/>
                  <a:pt x="0" y="136381"/>
                  <a:pt x="0" y="131198"/>
                </a:cubicBezTo>
                <a:lnTo>
                  <a:pt x="0" y="121826"/>
                </a:lnTo>
                <a:close/>
                <a:moveTo>
                  <a:pt x="152664" y="140569"/>
                </a:moveTo>
                <a:cubicBezTo>
                  <a:pt x="153923" y="137699"/>
                  <a:pt x="154626" y="134536"/>
                  <a:pt x="154626" y="131198"/>
                </a:cubicBezTo>
                <a:lnTo>
                  <a:pt x="154626" y="126512"/>
                </a:lnTo>
                <a:cubicBezTo>
                  <a:pt x="154626" y="110932"/>
                  <a:pt x="148769" y="96700"/>
                  <a:pt x="139134" y="85923"/>
                </a:cubicBezTo>
                <a:cubicBezTo>
                  <a:pt x="142560" y="84898"/>
                  <a:pt x="146192" y="84341"/>
                  <a:pt x="149940" y="84341"/>
                </a:cubicBezTo>
                <a:cubicBezTo>
                  <a:pt x="170645" y="84341"/>
                  <a:pt x="187425" y="101122"/>
                  <a:pt x="187425" y="121826"/>
                </a:cubicBezTo>
                <a:lnTo>
                  <a:pt x="187425" y="131198"/>
                </a:lnTo>
                <a:cubicBezTo>
                  <a:pt x="187425" y="136381"/>
                  <a:pt x="183237" y="140569"/>
                  <a:pt x="178054" y="140569"/>
                </a:cubicBezTo>
                <a:lnTo>
                  <a:pt x="152664" y="140569"/>
                </a:lnTo>
                <a:close/>
                <a:moveTo>
                  <a:pt x="138226" y="46856"/>
                </a:moveTo>
                <a:cubicBezTo>
                  <a:pt x="138226" y="35219"/>
                  <a:pt x="147674" y="25771"/>
                  <a:pt x="159311" y="25771"/>
                </a:cubicBezTo>
                <a:cubicBezTo>
                  <a:pt x="170949" y="25771"/>
                  <a:pt x="180397" y="35219"/>
                  <a:pt x="180397" y="46856"/>
                </a:cubicBezTo>
                <a:cubicBezTo>
                  <a:pt x="180397" y="58494"/>
                  <a:pt x="170949" y="67942"/>
                  <a:pt x="159311" y="67942"/>
                </a:cubicBezTo>
                <a:cubicBezTo>
                  <a:pt x="147674" y="67942"/>
                  <a:pt x="138226" y="58494"/>
                  <a:pt x="138226" y="46856"/>
                </a:cubicBezTo>
                <a:close/>
                <a:moveTo>
                  <a:pt x="46856" y="126512"/>
                </a:moveTo>
                <a:cubicBezTo>
                  <a:pt x="46856" y="100624"/>
                  <a:pt x="67824" y="79656"/>
                  <a:pt x="93713" y="79656"/>
                </a:cubicBezTo>
                <a:cubicBezTo>
                  <a:pt x="119601" y="79656"/>
                  <a:pt x="140569" y="100624"/>
                  <a:pt x="140569" y="126512"/>
                </a:cubicBezTo>
                <a:lnTo>
                  <a:pt x="140569" y="131198"/>
                </a:lnTo>
                <a:cubicBezTo>
                  <a:pt x="140569" y="136381"/>
                  <a:pt x="136381" y="140569"/>
                  <a:pt x="131198" y="140569"/>
                </a:cubicBezTo>
                <a:lnTo>
                  <a:pt x="56228" y="140569"/>
                </a:lnTo>
                <a:cubicBezTo>
                  <a:pt x="51044" y="140569"/>
                  <a:pt x="46856" y="136381"/>
                  <a:pt x="46856" y="131198"/>
                </a:cubicBezTo>
                <a:lnTo>
                  <a:pt x="46856" y="126512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12" name="Text 10"/>
          <p:cNvSpPr/>
          <p:nvPr/>
        </p:nvSpPr>
        <p:spPr>
          <a:xfrm>
            <a:off x="974610" y="3437493"/>
            <a:ext cx="1827394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Enhanced Collaboration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2215" y="3774858"/>
            <a:ext cx="5088590" cy="449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The project strengthened our team's collaboration, problem-solving, and user-centric thinking skills.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1018" y="5256687"/>
            <a:ext cx="5257273" cy="1012095"/>
          </a:xfrm>
          <a:custGeom>
            <a:avLst/>
            <a:gdLst/>
            <a:ahLst/>
            <a:cxnLst/>
            <a:rect l="l" t="t" r="r" b="b"/>
            <a:pathLst>
              <a:path w="5257273" h="1012095">
                <a:moveTo>
                  <a:pt x="37485" y="0"/>
                </a:moveTo>
                <a:lnTo>
                  <a:pt x="5182307" y="0"/>
                </a:lnTo>
                <a:cubicBezTo>
                  <a:pt x="5223709" y="0"/>
                  <a:pt x="5257273" y="33563"/>
                  <a:pt x="5257273" y="74966"/>
                </a:cubicBezTo>
                <a:lnTo>
                  <a:pt x="5257273" y="937129"/>
                </a:lnTo>
                <a:cubicBezTo>
                  <a:pt x="5257273" y="978532"/>
                  <a:pt x="5223709" y="1012095"/>
                  <a:pt x="5182307" y="1012095"/>
                </a:cubicBezTo>
                <a:lnTo>
                  <a:pt x="37485" y="1012095"/>
                </a:lnTo>
                <a:cubicBezTo>
                  <a:pt x="16783" y="1012095"/>
                  <a:pt x="0" y="995313"/>
                  <a:pt x="0" y="97461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81018" y="5256687"/>
            <a:ext cx="37485" cy="1012095"/>
          </a:xfrm>
          <a:custGeom>
            <a:avLst/>
            <a:gdLst/>
            <a:ahLst/>
            <a:cxnLst/>
            <a:rect l="l" t="t" r="r" b="b"/>
            <a:pathLst>
              <a:path w="37485" h="1012095">
                <a:moveTo>
                  <a:pt x="37485" y="0"/>
                </a:moveTo>
                <a:lnTo>
                  <a:pt x="37485" y="0"/>
                </a:lnTo>
                <a:lnTo>
                  <a:pt x="37485" y="1012095"/>
                </a:lnTo>
                <a:lnTo>
                  <a:pt x="37485" y="1012095"/>
                </a:lnTo>
                <a:cubicBezTo>
                  <a:pt x="16783" y="1012095"/>
                  <a:pt x="0" y="995313"/>
                  <a:pt x="0" y="97461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6" name="Shape 14"/>
          <p:cNvSpPr/>
          <p:nvPr/>
        </p:nvSpPr>
        <p:spPr>
          <a:xfrm>
            <a:off x="749700" y="5425370"/>
            <a:ext cx="112455" cy="149940"/>
          </a:xfrm>
          <a:custGeom>
            <a:avLst/>
            <a:gdLst/>
            <a:ahLst/>
            <a:cxnLst/>
            <a:rect l="l" t="t" r="r" b="b"/>
            <a:pathLst>
              <a:path w="112455" h="149940">
                <a:moveTo>
                  <a:pt x="85776" y="112455"/>
                </a:moveTo>
                <a:cubicBezTo>
                  <a:pt x="87914" y="105924"/>
                  <a:pt x="92190" y="100009"/>
                  <a:pt x="97022" y="94913"/>
                </a:cubicBezTo>
                <a:cubicBezTo>
                  <a:pt x="106598" y="84839"/>
                  <a:pt x="112455" y="71222"/>
                  <a:pt x="112455" y="56228"/>
                </a:cubicBezTo>
                <a:cubicBezTo>
                  <a:pt x="112455" y="25185"/>
                  <a:pt x="87270" y="0"/>
                  <a:pt x="56228" y="0"/>
                </a:cubicBezTo>
                <a:cubicBezTo>
                  <a:pt x="25185" y="0"/>
                  <a:pt x="0" y="25185"/>
                  <a:pt x="0" y="56228"/>
                </a:cubicBezTo>
                <a:cubicBezTo>
                  <a:pt x="0" y="71222"/>
                  <a:pt x="5857" y="84839"/>
                  <a:pt x="15433" y="94913"/>
                </a:cubicBezTo>
                <a:cubicBezTo>
                  <a:pt x="20265" y="100009"/>
                  <a:pt x="24570" y="105924"/>
                  <a:pt x="26679" y="112455"/>
                </a:cubicBezTo>
                <a:lnTo>
                  <a:pt x="85747" y="112455"/>
                </a:lnTo>
                <a:close/>
                <a:moveTo>
                  <a:pt x="84341" y="126512"/>
                </a:moveTo>
                <a:lnTo>
                  <a:pt x="28114" y="126512"/>
                </a:lnTo>
                <a:lnTo>
                  <a:pt x="28114" y="131198"/>
                </a:lnTo>
                <a:cubicBezTo>
                  <a:pt x="28114" y="144142"/>
                  <a:pt x="38598" y="154626"/>
                  <a:pt x="51542" y="154626"/>
                </a:cubicBezTo>
                <a:lnTo>
                  <a:pt x="60913" y="154626"/>
                </a:lnTo>
                <a:cubicBezTo>
                  <a:pt x="73857" y="154626"/>
                  <a:pt x="84341" y="144142"/>
                  <a:pt x="84341" y="131198"/>
                </a:cubicBezTo>
                <a:lnTo>
                  <a:pt x="84341" y="126512"/>
                </a:lnTo>
                <a:close/>
                <a:moveTo>
                  <a:pt x="53885" y="32799"/>
                </a:moveTo>
                <a:cubicBezTo>
                  <a:pt x="42229" y="32799"/>
                  <a:pt x="32799" y="42229"/>
                  <a:pt x="32799" y="53885"/>
                </a:cubicBezTo>
                <a:cubicBezTo>
                  <a:pt x="32799" y="57780"/>
                  <a:pt x="29666" y="60913"/>
                  <a:pt x="25771" y="60913"/>
                </a:cubicBezTo>
                <a:cubicBezTo>
                  <a:pt x="21876" y="60913"/>
                  <a:pt x="18743" y="57780"/>
                  <a:pt x="18743" y="53885"/>
                </a:cubicBezTo>
                <a:cubicBezTo>
                  <a:pt x="18743" y="34469"/>
                  <a:pt x="34469" y="18743"/>
                  <a:pt x="53885" y="18743"/>
                </a:cubicBezTo>
                <a:cubicBezTo>
                  <a:pt x="57780" y="18743"/>
                  <a:pt x="60913" y="21876"/>
                  <a:pt x="60913" y="25771"/>
                </a:cubicBezTo>
                <a:cubicBezTo>
                  <a:pt x="60913" y="29666"/>
                  <a:pt x="57780" y="32799"/>
                  <a:pt x="53885" y="32799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7" name="Text 15"/>
          <p:cNvSpPr/>
          <p:nvPr/>
        </p:nvSpPr>
        <p:spPr>
          <a:xfrm>
            <a:off x="974610" y="5369142"/>
            <a:ext cx="1686826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Design Thinking Value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2215" y="5706507"/>
            <a:ext cx="5088590" cy="449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We experienced firsthand how the structured process transforms complex problems into actionable solutions.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532" y="1330718"/>
            <a:ext cx="5650865" cy="4329519"/>
          </a:xfrm>
          <a:custGeom>
            <a:avLst/>
            <a:gdLst/>
            <a:ahLst/>
            <a:cxnLst/>
            <a:rect l="l" t="t" r="r" b="b"/>
            <a:pathLst>
              <a:path w="5650865" h="4329519">
                <a:moveTo>
                  <a:pt x="37485" y="0"/>
                </a:moveTo>
                <a:lnTo>
                  <a:pt x="5613380" y="0"/>
                </a:lnTo>
                <a:cubicBezTo>
                  <a:pt x="5634083" y="0"/>
                  <a:pt x="5650865" y="16783"/>
                  <a:pt x="5650865" y="37485"/>
                </a:cubicBezTo>
                <a:lnTo>
                  <a:pt x="5650865" y="4254532"/>
                </a:lnTo>
                <a:cubicBezTo>
                  <a:pt x="5650865" y="4295946"/>
                  <a:pt x="5617293" y="4329519"/>
                  <a:pt x="5575878" y="4329519"/>
                </a:cubicBezTo>
                <a:lnTo>
                  <a:pt x="74987" y="4329519"/>
                </a:lnTo>
                <a:cubicBezTo>
                  <a:pt x="33573" y="4329519"/>
                  <a:pt x="0" y="4295946"/>
                  <a:pt x="0" y="4254532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0569" dist="9371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532" y="1330718"/>
            <a:ext cx="5650865" cy="37485"/>
          </a:xfrm>
          <a:custGeom>
            <a:avLst/>
            <a:gdLst/>
            <a:ahLst/>
            <a:cxnLst/>
            <a:rect l="l" t="t" r="r" b="b"/>
            <a:pathLst>
              <a:path w="5650865" h="37485">
                <a:moveTo>
                  <a:pt x="37485" y="0"/>
                </a:moveTo>
                <a:lnTo>
                  <a:pt x="5613380" y="0"/>
                </a:lnTo>
                <a:cubicBezTo>
                  <a:pt x="5634083" y="0"/>
                  <a:pt x="5650865" y="16783"/>
                  <a:pt x="5650865" y="37485"/>
                </a:cubicBezTo>
                <a:lnTo>
                  <a:pt x="5650865" y="37485"/>
                </a:lnTo>
                <a:lnTo>
                  <a:pt x="0" y="37485"/>
                </a:ln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1" name="Shape 19"/>
          <p:cNvSpPr/>
          <p:nvPr/>
        </p:nvSpPr>
        <p:spPr>
          <a:xfrm>
            <a:off x="6397442" y="1564999"/>
            <a:ext cx="281138" cy="281138"/>
          </a:xfrm>
          <a:custGeom>
            <a:avLst/>
            <a:gdLst/>
            <a:ahLst/>
            <a:cxnLst/>
            <a:rect l="l" t="t" r="r" b="b"/>
            <a:pathLst>
              <a:path w="281138" h="281138">
                <a:moveTo>
                  <a:pt x="70284" y="175711"/>
                </a:moveTo>
                <a:lnTo>
                  <a:pt x="13453" y="175711"/>
                </a:lnTo>
                <a:cubicBezTo>
                  <a:pt x="-220" y="175711"/>
                  <a:pt x="-8621" y="160830"/>
                  <a:pt x="-1592" y="149080"/>
                </a:cubicBezTo>
                <a:lnTo>
                  <a:pt x="27455" y="100649"/>
                </a:lnTo>
                <a:cubicBezTo>
                  <a:pt x="32232" y="92688"/>
                  <a:pt x="40798" y="87855"/>
                  <a:pt x="50078" y="87855"/>
                </a:cubicBezTo>
                <a:lnTo>
                  <a:pt x="102242" y="87855"/>
                </a:lnTo>
                <a:cubicBezTo>
                  <a:pt x="144028" y="17077"/>
                  <a:pt x="206351" y="13508"/>
                  <a:pt x="248027" y="19603"/>
                </a:cubicBezTo>
                <a:cubicBezTo>
                  <a:pt x="255055" y="20646"/>
                  <a:pt x="260546" y="26137"/>
                  <a:pt x="261535" y="33111"/>
                </a:cubicBezTo>
                <a:cubicBezTo>
                  <a:pt x="267630" y="74787"/>
                  <a:pt x="264061" y="137109"/>
                  <a:pt x="193282" y="178896"/>
                </a:cubicBezTo>
                <a:lnTo>
                  <a:pt x="193282" y="231060"/>
                </a:lnTo>
                <a:cubicBezTo>
                  <a:pt x="193282" y="240340"/>
                  <a:pt x="188450" y="248906"/>
                  <a:pt x="180488" y="253683"/>
                </a:cubicBezTo>
                <a:lnTo>
                  <a:pt x="132058" y="282730"/>
                </a:lnTo>
                <a:cubicBezTo>
                  <a:pt x="120362" y="289758"/>
                  <a:pt x="105427" y="281302"/>
                  <a:pt x="105427" y="267685"/>
                </a:cubicBezTo>
                <a:lnTo>
                  <a:pt x="105427" y="210853"/>
                </a:lnTo>
                <a:cubicBezTo>
                  <a:pt x="105427" y="191470"/>
                  <a:pt x="89668" y="175711"/>
                  <a:pt x="70284" y="175711"/>
                </a:cubicBezTo>
                <a:lnTo>
                  <a:pt x="70229" y="175711"/>
                </a:lnTo>
                <a:close/>
                <a:moveTo>
                  <a:pt x="219639" y="87855"/>
                </a:moveTo>
                <a:cubicBezTo>
                  <a:pt x="219639" y="73309"/>
                  <a:pt x="207829" y="61499"/>
                  <a:pt x="193282" y="61499"/>
                </a:cubicBezTo>
                <a:cubicBezTo>
                  <a:pt x="178735" y="61499"/>
                  <a:pt x="166925" y="73309"/>
                  <a:pt x="166925" y="87855"/>
                </a:cubicBezTo>
                <a:cubicBezTo>
                  <a:pt x="166925" y="102402"/>
                  <a:pt x="178735" y="114212"/>
                  <a:pt x="193282" y="114212"/>
                </a:cubicBezTo>
                <a:cubicBezTo>
                  <a:pt x="207829" y="114212"/>
                  <a:pt x="219639" y="102402"/>
                  <a:pt x="219639" y="87855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2" name="Text 20"/>
          <p:cNvSpPr/>
          <p:nvPr/>
        </p:nvSpPr>
        <p:spPr>
          <a:xfrm>
            <a:off x="6823834" y="1536885"/>
            <a:ext cx="1986706" cy="337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15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78700" y="1986706"/>
            <a:ext cx="5257273" cy="1087065"/>
          </a:xfrm>
          <a:custGeom>
            <a:avLst/>
            <a:gdLst/>
            <a:ahLst/>
            <a:cxnLst/>
            <a:rect l="l" t="t" r="r" b="b"/>
            <a:pathLst>
              <a:path w="5257273" h="1087065">
                <a:moveTo>
                  <a:pt x="37485" y="0"/>
                </a:moveTo>
                <a:lnTo>
                  <a:pt x="5182298" y="0"/>
                </a:lnTo>
                <a:cubicBezTo>
                  <a:pt x="5223705" y="0"/>
                  <a:pt x="5257273" y="33567"/>
                  <a:pt x="5257273" y="74975"/>
                </a:cubicBezTo>
                <a:lnTo>
                  <a:pt x="5257273" y="1012090"/>
                </a:lnTo>
                <a:cubicBezTo>
                  <a:pt x="5257273" y="1053498"/>
                  <a:pt x="5223705" y="1087065"/>
                  <a:pt x="5182298" y="1087065"/>
                </a:cubicBezTo>
                <a:lnTo>
                  <a:pt x="37485" y="1087065"/>
                </a:lnTo>
                <a:cubicBezTo>
                  <a:pt x="16783" y="1087065"/>
                  <a:pt x="0" y="1070283"/>
                  <a:pt x="0" y="104958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378700" y="1986706"/>
            <a:ext cx="37485" cy="1087065"/>
          </a:xfrm>
          <a:custGeom>
            <a:avLst/>
            <a:gdLst/>
            <a:ahLst/>
            <a:cxnLst/>
            <a:rect l="l" t="t" r="r" b="b"/>
            <a:pathLst>
              <a:path w="37485" h="1087065">
                <a:moveTo>
                  <a:pt x="37485" y="0"/>
                </a:moveTo>
                <a:lnTo>
                  <a:pt x="37485" y="0"/>
                </a:lnTo>
                <a:lnTo>
                  <a:pt x="37485" y="1087065"/>
                </a:lnTo>
                <a:lnTo>
                  <a:pt x="37485" y="1087065"/>
                </a:lnTo>
                <a:cubicBezTo>
                  <a:pt x="16783" y="1087065"/>
                  <a:pt x="0" y="1070283"/>
                  <a:pt x="0" y="104958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5" name="Shape 23"/>
          <p:cNvSpPr/>
          <p:nvPr/>
        </p:nvSpPr>
        <p:spPr>
          <a:xfrm>
            <a:off x="6509897" y="209916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149940" y="0"/>
                </a:moveTo>
                <a:lnTo>
                  <a:pt x="149940" y="0"/>
                </a:lnTo>
                <a:cubicBezTo>
                  <a:pt x="232750" y="0"/>
                  <a:pt x="299880" y="67130"/>
                  <a:pt x="299880" y="149940"/>
                </a:cubicBezTo>
                <a:lnTo>
                  <a:pt x="299880" y="149940"/>
                </a:lnTo>
                <a:cubicBezTo>
                  <a:pt x="299880" y="232750"/>
                  <a:pt x="232750" y="299880"/>
                  <a:pt x="149940" y="299880"/>
                </a:cubicBezTo>
                <a:lnTo>
                  <a:pt x="149940" y="299880"/>
                </a:lnTo>
                <a:cubicBezTo>
                  <a:pt x="67130" y="299880"/>
                  <a:pt x="0" y="232750"/>
                  <a:pt x="0" y="149940"/>
                </a:cubicBezTo>
                <a:lnTo>
                  <a:pt x="0" y="149940"/>
                </a:lnTo>
                <a:cubicBezTo>
                  <a:pt x="0" y="67130"/>
                  <a:pt x="67130" y="0"/>
                  <a:pt x="14994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6" name="Text 24"/>
          <p:cNvSpPr/>
          <p:nvPr/>
        </p:nvSpPr>
        <p:spPr>
          <a:xfrm>
            <a:off x="6472412" y="2061061"/>
            <a:ext cx="37485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84747" y="2117903"/>
            <a:ext cx="2005448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9897" y="2474011"/>
            <a:ext cx="5088590" cy="487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Develop a fully functional app integrated with UTM's existing management systems for seamless data flow.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78700" y="3186226"/>
            <a:ext cx="5257273" cy="1087065"/>
          </a:xfrm>
          <a:custGeom>
            <a:avLst/>
            <a:gdLst/>
            <a:ahLst/>
            <a:cxnLst/>
            <a:rect l="l" t="t" r="r" b="b"/>
            <a:pathLst>
              <a:path w="5257273" h="1087065">
                <a:moveTo>
                  <a:pt x="37485" y="0"/>
                </a:moveTo>
                <a:lnTo>
                  <a:pt x="5182298" y="0"/>
                </a:lnTo>
                <a:cubicBezTo>
                  <a:pt x="5223705" y="0"/>
                  <a:pt x="5257273" y="33567"/>
                  <a:pt x="5257273" y="74975"/>
                </a:cubicBezTo>
                <a:lnTo>
                  <a:pt x="5257273" y="1012090"/>
                </a:lnTo>
                <a:cubicBezTo>
                  <a:pt x="5257273" y="1053498"/>
                  <a:pt x="5223705" y="1087065"/>
                  <a:pt x="5182298" y="1087065"/>
                </a:cubicBezTo>
                <a:lnTo>
                  <a:pt x="37485" y="1087065"/>
                </a:lnTo>
                <a:cubicBezTo>
                  <a:pt x="16783" y="1087065"/>
                  <a:pt x="0" y="1070283"/>
                  <a:pt x="0" y="104958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378700" y="3186226"/>
            <a:ext cx="37485" cy="1087065"/>
          </a:xfrm>
          <a:custGeom>
            <a:avLst/>
            <a:gdLst/>
            <a:ahLst/>
            <a:cxnLst/>
            <a:rect l="l" t="t" r="r" b="b"/>
            <a:pathLst>
              <a:path w="37485" h="1087065">
                <a:moveTo>
                  <a:pt x="37485" y="0"/>
                </a:moveTo>
                <a:lnTo>
                  <a:pt x="37485" y="0"/>
                </a:lnTo>
                <a:lnTo>
                  <a:pt x="37485" y="1087065"/>
                </a:lnTo>
                <a:lnTo>
                  <a:pt x="37485" y="1087065"/>
                </a:lnTo>
                <a:cubicBezTo>
                  <a:pt x="16783" y="1087065"/>
                  <a:pt x="0" y="1070283"/>
                  <a:pt x="0" y="104958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1" name="Shape 29"/>
          <p:cNvSpPr/>
          <p:nvPr/>
        </p:nvSpPr>
        <p:spPr>
          <a:xfrm>
            <a:off x="6509897" y="329868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149940" y="0"/>
                </a:moveTo>
                <a:lnTo>
                  <a:pt x="149940" y="0"/>
                </a:lnTo>
                <a:cubicBezTo>
                  <a:pt x="232750" y="0"/>
                  <a:pt x="299880" y="67130"/>
                  <a:pt x="299880" y="149940"/>
                </a:cubicBezTo>
                <a:lnTo>
                  <a:pt x="299880" y="149940"/>
                </a:lnTo>
                <a:cubicBezTo>
                  <a:pt x="299880" y="232750"/>
                  <a:pt x="232750" y="299880"/>
                  <a:pt x="149940" y="299880"/>
                </a:cubicBezTo>
                <a:lnTo>
                  <a:pt x="149940" y="299880"/>
                </a:lnTo>
                <a:cubicBezTo>
                  <a:pt x="67130" y="299880"/>
                  <a:pt x="0" y="232750"/>
                  <a:pt x="0" y="149940"/>
                </a:cubicBezTo>
                <a:lnTo>
                  <a:pt x="0" y="149940"/>
                </a:lnTo>
                <a:cubicBezTo>
                  <a:pt x="0" y="67130"/>
                  <a:pt x="67130" y="0"/>
                  <a:pt x="14994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2" name="Text 30"/>
          <p:cNvSpPr/>
          <p:nvPr/>
        </p:nvSpPr>
        <p:spPr>
          <a:xfrm>
            <a:off x="6472412" y="3260581"/>
            <a:ext cx="37485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84747" y="3317424"/>
            <a:ext cx="1714939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Feature Enhancement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09897" y="3673531"/>
            <a:ext cx="5088590" cy="487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Add urgency labeling for reports and a maintenance staff rating system to improve service quality.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78700" y="4385746"/>
            <a:ext cx="5257273" cy="1087065"/>
          </a:xfrm>
          <a:custGeom>
            <a:avLst/>
            <a:gdLst/>
            <a:ahLst/>
            <a:cxnLst/>
            <a:rect l="l" t="t" r="r" b="b"/>
            <a:pathLst>
              <a:path w="5257273" h="1087065">
                <a:moveTo>
                  <a:pt x="37485" y="0"/>
                </a:moveTo>
                <a:lnTo>
                  <a:pt x="5182298" y="0"/>
                </a:lnTo>
                <a:cubicBezTo>
                  <a:pt x="5223705" y="0"/>
                  <a:pt x="5257273" y="33567"/>
                  <a:pt x="5257273" y="74975"/>
                </a:cubicBezTo>
                <a:lnTo>
                  <a:pt x="5257273" y="1012090"/>
                </a:lnTo>
                <a:cubicBezTo>
                  <a:pt x="5257273" y="1053498"/>
                  <a:pt x="5223705" y="1087065"/>
                  <a:pt x="5182298" y="1087065"/>
                </a:cubicBezTo>
                <a:lnTo>
                  <a:pt x="37485" y="1087065"/>
                </a:lnTo>
                <a:cubicBezTo>
                  <a:pt x="16783" y="1087065"/>
                  <a:pt x="0" y="1070283"/>
                  <a:pt x="0" y="104958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>
              <a:alpha val="1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6378700" y="4385746"/>
            <a:ext cx="37485" cy="1087065"/>
          </a:xfrm>
          <a:custGeom>
            <a:avLst/>
            <a:gdLst/>
            <a:ahLst/>
            <a:cxnLst/>
            <a:rect l="l" t="t" r="r" b="b"/>
            <a:pathLst>
              <a:path w="37485" h="1087065">
                <a:moveTo>
                  <a:pt x="37485" y="0"/>
                </a:moveTo>
                <a:lnTo>
                  <a:pt x="37485" y="0"/>
                </a:lnTo>
                <a:lnTo>
                  <a:pt x="37485" y="1087065"/>
                </a:lnTo>
                <a:lnTo>
                  <a:pt x="37485" y="1087065"/>
                </a:lnTo>
                <a:cubicBezTo>
                  <a:pt x="16783" y="1087065"/>
                  <a:pt x="0" y="1070283"/>
                  <a:pt x="0" y="104958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7" name="Shape 35"/>
          <p:cNvSpPr/>
          <p:nvPr/>
        </p:nvSpPr>
        <p:spPr>
          <a:xfrm>
            <a:off x="6509897" y="449820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149940" y="0"/>
                </a:moveTo>
                <a:lnTo>
                  <a:pt x="149940" y="0"/>
                </a:lnTo>
                <a:cubicBezTo>
                  <a:pt x="232750" y="0"/>
                  <a:pt x="299880" y="67130"/>
                  <a:pt x="299880" y="149940"/>
                </a:cubicBezTo>
                <a:lnTo>
                  <a:pt x="299880" y="149940"/>
                </a:lnTo>
                <a:cubicBezTo>
                  <a:pt x="299880" y="232750"/>
                  <a:pt x="232750" y="299880"/>
                  <a:pt x="149940" y="299880"/>
                </a:cubicBezTo>
                <a:lnTo>
                  <a:pt x="149940" y="299880"/>
                </a:lnTo>
                <a:cubicBezTo>
                  <a:pt x="67130" y="299880"/>
                  <a:pt x="0" y="232750"/>
                  <a:pt x="0" y="149940"/>
                </a:cubicBezTo>
                <a:lnTo>
                  <a:pt x="0" y="149940"/>
                </a:lnTo>
                <a:cubicBezTo>
                  <a:pt x="0" y="67130"/>
                  <a:pt x="67130" y="0"/>
                  <a:pt x="149940" y="0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38" name="Text 36"/>
          <p:cNvSpPr/>
          <p:nvPr/>
        </p:nvSpPr>
        <p:spPr>
          <a:xfrm>
            <a:off x="6472412" y="4472801"/>
            <a:ext cx="374850" cy="299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84747" y="4516944"/>
            <a:ext cx="1452544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00344D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Expansion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09897" y="4873051"/>
            <a:ext cx="5088590" cy="487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Extend BMMS to cover all UTM hostels and academic buildings, creating a unified facility management platform.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1275" y="5797477"/>
            <a:ext cx="5632123" cy="1049580"/>
          </a:xfrm>
          <a:custGeom>
            <a:avLst/>
            <a:gdLst/>
            <a:ahLst/>
            <a:cxnLst/>
            <a:rect l="l" t="t" r="r" b="b"/>
            <a:pathLst>
              <a:path w="5632123" h="1049580">
                <a:moveTo>
                  <a:pt x="37485" y="0"/>
                </a:moveTo>
                <a:lnTo>
                  <a:pt x="5557151" y="0"/>
                </a:lnTo>
                <a:cubicBezTo>
                  <a:pt x="5598557" y="0"/>
                  <a:pt x="5632123" y="33566"/>
                  <a:pt x="5632123" y="74972"/>
                </a:cubicBezTo>
                <a:lnTo>
                  <a:pt x="5632123" y="974609"/>
                </a:lnTo>
                <a:cubicBezTo>
                  <a:pt x="5632123" y="1016014"/>
                  <a:pt x="5598557" y="1049580"/>
                  <a:pt x="5557151" y="1049580"/>
                </a:cubicBezTo>
                <a:lnTo>
                  <a:pt x="37485" y="1049580"/>
                </a:lnTo>
                <a:cubicBezTo>
                  <a:pt x="16783" y="1049580"/>
                  <a:pt x="0" y="1032798"/>
                  <a:pt x="0" y="101209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344D">
              <a:alpha val="10196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191275" y="5810177"/>
            <a:ext cx="37485" cy="1049580"/>
          </a:xfrm>
          <a:custGeom>
            <a:avLst/>
            <a:gdLst/>
            <a:ahLst/>
            <a:cxnLst/>
            <a:rect l="l" t="t" r="r" b="b"/>
            <a:pathLst>
              <a:path w="37485" h="1049580">
                <a:moveTo>
                  <a:pt x="37485" y="0"/>
                </a:moveTo>
                <a:lnTo>
                  <a:pt x="37485" y="0"/>
                </a:lnTo>
                <a:lnTo>
                  <a:pt x="37485" y="1049580"/>
                </a:lnTo>
                <a:lnTo>
                  <a:pt x="37485" y="1049580"/>
                </a:lnTo>
                <a:cubicBezTo>
                  <a:pt x="16783" y="1049580"/>
                  <a:pt x="0" y="1032798"/>
                  <a:pt x="0" y="1012095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00344D"/>
          </a:solidFill>
        </p:spPr>
      </p:sp>
      <p:sp>
        <p:nvSpPr>
          <p:cNvPr id="43" name="Shape 41"/>
          <p:cNvSpPr/>
          <p:nvPr/>
        </p:nvSpPr>
        <p:spPr>
          <a:xfrm>
            <a:off x="6359957" y="6222512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28114" y="28114"/>
                </a:moveTo>
                <a:cubicBezTo>
                  <a:pt x="28114" y="20339"/>
                  <a:pt x="21832" y="14057"/>
                  <a:pt x="14057" y="14057"/>
                </a:cubicBezTo>
                <a:cubicBezTo>
                  <a:pt x="6282" y="14057"/>
                  <a:pt x="0" y="20339"/>
                  <a:pt x="0" y="28114"/>
                </a:cubicBezTo>
                <a:lnTo>
                  <a:pt x="0" y="175711"/>
                </a:lnTo>
                <a:cubicBezTo>
                  <a:pt x="0" y="195127"/>
                  <a:pt x="15726" y="210853"/>
                  <a:pt x="35142" y="210853"/>
                </a:cubicBezTo>
                <a:lnTo>
                  <a:pt x="210853" y="210853"/>
                </a:lnTo>
                <a:cubicBezTo>
                  <a:pt x="218628" y="210853"/>
                  <a:pt x="224910" y="204572"/>
                  <a:pt x="224910" y="196796"/>
                </a:cubicBezTo>
                <a:cubicBezTo>
                  <a:pt x="224910" y="189021"/>
                  <a:pt x="218628" y="182739"/>
                  <a:pt x="210853" y="182739"/>
                </a:cubicBezTo>
                <a:lnTo>
                  <a:pt x="35142" y="182739"/>
                </a:lnTo>
                <a:cubicBezTo>
                  <a:pt x="31277" y="182739"/>
                  <a:pt x="28114" y="179577"/>
                  <a:pt x="28114" y="175711"/>
                </a:cubicBezTo>
                <a:lnTo>
                  <a:pt x="28114" y="28114"/>
                </a:lnTo>
                <a:close/>
                <a:moveTo>
                  <a:pt x="206724" y="66155"/>
                </a:moveTo>
                <a:cubicBezTo>
                  <a:pt x="212215" y="60664"/>
                  <a:pt x="212215" y="51747"/>
                  <a:pt x="206724" y="46256"/>
                </a:cubicBezTo>
                <a:cubicBezTo>
                  <a:pt x="201233" y="40765"/>
                  <a:pt x="192316" y="40765"/>
                  <a:pt x="186825" y="46256"/>
                </a:cubicBezTo>
                <a:lnTo>
                  <a:pt x="140569" y="92556"/>
                </a:lnTo>
                <a:lnTo>
                  <a:pt x="115354" y="67385"/>
                </a:lnTo>
                <a:cubicBezTo>
                  <a:pt x="109863" y="61894"/>
                  <a:pt x="100946" y="61894"/>
                  <a:pt x="95455" y="67385"/>
                </a:cubicBezTo>
                <a:lnTo>
                  <a:pt x="53284" y="109556"/>
                </a:lnTo>
                <a:cubicBezTo>
                  <a:pt x="47793" y="115047"/>
                  <a:pt x="47793" y="123964"/>
                  <a:pt x="53284" y="129455"/>
                </a:cubicBezTo>
                <a:cubicBezTo>
                  <a:pt x="58775" y="134946"/>
                  <a:pt x="67693" y="134946"/>
                  <a:pt x="73184" y="129455"/>
                </a:cubicBezTo>
                <a:lnTo>
                  <a:pt x="105427" y="97212"/>
                </a:lnTo>
                <a:lnTo>
                  <a:pt x="130641" y="122427"/>
                </a:lnTo>
                <a:cubicBezTo>
                  <a:pt x="136132" y="127918"/>
                  <a:pt x="145049" y="127918"/>
                  <a:pt x="150540" y="122427"/>
                </a:cubicBezTo>
                <a:lnTo>
                  <a:pt x="206768" y="66199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44" name="Text 42"/>
          <p:cNvSpPr/>
          <p:nvPr/>
        </p:nvSpPr>
        <p:spPr>
          <a:xfrm>
            <a:off x="6697322" y="5922017"/>
            <a:ext cx="5060477" cy="262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0" b="1" dirty="0">
                <a:solidFill>
                  <a:srgbClr val="00344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Expected Impact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97322" y="6259997"/>
            <a:ext cx="5051105" cy="449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BMMS can improve maintenance efficiency by </a:t>
            </a:r>
            <a:r>
              <a:rPr lang="en-US" sz="1180" b="1" dirty="0">
                <a:solidFill>
                  <a:srgbClr val="F8F8F7"/>
                </a:solidFill>
                <a:highlight>
                  <a:srgbClr val="C87D55">
                    <a:alpha val="100000"/>
                  </a:srgbClr>
                </a:highlight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60% </a:t>
            </a:r>
            <a:r>
              <a:rPr lang="en-US" sz="1180" dirty="0">
                <a:solidFill>
                  <a:srgbClr val="25282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and reduce response times from days to hours.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-s3-cdn-cf.behance.net/7ee95a3940c5b526e4c66621726b8ab4d181cdbf.png"/>
          <p:cNvPicPr>
            <a:picLocks noChangeAspect="1"/>
          </p:cNvPicPr>
          <p:nvPr/>
        </p:nvPicPr>
        <p:blipFill>
          <a:blip r:embed="rId3"/>
          <a:srcRect t="14156" b="1415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344D">
                  <a:alpha val="90000"/>
                </a:srgbClr>
              </a:gs>
              <a:gs pos="50000">
                <a:srgbClr val="00344D">
                  <a:alpha val="80000"/>
                </a:srgbClr>
              </a:gs>
              <a:gs pos="100000">
                <a:srgbClr val="00344D">
                  <a:alpha val="95000"/>
                </a:srgbClr>
              </a:gs>
            </a:gsLst>
            <a:lin ang="5400000" scaled="1"/>
          </a:gradFill>
        </p:spPr>
      </p:sp>
      <p:sp>
        <p:nvSpPr>
          <p:cNvPr id="4" name="Shape 1"/>
          <p:cNvSpPr/>
          <p:nvPr/>
        </p:nvSpPr>
        <p:spPr>
          <a:xfrm>
            <a:off x="5638800" y="381000"/>
            <a:ext cx="914400" cy="866775"/>
          </a:xfrm>
          <a:custGeom>
            <a:avLst/>
            <a:gdLst/>
            <a:ahLst/>
            <a:cxnLst/>
            <a:rect l="l" t="t" r="r" b="b"/>
            <a:pathLst>
              <a:path w="914400" h="866775">
                <a:moveTo>
                  <a:pt x="433388" y="0"/>
                </a:moveTo>
                <a:lnTo>
                  <a:pt x="481012" y="0"/>
                </a:lnTo>
                <a:cubicBezTo>
                  <a:pt x="720206" y="0"/>
                  <a:pt x="914400" y="194194"/>
                  <a:pt x="914400" y="433388"/>
                </a:cubicBezTo>
                <a:lnTo>
                  <a:pt x="914400" y="433388"/>
                </a:lnTo>
                <a:cubicBezTo>
                  <a:pt x="914400" y="672581"/>
                  <a:pt x="720206" y="866775"/>
                  <a:pt x="481012" y="866775"/>
                </a:cubicBezTo>
                <a:lnTo>
                  <a:pt x="433388" y="866775"/>
                </a:lnTo>
                <a:cubicBezTo>
                  <a:pt x="194194" y="866775"/>
                  <a:pt x="0" y="672581"/>
                  <a:pt x="0" y="433388"/>
                </a:cubicBezTo>
                <a:lnTo>
                  <a:pt x="0" y="433388"/>
                </a:lnTo>
                <a:cubicBezTo>
                  <a:pt x="0" y="194194"/>
                  <a:pt x="194194" y="0"/>
                  <a:pt x="433387" y="0"/>
                </a:cubicBezTo>
                <a:close/>
              </a:path>
            </a:pathLst>
          </a:custGeom>
          <a:solidFill>
            <a:srgbClr val="C87D55"/>
          </a:solidFill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38825" y="584197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42900" y="128588"/>
                </a:moveTo>
                <a:cubicBezTo>
                  <a:pt x="342900" y="215384"/>
                  <a:pt x="266105" y="285750"/>
                  <a:pt x="171450" y="285750"/>
                </a:cubicBezTo>
                <a:cubicBezTo>
                  <a:pt x="147608" y="285750"/>
                  <a:pt x="124926" y="281285"/>
                  <a:pt x="104299" y="273248"/>
                </a:cubicBezTo>
                <a:lnTo>
                  <a:pt x="31433" y="311825"/>
                </a:lnTo>
                <a:cubicBezTo>
                  <a:pt x="23128" y="316200"/>
                  <a:pt x="12948" y="314682"/>
                  <a:pt x="6251" y="308074"/>
                </a:cubicBezTo>
                <a:cubicBezTo>
                  <a:pt x="-446" y="301466"/>
                  <a:pt x="-1965" y="291197"/>
                  <a:pt x="2500" y="282893"/>
                </a:cubicBezTo>
                <a:lnTo>
                  <a:pt x="34290" y="222885"/>
                </a:lnTo>
                <a:cubicBezTo>
                  <a:pt x="12769" y="196632"/>
                  <a:pt x="0" y="163949"/>
                  <a:pt x="0" y="128588"/>
                </a:cubicBezTo>
                <a:cubicBezTo>
                  <a:pt x="0" y="41791"/>
                  <a:pt x="76795" y="-28575"/>
                  <a:pt x="171450" y="-28575"/>
                </a:cubicBezTo>
                <a:cubicBezTo>
                  <a:pt x="266105" y="-28575"/>
                  <a:pt x="342900" y="41791"/>
                  <a:pt x="342900" y="128588"/>
                </a:cubicBezTo>
                <a:close/>
                <a:moveTo>
                  <a:pt x="342900" y="457200"/>
                </a:moveTo>
                <a:cubicBezTo>
                  <a:pt x="258872" y="457200"/>
                  <a:pt x="188952" y="401747"/>
                  <a:pt x="174308" y="328613"/>
                </a:cubicBezTo>
                <a:cubicBezTo>
                  <a:pt x="281464" y="327273"/>
                  <a:pt x="374600" y="251014"/>
                  <a:pt x="384870" y="147608"/>
                </a:cubicBezTo>
                <a:cubicBezTo>
                  <a:pt x="459254" y="164753"/>
                  <a:pt x="514350" y="226457"/>
                  <a:pt x="514350" y="300038"/>
                </a:cubicBezTo>
                <a:cubicBezTo>
                  <a:pt x="514350" y="335399"/>
                  <a:pt x="501581" y="368082"/>
                  <a:pt x="480060" y="394335"/>
                </a:cubicBezTo>
                <a:lnTo>
                  <a:pt x="511850" y="454342"/>
                </a:lnTo>
                <a:cubicBezTo>
                  <a:pt x="516225" y="462647"/>
                  <a:pt x="514707" y="472827"/>
                  <a:pt x="508099" y="479524"/>
                </a:cubicBezTo>
                <a:cubicBezTo>
                  <a:pt x="501491" y="486221"/>
                  <a:pt x="491222" y="487740"/>
                  <a:pt x="482917" y="483275"/>
                </a:cubicBezTo>
                <a:lnTo>
                  <a:pt x="410051" y="444698"/>
                </a:lnTo>
                <a:cubicBezTo>
                  <a:pt x="389424" y="452735"/>
                  <a:pt x="366742" y="457200"/>
                  <a:pt x="342900" y="457200"/>
                </a:cubicBezTo>
                <a:close/>
              </a:path>
            </a:pathLst>
          </a:custGeom>
          <a:solidFill>
            <a:srgbClr val="F8F8F7"/>
          </a:solidFill>
        </p:spPr>
      </p:sp>
      <p:sp>
        <p:nvSpPr>
          <p:cNvPr id="6" name="Text 3"/>
          <p:cNvSpPr/>
          <p:nvPr/>
        </p:nvSpPr>
        <p:spPr>
          <a:xfrm>
            <a:off x="2627908" y="1473203"/>
            <a:ext cx="6934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8F8F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87330" y="2320928"/>
            <a:ext cx="2219325" cy="1123950"/>
          </a:xfrm>
          <a:custGeom>
            <a:avLst/>
            <a:gdLst/>
            <a:ahLst/>
            <a:cxnLst/>
            <a:rect l="l" t="t" r="r" b="b"/>
            <a:pathLst>
              <a:path w="2219325" h="1123950">
                <a:moveTo>
                  <a:pt x="114294" y="0"/>
                </a:moveTo>
                <a:lnTo>
                  <a:pt x="2105031" y="0"/>
                </a:lnTo>
                <a:cubicBezTo>
                  <a:pt x="2168154" y="0"/>
                  <a:pt x="2219325" y="51171"/>
                  <a:pt x="2219325" y="114294"/>
                </a:cubicBezTo>
                <a:lnTo>
                  <a:pt x="2219325" y="1009656"/>
                </a:lnTo>
                <a:cubicBezTo>
                  <a:pt x="2219325" y="1072779"/>
                  <a:pt x="2168154" y="1123950"/>
                  <a:pt x="2105031" y="1123950"/>
                </a:cubicBezTo>
                <a:lnTo>
                  <a:pt x="114294" y="1123950"/>
                </a:lnTo>
                <a:cubicBezTo>
                  <a:pt x="51171" y="1123950"/>
                  <a:pt x="0" y="1072779"/>
                  <a:pt x="0" y="100965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25400">
            <a:solidFill>
              <a:srgbClr val="C87D55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20717" y="271145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ubicBezTo>
                  <a:pt x="0" y="76824"/>
                  <a:pt x="76824" y="0"/>
                  <a:pt x="171450" y="0"/>
                </a:cubicBezTo>
                <a:close/>
                <a:moveTo>
                  <a:pt x="155377" y="80367"/>
                </a:moveTo>
                <a:lnTo>
                  <a:pt x="155377" y="171450"/>
                </a:lnTo>
                <a:cubicBezTo>
                  <a:pt x="155377" y="176808"/>
                  <a:pt x="158055" y="181831"/>
                  <a:pt x="162543" y="184845"/>
                </a:cubicBezTo>
                <a:lnTo>
                  <a:pt x="226836" y="227707"/>
                </a:lnTo>
                <a:cubicBezTo>
                  <a:pt x="234203" y="232663"/>
                  <a:pt x="244182" y="230654"/>
                  <a:pt x="249138" y="223220"/>
                </a:cubicBezTo>
                <a:cubicBezTo>
                  <a:pt x="254094" y="215786"/>
                  <a:pt x="252085" y="205874"/>
                  <a:pt x="244651" y="200918"/>
                </a:cubicBezTo>
                <a:lnTo>
                  <a:pt x="187523" y="162878"/>
                </a:lnTo>
                <a:lnTo>
                  <a:pt x="187523" y="80367"/>
                </a:lnTo>
                <a:cubicBezTo>
                  <a:pt x="187523" y="71460"/>
                  <a:pt x="180357" y="64294"/>
                  <a:pt x="171450" y="64294"/>
                </a:cubicBezTo>
                <a:cubicBezTo>
                  <a:pt x="162543" y="64294"/>
                  <a:pt x="155377" y="71460"/>
                  <a:pt x="155377" y="8036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9" name="Text 6"/>
          <p:cNvSpPr/>
          <p:nvPr/>
        </p:nvSpPr>
        <p:spPr>
          <a:xfrm>
            <a:off x="5996980" y="2520953"/>
            <a:ext cx="10477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96980" y="2978153"/>
            <a:ext cx="914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kern="0" spc="38" dirty="0">
                <a:solidFill>
                  <a:srgbClr val="F8F8F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Minutes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71650" y="3759203"/>
            <a:ext cx="86487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8F7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Feel free to ask questions about project design, technical implementation, future plans, or any other related topics!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222375" y="4949828"/>
            <a:ext cx="3092450" cy="1511300"/>
          </a:xfrm>
          <a:custGeom>
            <a:avLst/>
            <a:gdLst/>
            <a:ahLst/>
            <a:cxnLst/>
            <a:rect l="l" t="t" r="r" b="b"/>
            <a:pathLst>
              <a:path w="3092450" h="1511300">
                <a:moveTo>
                  <a:pt x="76200" y="0"/>
                </a:moveTo>
                <a:lnTo>
                  <a:pt x="3016250" y="0"/>
                </a:lnTo>
                <a:cubicBezTo>
                  <a:pt x="3058334" y="0"/>
                  <a:pt x="3092450" y="34116"/>
                  <a:pt x="3092450" y="76200"/>
                </a:cubicBezTo>
                <a:lnTo>
                  <a:pt x="3092450" y="1435100"/>
                </a:lnTo>
                <a:cubicBezTo>
                  <a:pt x="3092450" y="1477156"/>
                  <a:pt x="3058306" y="1511300"/>
                  <a:pt x="3016250" y="1511300"/>
                </a:cubicBezTo>
                <a:lnTo>
                  <a:pt x="76200" y="1511300"/>
                </a:lnTo>
                <a:cubicBezTo>
                  <a:pt x="34116" y="1511300"/>
                  <a:pt x="0" y="1477184"/>
                  <a:pt x="0" y="1435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89869" y="5143497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8930" y="35719"/>
                </a:moveTo>
                <a:cubicBezTo>
                  <a:pt x="8930" y="16018"/>
                  <a:pt x="24947" y="0"/>
                  <a:pt x="44648" y="0"/>
                </a:cubicBezTo>
                <a:lnTo>
                  <a:pt x="169664" y="0"/>
                </a:lnTo>
                <a:cubicBezTo>
                  <a:pt x="189365" y="0"/>
                  <a:pt x="205383" y="16018"/>
                  <a:pt x="205383" y="35719"/>
                </a:cubicBezTo>
                <a:lnTo>
                  <a:pt x="205383" y="250031"/>
                </a:lnTo>
                <a:cubicBezTo>
                  <a:pt x="205383" y="269732"/>
                  <a:pt x="189365" y="285750"/>
                  <a:pt x="169664" y="285750"/>
                </a:cubicBezTo>
                <a:lnTo>
                  <a:pt x="44648" y="285750"/>
                </a:lnTo>
                <a:cubicBezTo>
                  <a:pt x="24947" y="285750"/>
                  <a:pt x="8930" y="269732"/>
                  <a:pt x="8930" y="250031"/>
                </a:cubicBezTo>
                <a:lnTo>
                  <a:pt x="8930" y="35719"/>
                </a:lnTo>
                <a:close/>
                <a:moveTo>
                  <a:pt x="44648" y="35719"/>
                </a:moveTo>
                <a:lnTo>
                  <a:pt x="44648" y="205383"/>
                </a:lnTo>
                <a:lnTo>
                  <a:pt x="169664" y="205383"/>
                </a:lnTo>
                <a:lnTo>
                  <a:pt x="169664" y="35719"/>
                </a:lnTo>
                <a:lnTo>
                  <a:pt x="44648" y="35719"/>
                </a:lnTo>
                <a:close/>
                <a:moveTo>
                  <a:pt x="107156" y="263426"/>
                </a:moveTo>
                <a:cubicBezTo>
                  <a:pt x="117035" y="263426"/>
                  <a:pt x="125016" y="255445"/>
                  <a:pt x="125016" y="245566"/>
                </a:cubicBezTo>
                <a:cubicBezTo>
                  <a:pt x="125016" y="235688"/>
                  <a:pt x="117035" y="227707"/>
                  <a:pt x="107156" y="227707"/>
                </a:cubicBezTo>
                <a:cubicBezTo>
                  <a:pt x="97278" y="227707"/>
                  <a:pt x="89297" y="235688"/>
                  <a:pt x="89297" y="245566"/>
                </a:cubicBezTo>
                <a:cubicBezTo>
                  <a:pt x="89297" y="255445"/>
                  <a:pt x="97278" y="263426"/>
                  <a:pt x="107156" y="263426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4" name="Text 11"/>
          <p:cNvSpPr/>
          <p:nvPr/>
        </p:nvSpPr>
        <p:spPr>
          <a:xfrm>
            <a:off x="1373188" y="5572128"/>
            <a:ext cx="2790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App Features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16050" y="5886447"/>
            <a:ext cx="2771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Functionality, user experience, technical specifications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49775" y="4949828"/>
            <a:ext cx="3092450" cy="1511300"/>
          </a:xfrm>
          <a:custGeom>
            <a:avLst/>
            <a:gdLst/>
            <a:ahLst/>
            <a:cxnLst/>
            <a:rect l="l" t="t" r="r" b="b"/>
            <a:pathLst>
              <a:path w="3092450" h="1511300">
                <a:moveTo>
                  <a:pt x="76200" y="0"/>
                </a:moveTo>
                <a:lnTo>
                  <a:pt x="3016250" y="0"/>
                </a:lnTo>
                <a:cubicBezTo>
                  <a:pt x="3058334" y="0"/>
                  <a:pt x="3092450" y="34116"/>
                  <a:pt x="3092450" y="76200"/>
                </a:cubicBezTo>
                <a:lnTo>
                  <a:pt x="3092450" y="1435100"/>
                </a:lnTo>
                <a:cubicBezTo>
                  <a:pt x="3092450" y="1477156"/>
                  <a:pt x="3058306" y="1511300"/>
                  <a:pt x="3016250" y="1511300"/>
                </a:cubicBezTo>
                <a:lnTo>
                  <a:pt x="76200" y="1511300"/>
                </a:lnTo>
                <a:cubicBezTo>
                  <a:pt x="34116" y="1511300"/>
                  <a:pt x="0" y="1477184"/>
                  <a:pt x="0" y="1435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2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8531" y="5156197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18" name="Text 15"/>
          <p:cNvSpPr/>
          <p:nvPr/>
        </p:nvSpPr>
        <p:spPr>
          <a:xfrm>
            <a:off x="4745831" y="5572128"/>
            <a:ext cx="2790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743450" y="5886447"/>
            <a:ext cx="2771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Development timeline, integration challenges, resource requirements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877175" y="4949828"/>
            <a:ext cx="3092450" cy="1511300"/>
          </a:xfrm>
          <a:custGeom>
            <a:avLst/>
            <a:gdLst/>
            <a:ahLst/>
            <a:cxnLst/>
            <a:rect l="l" t="t" r="r" b="b"/>
            <a:pathLst>
              <a:path w="3092450" h="1511300">
                <a:moveTo>
                  <a:pt x="76200" y="0"/>
                </a:moveTo>
                <a:lnTo>
                  <a:pt x="3016250" y="0"/>
                </a:lnTo>
                <a:cubicBezTo>
                  <a:pt x="3058334" y="0"/>
                  <a:pt x="3092450" y="34116"/>
                  <a:pt x="3092450" y="76200"/>
                </a:cubicBezTo>
                <a:lnTo>
                  <a:pt x="3092450" y="1435100"/>
                </a:lnTo>
                <a:cubicBezTo>
                  <a:pt x="3092450" y="1477156"/>
                  <a:pt x="3058306" y="1511300"/>
                  <a:pt x="3016250" y="1511300"/>
                </a:cubicBezTo>
                <a:lnTo>
                  <a:pt x="76200" y="1511300"/>
                </a:lnTo>
                <a:cubicBezTo>
                  <a:pt x="34116" y="1511300"/>
                  <a:pt x="0" y="1477184"/>
                  <a:pt x="0" y="14351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8F7">
              <a:alpha val="10196"/>
            </a:srgbClr>
          </a:solidFill>
          <a:ln w="8467">
            <a:solidFill>
              <a:srgbClr val="F8F8F7">
                <a:alpha val="2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08950" y="514349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C87D55"/>
          </a:solidFill>
        </p:spPr>
      </p:sp>
      <p:sp>
        <p:nvSpPr>
          <p:cNvPr id="22" name="Text 19"/>
          <p:cNvSpPr/>
          <p:nvPr/>
        </p:nvSpPr>
        <p:spPr>
          <a:xfrm>
            <a:off x="8166695" y="5572128"/>
            <a:ext cx="2790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8F7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Future Plans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76220" y="5886447"/>
            <a:ext cx="27717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8F7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Expansion strategy, feature roadmap, long-term vision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371608" y="655701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25" name="Text 22"/>
          <p:cNvSpPr/>
          <p:nvPr/>
        </p:nvSpPr>
        <p:spPr>
          <a:xfrm>
            <a:off x="9671685" y="6501765"/>
            <a:ext cx="235839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8F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SECP 1513 - Section 06 - GROUP 1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43564" y="58674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8F8F7">
              <a:alpha val="30196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7877175" y="65570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C87D55"/>
          </a:solidFill>
        </p:spPr>
      </p:sp>
      <p:sp>
        <p:nvSpPr>
          <p:cNvPr id="28" name="Text 25"/>
          <p:cNvSpPr/>
          <p:nvPr/>
        </p:nvSpPr>
        <p:spPr>
          <a:xfrm>
            <a:off x="8108950" y="6494783"/>
            <a:ext cx="866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8F7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10/01/2026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THANK YOU</a:t>
            </a:r>
          </a:p>
        </p:txBody>
      </p:sp>
      <p:sp>
        <p:nvSpPr>
          <p:cNvPr id="18" name="日期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/>
              <a:t>2026/1/10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>
          <a:xfrm>
            <a:off x="1378585" y="4229735"/>
            <a:ext cx="9437370" cy="1460500"/>
          </a:xfrm>
          <a:prstGeom prst="roundRect">
            <a:avLst>
              <a:gd name="adj" fmla="val 50000"/>
            </a:avLst>
          </a:prstGeom>
        </p:spPr>
        <p:txBody>
          <a:bodyPr>
            <a:normAutofit/>
          </a:bodyPr>
          <a:lstStyle/>
          <a:p>
            <a:r>
              <a:rPr lang="en-US" altLang="zh-CN"/>
              <a:t>Repoter: Group 1</a:t>
            </a:r>
          </a:p>
          <a:p>
            <a:r>
              <a:rPr lang="en-US" altLang="zh-CN"/>
              <a:t>LI HONGYU   XU HAOJIE   MOHAMED BRAHIM KHAIRY   LI WENBO</a:t>
            </a:r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  <p:tag name="KSO_WM_TEMPLATE_CATEGORY" val="custom"/>
  <p:tag name="KSO_WM_TEMPLATE_INDEX" val="4049496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CATEGORY" val="custom"/>
  <p:tag name="KSO_WM_TEMPLATE_INDEX" val="4049496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4965"/>
  <p:tag name="KSO_WM_TEMPLATE_CATEGORY" val="custom"/>
  <p:tag name="KSO_WM_TEMPLATE_MASTER_TYPE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6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16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16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16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5"/>
  <p:tag name="KSO_WM_UNIT_VALUE" val="1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1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5"/>
  <p:tag name="KSO_WM_UNIT_VALUE" val="1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40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8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40494965"/>
  <p:tag name="KSO_WM_TEMPLATE_CATEGORY" val="custom"/>
  <p:tag name="KSO_WM_SLIDE_INDEX" val="9"/>
  <p:tag name="KSO_WM_SLIDE_ID" val="custom40494965_9"/>
  <p:tag name="KSO_WM_TEMPLATE_MASTER_TYPE" val="0"/>
  <p:tag name="KSO_WM_SLIDE_LAYOUT" val="a_f"/>
  <p:tag name="KSO_WM_SLIDE_LAYOUT_CNT" val="1_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4965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65"/>
  <p:tag name="KSO_WM_TEMPLATE_CATEGORY" val="custom"/>
  <p:tag name="KSO_WM_UNIT_ISCONTENTSTITLE" val="0"/>
  <p:tag name="KSO_WM_UNIT_PRESET_TEXT" val="感谢您的观看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ID" val="custom40494965_9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65"/>
  <p:tag name="KSO_WM_TEMPLATE_CATEGORY" val="custom"/>
  <p:tag name="KSO_WM_UNIT_TEXT_LAYER_COUNT" val="1"/>
  <p:tag name="KSO_WM_UNIT_PRESET_TEXT" val="202X/01/01"/>
  <p:tag name="KSO_WM_UNIT_VALUE" val="18"/>
  <p:tag name="KSO_WM_UNIT_TEXT_TYPE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40494965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4965"/>
  <p:tag name="KSO_WM_TEMPLATE_CATEGORY" val="custom"/>
  <p:tag name="KSO_WM_UNIT_TEXT_LAYER_COUNT" val="1"/>
  <p:tag name="KSO_WM_UNIT_PRESET_TEXT" val="汇报人：WPS"/>
  <p:tag name="KSO_WM_UNIT_VALUE" val="36"/>
  <p:tag name="KSO_WM_UNIT_TEXT_TYPE" val="1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商务风创业融资宣传计划书模板">
  <a:themeElements>
    <a:clrScheme name="">
      <a:dk1>
        <a:srgbClr val="000000"/>
      </a:dk1>
      <a:lt1>
        <a:srgbClr val="FFFFFF"/>
      </a:lt1>
      <a:dk2>
        <a:srgbClr val="002146"/>
      </a:dk2>
      <a:lt2>
        <a:srgbClr val="F2F8FF"/>
      </a:lt2>
      <a:accent1>
        <a:srgbClr val="0069E0"/>
      </a:accent1>
      <a:accent2>
        <a:srgbClr val="0078E3"/>
      </a:accent2>
      <a:accent3>
        <a:srgbClr val="0085E6"/>
      </a:accent3>
      <a:accent4>
        <a:srgbClr val="0093EA"/>
      </a:accent4>
      <a:accent5>
        <a:srgbClr val="009FEE"/>
      </a:accent5>
      <a:accent6>
        <a:srgbClr val="01ACF3"/>
      </a:accent6>
      <a:hlink>
        <a:srgbClr val="0026E5"/>
      </a:hlink>
      <a:folHlink>
        <a:srgbClr val="7E1FAD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1803</Words>
  <Application>Microsoft Office PowerPoint</Application>
  <PresentationFormat>宽屏</PresentationFormat>
  <Paragraphs>395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Calibri</vt:lpstr>
      <vt:lpstr>Hedvig Letters Sans</vt:lpstr>
      <vt:lpstr>Arial</vt:lpstr>
      <vt:lpstr>微软雅黑</vt:lpstr>
      <vt:lpstr>Liter</vt:lpstr>
      <vt:lpstr>Quattrocento Sans</vt:lpstr>
      <vt:lpstr>Custom Theme</vt:lpstr>
      <vt:lpstr>商务风创业融资宣传计划书模板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 Project - Building Maintenance Management System (BMMS)</dc:title>
  <dc:subject>Design Thinking Project - Building Maintenance Management System (BMMS)</dc:subject>
  <dc:creator>Kimi</dc:creator>
  <cp:lastModifiedBy>x Watson</cp:lastModifiedBy>
  <cp:revision>4</cp:revision>
  <dcterms:created xsi:type="dcterms:W3CDTF">2026-01-10T15:48:00Z</dcterms:created>
  <dcterms:modified xsi:type="dcterms:W3CDTF">2026-01-22T00:02:16Z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{"Label":"Design Thinking Project - Building Maintenance Management System (BMMS)","ContentProducer":"001191110108MACG2KBH8F10000","ProduceID":"19ba862e-a642-8fb0-8000-0000ceddf311","ReservedCode1":"","ContentPropagator":"001191110108MACG2KBH8F20000","PropagateID":"19ba862e-a642-8fb0-8000-0000ceddf311","ReservedCode2":""}</vt:lpwstr>
  </property>
  <property fmtid="{D5CDD505-2E9C-101B-9397-08002B2CF9AE}" pid="3" name="KSOProductBuildVer">
    <vt:lpwstr>2052-12.1.0.24657</vt:lpwstr>
  </property>
  <property fmtid="{D5CDD505-2E9C-101B-9397-08002B2CF9AE}" pid="4" name="ICV">
    <vt:lpwstr>B5F164980B0345E5A6A58C16DC0D413F_12</vt:lpwstr>
  </property>
</Properties>
</file>